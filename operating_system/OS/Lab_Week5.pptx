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56" r:id="rId2"/>
    <p:sldId id="367" r:id="rId3"/>
    <p:sldId id="368" r:id="rId4"/>
    <p:sldId id="369" r:id="rId5"/>
    <p:sldId id="371" r:id="rId6"/>
    <p:sldId id="370" r:id="rId7"/>
    <p:sldId id="373" r:id="rId8"/>
    <p:sldId id="372" r:id="rId9"/>
    <p:sldId id="374" r:id="rId10"/>
    <p:sldId id="375" r:id="rId11"/>
    <p:sldId id="376" r:id="rId12"/>
    <p:sldId id="377" r:id="rId13"/>
    <p:sldId id="3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AEF1"/>
    <a:srgbClr val="582579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7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A9278-991E-4FC4-A092-547ADFE43B7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16CDF-66D6-42F5-82AB-44061AC83CC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AI and Advanced Computing, XJTLU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图片 6" descr="AIAC_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9890" y="5742940"/>
            <a:ext cx="1457960" cy="924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图片 6" descr="AIAC_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49890" y="5742940"/>
            <a:ext cx="1457960" cy="924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9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745355"/>
            <a:ext cx="7647305" cy="66421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3"/>
          </p:nvPr>
        </p:nvSpPr>
        <p:spPr>
          <a:xfrm>
            <a:off x="838200" y="5536565"/>
            <a:ext cx="7647305" cy="664210"/>
          </a:xfrm>
        </p:spPr>
        <p:txBody>
          <a:bodyPr/>
          <a:lstStyle>
            <a:lvl1pPr marL="0" indent="0" algn="r">
              <a:buNone/>
              <a:defRPr sz="24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751785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05165" cy="10725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162669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9A912-BA0F-455A-9008-30C412343B5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图片 6" descr="AIAC_logo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549890" y="5742940"/>
            <a:ext cx="1457960" cy="92456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848995" y="357505"/>
            <a:ext cx="746760" cy="124460"/>
          </a:xfrm>
          <a:prstGeom prst="rect">
            <a:avLst/>
          </a:prstGeom>
          <a:solidFill>
            <a:srgbClr val="53AEF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pages.cs.wisc.edu/~remzi/OSTEP/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Week 5 Lab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zh-CN"/>
              <a:t>Lecturer: Tianming Bai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C7F5CD-881C-4061-85ED-3CE34855C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3FB064-F10F-E080-3EC5-8ACE29540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18936" cy="107251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/>
                <a:ea typeface="等线 Light"/>
                <a:cs typeface="Arial"/>
              </a:rPr>
              <a:t>OSTEP</a:t>
            </a:r>
            <a:endParaRPr lang="zh-CN" altLang="en-US" dirty="0">
              <a:latin typeface="Arial"/>
              <a:ea typeface="等线 Light"/>
              <a:cs typeface="Arial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AA5CDC3-414C-5F7F-FC18-231087A67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9080D4-83E9-B6DE-E039-25C81E93C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E316F8-3107-2405-41B2-105F38CEC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8C15850-A2DA-9BC4-5A4B-891B4D33C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8927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i="1" dirty="0"/>
              <a:t>Welcome to the second half of the course! </a:t>
            </a:r>
          </a:p>
          <a:p>
            <a:pPr marL="0" indent="0">
              <a:buNone/>
            </a:pPr>
            <a:r>
              <a:rPr lang="en-US" sz="2000" dirty="0"/>
              <a:t>Today, we officially transition into the Operating System (OS). For the rest of the semester, we will be using assignments designed by the authors of our textbook, </a:t>
            </a:r>
            <a:r>
              <a:rPr lang="en-US" sz="2000" b="1" i="1" dirty="0"/>
              <a:t>Operating Systems: Three Easy Pieces (OSTEP). </a:t>
            </a:r>
          </a:p>
          <a:p>
            <a:pPr marL="0" indent="0">
              <a:buNone/>
            </a:pPr>
            <a:r>
              <a:rPr lang="en-US" sz="2000" dirty="0"/>
              <a:t>The authors have built brilliant </a:t>
            </a:r>
            <a:r>
              <a:rPr lang="en-US" sz="2000" b="1" dirty="0"/>
              <a:t>Python Simulators</a:t>
            </a:r>
            <a:r>
              <a:rPr lang="en-US" sz="2000" dirty="0"/>
              <a:t>. These Python scripts simulate how an OS schedules tasks, manages memory, and handles disks. Your job will be to run these simulators, observe the outputs, and analyze the algorithms.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To run these simulators, we need to learn </a:t>
            </a:r>
            <a:r>
              <a:rPr lang="en-US" sz="2000" b="1" dirty="0"/>
              <a:t>Command Line Interface.</a:t>
            </a:r>
          </a:p>
          <a:p>
            <a:pPr marL="0" indent="0">
              <a:buNone/>
            </a:pPr>
            <a:endParaRPr lang="en-US" altLang="zh-CN" dirty="0">
              <a:ea typeface="等线" panose="02010600030101010101" pitchFamily="2" charset="-122"/>
            </a:endParaRPr>
          </a:p>
          <a:p>
            <a:endParaRPr lang="en-US" altLang="zh-CN" dirty="0">
              <a:ea typeface="等线" panose="02010600030101010101" pitchFamily="2" charset="-122"/>
            </a:endParaRPr>
          </a:p>
          <a:p>
            <a:endParaRPr lang="en-US" altLang="zh-CN" dirty="0">
              <a:ea typeface="等线" panose="02010600030101010101" pitchFamily="2" charset="-12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0CB192-1285-41F2-85BB-CA8288487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4635818"/>
            <a:ext cx="2820825" cy="18144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9F180D-092B-455C-AAEC-456D1336B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506" y="4652665"/>
            <a:ext cx="2743200" cy="178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5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1344-C1A1-43DA-8662-3C1632D1F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 vs. CLI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5B827-4CB2-4516-82BC-0A4D61E0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508C2-BB72-463E-A9B1-7C07F6D4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School of AI and Advanced Computing, XJTLU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4A613-93F6-4BBD-861D-3066B838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E3CBD6-2D95-4C1B-A3D1-22F84E300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115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GUI and CLI?</a:t>
            </a:r>
          </a:p>
          <a:p>
            <a:pPr marL="457200" lvl="1" indent="0">
              <a:buNone/>
            </a:pPr>
            <a:r>
              <a:rPr lang="en-US" b="1" dirty="0"/>
              <a:t>GUI (Graphical User Interface)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dirty="0"/>
              <a:t>Interacting with the computer using visual elements (windows, icons, buttons) and a mouse.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b="1" dirty="0"/>
              <a:t>Examples: </a:t>
            </a:r>
            <a:r>
              <a:rPr lang="en-US" sz="1600" dirty="0"/>
              <a:t>Your Windows Desktop, Google Chrome, Mac Finder.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b="1" dirty="0"/>
              <a:t>Pros: </a:t>
            </a:r>
            <a:r>
              <a:rPr lang="en-US" sz="1600" dirty="0"/>
              <a:t>Highly intuitive, easy to learn, great for everyday browsing or editing.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b="1" dirty="0"/>
              <a:t>Cons: </a:t>
            </a:r>
            <a:r>
              <a:rPr lang="en-US" sz="1600" dirty="0"/>
              <a:t>Hard to automate, consumes a lot of memory and graphics power.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6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600" b="1" dirty="0"/>
              <a:t>CLI (Command Line Interface)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dirty="0"/>
              <a:t>Interacting with the Operating System purely through text. You type a command, hit Enter, and the OS obeys.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b="1" dirty="0"/>
              <a:t>Examples:</a:t>
            </a:r>
            <a:r>
              <a:rPr lang="en-US" sz="1600" dirty="0"/>
              <a:t> Windows Command Prompt (</a:t>
            </a:r>
            <a:r>
              <a:rPr lang="en-US" sz="1600" dirty="0" err="1"/>
              <a:t>cmd</a:t>
            </a:r>
            <a:r>
              <a:rPr lang="en-US" sz="1600" dirty="0"/>
              <a:t>), PowerShell, Mac/Linux Terminal.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b="1" dirty="0"/>
              <a:t>Pros:</a:t>
            </a:r>
            <a:r>
              <a:rPr lang="en-US" sz="1600" dirty="0"/>
              <a:t> Extremely fast, uses almost zero memory, and is perfectly designed for automation and scripts.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b="1" dirty="0"/>
              <a:t>Cons: </a:t>
            </a:r>
            <a:r>
              <a:rPr lang="en-US" sz="1600" dirty="0"/>
              <a:t>Hard to learn :)  (actually not hard, just kidding).</a:t>
            </a:r>
          </a:p>
        </p:txBody>
      </p:sp>
    </p:spTree>
    <p:extLst>
      <p:ext uri="{BB962C8B-B14F-4D97-AF65-F5344CB8AC3E}">
        <p14:creationId xmlns:p14="http://schemas.microsoft.com/office/powerpoint/2010/main" val="1492477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1344-C1A1-43DA-8662-3C1632D1F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5B827-4CB2-4516-82BC-0A4D61E0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508C2-BB72-463E-A9B1-7C07F6D4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4A613-93F6-4BBD-861D-3066B838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4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E3CBD6-2D95-4C1B-A3D1-22F84E300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As future AI and Big Data professionals, the massive models you train and the datasets you process will run on remote Linux servers, cloud instances (AWS/Google Cloud), or supercomputer clusters. </a:t>
            </a:r>
            <a:r>
              <a:rPr lang="en-US" sz="2400" b="1" dirty="0"/>
              <a:t>These servers do not have screens or mice.</a:t>
            </a:r>
            <a:r>
              <a:rPr lang="en-US" sz="2400" dirty="0"/>
              <a:t> The Command Line is the absolute universal language for instructing computers to do heavy lifting. Today, we take the first step.</a:t>
            </a:r>
          </a:p>
        </p:txBody>
      </p:sp>
    </p:spTree>
    <p:extLst>
      <p:ext uri="{BB962C8B-B14F-4D97-AF65-F5344CB8AC3E}">
        <p14:creationId xmlns:p14="http://schemas.microsoft.com/office/powerpoint/2010/main" val="303198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1344-C1A1-43DA-8662-3C1632D1F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5B827-4CB2-4516-82BC-0A4D61E0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508C2-BB72-463E-A9B1-7C07F6D4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4A613-93F6-4BBD-861D-3066B838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5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E3CBD6-2D95-4C1B-A3D1-22F84E300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5901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How to Open Your Terminal?</a:t>
            </a:r>
          </a:p>
          <a:p>
            <a:pPr marL="0" indent="0">
              <a:buNone/>
            </a:pPr>
            <a:r>
              <a:rPr lang="en-US" b="1" dirty="0"/>
              <a:t>For Windows Users:</a:t>
            </a:r>
          </a:p>
          <a:p>
            <a:pPr marL="457200" lvl="1" indent="0">
              <a:buNone/>
            </a:pPr>
            <a:r>
              <a:rPr lang="en-US" dirty="0"/>
              <a:t>Method 1 (Search): Press the Windows Key, type PowerShell (or </a:t>
            </a:r>
            <a:r>
              <a:rPr lang="en-US" dirty="0" err="1"/>
              <a:t>cmd</a:t>
            </a:r>
            <a:r>
              <a:rPr lang="en-US" dirty="0"/>
              <a:t>), and press Enter.</a:t>
            </a:r>
          </a:p>
          <a:p>
            <a:pPr marL="457200" lvl="1" indent="0">
              <a:buNone/>
            </a:pPr>
            <a:r>
              <a:rPr lang="en-US" dirty="0"/>
              <a:t>Method 2 (The Run Shortcut):</a:t>
            </a:r>
          </a:p>
          <a:p>
            <a:pPr lvl="2"/>
            <a:r>
              <a:rPr lang="en-US" dirty="0"/>
              <a:t>Press Win + R on your keyboard to open the "Run" dialog.</a:t>
            </a:r>
          </a:p>
          <a:p>
            <a:pPr lvl="2"/>
            <a:r>
              <a:rPr lang="en-US" dirty="0"/>
              <a:t>Type </a:t>
            </a:r>
            <a:r>
              <a:rPr lang="en-US" dirty="0" err="1"/>
              <a:t>powershell</a:t>
            </a:r>
            <a:r>
              <a:rPr lang="en-US" dirty="0"/>
              <a:t> (or </a:t>
            </a:r>
            <a:r>
              <a:rPr lang="en-US" dirty="0" err="1"/>
              <a:t>cmd</a:t>
            </a:r>
            <a:r>
              <a:rPr lang="en-US" dirty="0"/>
              <a:t>).</a:t>
            </a:r>
          </a:p>
          <a:p>
            <a:pPr lvl="2"/>
            <a:r>
              <a:rPr lang="en-US" dirty="0"/>
              <a:t>Press Enter.</a:t>
            </a:r>
          </a:p>
          <a:p>
            <a:pPr marL="0" indent="0">
              <a:buNone/>
            </a:pPr>
            <a:r>
              <a:rPr lang="en-US" b="1" dirty="0"/>
              <a:t>For Mac Users:</a:t>
            </a:r>
          </a:p>
          <a:p>
            <a:pPr marL="457200" lvl="1" indent="0">
              <a:buNone/>
            </a:pPr>
            <a:r>
              <a:rPr lang="en-US" dirty="0"/>
              <a:t>The Spotlight Shortcut:</a:t>
            </a:r>
          </a:p>
          <a:p>
            <a:pPr marL="914400" lvl="2" indent="0">
              <a:buNone/>
            </a:pPr>
            <a:r>
              <a:rPr lang="en-US" dirty="0"/>
              <a:t>Press </a:t>
            </a:r>
            <a:r>
              <a:rPr lang="en-US" dirty="0" err="1"/>
              <a:t>Cmd</a:t>
            </a:r>
            <a:r>
              <a:rPr lang="en-US" dirty="0"/>
              <a:t> + Space to open Spotlight Search.</a:t>
            </a:r>
          </a:p>
          <a:p>
            <a:pPr marL="914400" lvl="2" indent="0">
              <a:buNone/>
            </a:pPr>
            <a:r>
              <a:rPr lang="en-US" dirty="0"/>
              <a:t>Type Terminal.</a:t>
            </a:r>
          </a:p>
          <a:p>
            <a:pPr marL="914400" lvl="2" indent="0">
              <a:buNone/>
            </a:pPr>
            <a:r>
              <a:rPr lang="en-US" dirty="0"/>
              <a:t>Press Enter.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A5A3E8-D1A8-4864-B5C8-9857B1C7C4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599" r="34438" b="2480"/>
          <a:stretch/>
        </p:blipFill>
        <p:spPr>
          <a:xfrm>
            <a:off x="4362773" y="2068566"/>
            <a:ext cx="1778430" cy="27122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6FCA24-C211-444C-9E69-6154BA8D1E24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3622729" y="2339786"/>
            <a:ext cx="1629259" cy="186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305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1344-C1A1-43DA-8662-3C1632D1F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5B827-4CB2-4516-82BC-0A4D61E0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508C2-BB72-463E-A9B1-7C07F6D4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4A613-93F6-4BBD-861D-3066B838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6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E3CBD6-2D95-4C1B-A3D1-22F84E300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70642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Open your terminal.</a:t>
            </a:r>
          </a:p>
          <a:p>
            <a:pPr marL="0" indent="0">
              <a:buNone/>
            </a:pPr>
            <a:r>
              <a:rPr lang="en-US" dirty="0"/>
              <a:t>Here are the only 4 commands you need to survive: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Where am I? </a:t>
            </a:r>
          </a:p>
          <a:p>
            <a:pPr lvl="1"/>
            <a:r>
              <a:rPr lang="en-US" dirty="0"/>
              <a:t>Command: </a:t>
            </a:r>
            <a:r>
              <a:rPr lang="en-US" b="1" dirty="0" err="1">
                <a:highlight>
                  <a:srgbClr val="C0C0C0"/>
                </a:highlight>
              </a:rPr>
              <a:t>pwd</a:t>
            </a:r>
            <a:r>
              <a:rPr lang="en-US" dirty="0"/>
              <a:t> (Mac/Linux/PowerShell) or </a:t>
            </a:r>
            <a:r>
              <a:rPr lang="en-US" b="1" dirty="0">
                <a:highlight>
                  <a:srgbClr val="C0C0C0"/>
                </a:highlight>
              </a:rPr>
              <a:t>echo %cd%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/>
              <a:t>(Windows CMD)</a:t>
            </a:r>
          </a:p>
          <a:p>
            <a:pPr lvl="1"/>
            <a:r>
              <a:rPr lang="en-US" dirty="0"/>
              <a:t>Tells you your current folder path.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inside here?</a:t>
            </a:r>
          </a:p>
          <a:p>
            <a:pPr lvl="1"/>
            <a:r>
              <a:rPr lang="en-US" dirty="0"/>
              <a:t>Command: </a:t>
            </a:r>
            <a:r>
              <a:rPr lang="en-US" b="1" dirty="0">
                <a:highlight>
                  <a:srgbClr val="C0C0C0"/>
                </a:highlight>
              </a:rPr>
              <a:t>ls</a:t>
            </a:r>
            <a:r>
              <a:rPr lang="en-US" dirty="0"/>
              <a:t> (Mac/Linux/PowerShell) or </a:t>
            </a:r>
            <a:r>
              <a:rPr lang="en-US" b="1" dirty="0" err="1">
                <a:highlight>
                  <a:srgbClr val="C0C0C0"/>
                </a:highlight>
              </a:rPr>
              <a:t>dir</a:t>
            </a:r>
            <a:r>
              <a:rPr lang="en-US" dirty="0"/>
              <a:t> (Windows CMD)</a:t>
            </a:r>
          </a:p>
          <a:p>
            <a:pPr lvl="1"/>
            <a:r>
              <a:rPr lang="en-US" dirty="0"/>
              <a:t>Lists all files and folders in your current directory.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do I move?</a:t>
            </a:r>
          </a:p>
          <a:p>
            <a:pPr lvl="1"/>
            <a:r>
              <a:rPr lang="en-US" dirty="0"/>
              <a:t>Command: </a:t>
            </a:r>
            <a:r>
              <a:rPr lang="en-US" b="1" dirty="0">
                <a:highlight>
                  <a:srgbClr val="C0C0C0"/>
                </a:highlight>
              </a:rPr>
              <a:t>cd &lt;</a:t>
            </a:r>
            <a:r>
              <a:rPr lang="en-US" b="1" dirty="0" err="1">
                <a:highlight>
                  <a:srgbClr val="C0C0C0"/>
                </a:highlight>
              </a:rPr>
              <a:t>Folder_Name</a:t>
            </a:r>
            <a:r>
              <a:rPr lang="en-US" b="1" dirty="0">
                <a:highlight>
                  <a:srgbClr val="C0C0C0"/>
                </a:highlight>
              </a:rPr>
              <a:t>&gt;</a:t>
            </a:r>
            <a:r>
              <a:rPr lang="en-US" b="1" dirty="0"/>
              <a:t> </a:t>
            </a:r>
            <a:r>
              <a:rPr lang="en-US" dirty="0"/>
              <a:t>(e.g., cd Desktop or cd Downloads)</a:t>
            </a:r>
          </a:p>
          <a:p>
            <a:pPr lvl="1"/>
            <a:r>
              <a:rPr lang="en-US" dirty="0"/>
              <a:t>Command to go back one folder: </a:t>
            </a:r>
            <a:r>
              <a:rPr lang="en-US" dirty="0">
                <a:highlight>
                  <a:srgbClr val="C0C0C0"/>
                </a:highlight>
              </a:rPr>
              <a:t>cd ..</a:t>
            </a:r>
          </a:p>
          <a:p>
            <a:pPr lvl="1"/>
            <a:r>
              <a:rPr lang="en-US" dirty="0"/>
              <a:t>Moves your terminal into the folder where your Python scripts are saved.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do I run a script with "Flags"?</a:t>
            </a:r>
          </a:p>
          <a:p>
            <a:pPr lvl="1"/>
            <a:r>
              <a:rPr lang="en-US" dirty="0"/>
              <a:t>Command: python script_name.py -flag value</a:t>
            </a:r>
          </a:p>
          <a:p>
            <a:pPr lvl="1"/>
            <a:r>
              <a:rPr lang="en-US" dirty="0"/>
              <a:t>Flags (arguments) tell the Python script exactly how you want it to behave before it even starts running.</a:t>
            </a:r>
          </a:p>
        </p:txBody>
      </p:sp>
    </p:spTree>
    <p:extLst>
      <p:ext uri="{BB962C8B-B14F-4D97-AF65-F5344CB8AC3E}">
        <p14:creationId xmlns:p14="http://schemas.microsoft.com/office/powerpoint/2010/main" val="909206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1344-C1A1-43DA-8662-3C1632D1F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 Code Integrated Terminal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5B827-4CB2-4516-82BC-0A4D61E0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508C2-BB72-463E-A9B1-7C07F6D4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4A613-93F6-4BBD-861D-3066B838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7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E3CBD6-2D95-4C1B-A3D1-22F84E300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Open Visual Studio Code and open your project folder.</a:t>
            </a:r>
          </a:p>
          <a:p>
            <a:pPr marL="0" indent="0">
              <a:buNone/>
            </a:pPr>
            <a:r>
              <a:rPr lang="en-US" sz="2000" dirty="0"/>
              <a:t>Click Terminal in the very top menu bar -&gt; Select New Terminal. </a:t>
            </a:r>
          </a:p>
          <a:p>
            <a:pPr marL="0" indent="0">
              <a:buNone/>
            </a:pPr>
            <a:r>
              <a:rPr lang="en-US" sz="2000" dirty="0"/>
              <a:t>Or you can use shortcuts:</a:t>
            </a:r>
          </a:p>
          <a:p>
            <a:pPr lvl="1"/>
            <a:r>
              <a:rPr lang="en-US" sz="1800" dirty="0"/>
              <a:t>Windows: Press Ctrl + ` (The backtick key, usually located just below the Esc key).</a:t>
            </a:r>
          </a:p>
          <a:p>
            <a:pPr lvl="1"/>
            <a:r>
              <a:rPr lang="en-US" sz="1800" dirty="0"/>
              <a:t>Mac: Press </a:t>
            </a:r>
            <a:r>
              <a:rPr lang="en-US" sz="1800" dirty="0" err="1"/>
              <a:t>Cmd</a:t>
            </a:r>
            <a:r>
              <a:rPr lang="en-US" sz="1800" dirty="0"/>
              <a:t> + `.</a:t>
            </a:r>
          </a:p>
          <a:p>
            <a:pPr marL="457200" lvl="1" indent="0">
              <a:buNone/>
            </a:pPr>
            <a:r>
              <a:rPr lang="en-US" sz="1800" dirty="0"/>
              <a:t>A terminal panel will pop up at the bottom of your screen, ready for your commands!</a:t>
            </a:r>
          </a:p>
        </p:txBody>
      </p:sp>
    </p:spTree>
    <p:extLst>
      <p:ext uri="{BB962C8B-B14F-4D97-AF65-F5344CB8AC3E}">
        <p14:creationId xmlns:p14="http://schemas.microsoft.com/office/powerpoint/2010/main" val="205364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1344-C1A1-43DA-8662-3C1632D1F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5B827-4CB2-4516-82BC-0A4D61E0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508C2-BB72-463E-A9B1-7C07F6D4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4A613-93F6-4BBD-861D-3066B838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8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E3CBD6-2D95-4C1B-A3D1-22F84E300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Go to Learning Mall and download this week's lab files (codes.zip).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Move the .zip file to a proper location (e.g., your Desktop or a dedicated OS course folder).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Extract/unzip the folder.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Open Visual Studio Code.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Go to the top menu: File -&gt; Open Folder... (Choose the unzipped folder you just created).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Open the Integrated Terminal.</a:t>
            </a:r>
          </a:p>
        </p:txBody>
      </p:sp>
    </p:spTree>
    <p:extLst>
      <p:ext uri="{BB962C8B-B14F-4D97-AF65-F5344CB8AC3E}">
        <p14:creationId xmlns:p14="http://schemas.microsoft.com/office/powerpoint/2010/main" val="2337691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1344-C1A1-43DA-8662-3C1632D1F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5B827-4CB2-4516-82BC-0A4D61E0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508C2-BB72-463E-A9B1-7C07F6D4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School of AI and Advanced Computing, XJTLU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4A613-93F6-4BBD-861D-3066B838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9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E3CBD6-2D95-4C1B-A3D1-22F84E300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6946" y="148110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Let's practice talking to your OS using the Command Line. In your VS Code terminal, try the answer the following questions: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Where am I?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What is inside?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a new file via CLI.</a:t>
            </a:r>
          </a:p>
          <a:p>
            <a:pPr lvl="1"/>
            <a:r>
              <a:rPr lang="en-US" sz="1800" dirty="0"/>
              <a:t>Type the following command to create a text file:</a:t>
            </a:r>
          </a:p>
          <a:p>
            <a:pPr marL="457200" lvl="1" indent="0">
              <a:buNone/>
            </a:pPr>
            <a:r>
              <a:rPr lang="en-US" sz="1800" dirty="0"/>
              <a:t>	</a:t>
            </a:r>
            <a:r>
              <a:rPr lang="en-US" sz="1800" dirty="0">
                <a:highlight>
                  <a:srgbClr val="C0C0C0"/>
                </a:highlight>
              </a:rPr>
              <a:t>echo "Hello OS!" &gt; my_test.txt</a:t>
            </a:r>
          </a:p>
          <a:p>
            <a:pPr lvl="1"/>
            <a:r>
              <a:rPr lang="en-US" sz="1800" dirty="0"/>
              <a:t>Type </a:t>
            </a:r>
            <a:r>
              <a:rPr lang="en-US" sz="1800" dirty="0">
                <a:highlight>
                  <a:srgbClr val="C0C0C0"/>
                </a:highlight>
              </a:rPr>
              <a:t>ls</a:t>
            </a:r>
            <a:r>
              <a:rPr lang="en-US" sz="1800" dirty="0"/>
              <a:t> again. You should now see my_test.txt in your list. You just commanded the OS to write data to the disk.</a:t>
            </a:r>
          </a:p>
        </p:txBody>
      </p:sp>
    </p:spTree>
    <p:extLst>
      <p:ext uri="{BB962C8B-B14F-4D97-AF65-F5344CB8AC3E}">
        <p14:creationId xmlns:p14="http://schemas.microsoft.com/office/powerpoint/2010/main" val="2275819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2D73-90C4-44E9-B462-3DB245DB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D2540D-B95E-40BE-838E-EAD765069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33263-B89C-43D9-BCBE-F7D0BA07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6A48A-78BB-49BC-96DB-B3BCAF53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10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67A078-1DD7-43EF-83AE-0619E26AA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Now, let's test the "Illusions" of the OS. We will run a multi-threaded program to see what happens when the OS is forced to switch contexts at the worst possible moment.</a:t>
            </a:r>
          </a:p>
          <a:p>
            <a:r>
              <a:rPr lang="en-US" sz="2000" dirty="0"/>
              <a:t>Run the Script:</a:t>
            </a:r>
          </a:p>
          <a:p>
            <a:pPr marL="0" indent="0">
              <a:buNone/>
            </a:pPr>
            <a:r>
              <a:rPr lang="en-US" sz="2000" dirty="0"/>
              <a:t>Type </a:t>
            </a:r>
            <a:r>
              <a:rPr lang="en-US" sz="2000" dirty="0">
                <a:highlight>
                  <a:srgbClr val="C0C0C0"/>
                </a:highlight>
              </a:rPr>
              <a:t>python concurrency.py</a:t>
            </a:r>
            <a:r>
              <a:rPr lang="en-US" sz="2000" dirty="0"/>
              <a:t> and press Enter.</a:t>
            </a:r>
          </a:p>
          <a:p>
            <a:r>
              <a:rPr lang="en-US" sz="2000" dirty="0"/>
              <a:t>Observe the Results.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dirty="0"/>
              <a:t>Use Up Arrow:</a:t>
            </a:r>
          </a:p>
          <a:p>
            <a:pPr lvl="1"/>
            <a:r>
              <a:rPr lang="en-US" sz="1800" dirty="0"/>
              <a:t>Do not re-type the command. Press the Up Arrow (↑) key on your keyboard once. The terminal remembers your last command!</a:t>
            </a:r>
          </a:p>
          <a:p>
            <a:pPr lvl="1"/>
            <a:r>
              <a:rPr lang="en-US" sz="1800" dirty="0"/>
              <a:t>Press Enter to run it again. Do this 3-4 times.</a:t>
            </a:r>
          </a:p>
          <a:p>
            <a:pPr lvl="1"/>
            <a:r>
              <a:rPr lang="en-US" sz="1800" dirty="0"/>
              <a:t>Think: Why is the final number different every single time? Open the concurrency.py file in VS Code and read the comments about the Python GIL!</a:t>
            </a:r>
          </a:p>
        </p:txBody>
      </p:sp>
    </p:spTree>
    <p:extLst>
      <p:ext uri="{BB962C8B-B14F-4D97-AF65-F5344CB8AC3E}">
        <p14:creationId xmlns:p14="http://schemas.microsoft.com/office/powerpoint/2010/main" val="864613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2D73-90C4-44E9-B462-3DB245DB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D2540D-B95E-40BE-838E-EAD765069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33263-B89C-43D9-BCBE-F7D0BA07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6A48A-78BB-49BC-96DB-B3BCAF53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11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67A078-1DD7-43EF-83AE-0619E26AA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For our upcoming homework assignments, we will use Python simulators designed by the OSTEP authors. Let's make sure your environment can run them properly.</a:t>
            </a:r>
          </a:p>
          <a:p>
            <a:r>
              <a:rPr lang="en-US" sz="2000" dirty="0"/>
              <a:t>Run the Simulator with Flags:</a:t>
            </a:r>
          </a:p>
          <a:p>
            <a:pPr marL="0" indent="0">
              <a:buNone/>
            </a:pPr>
            <a:r>
              <a:rPr lang="en-US" sz="2000" dirty="0"/>
              <a:t>Type the following command exactly as shown and press Enter: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>
                <a:highlight>
                  <a:srgbClr val="C0C0C0"/>
                </a:highlight>
              </a:rPr>
              <a:t>python process-run.py -l 5:100,5:100 -c</a:t>
            </a:r>
          </a:p>
          <a:p>
            <a:r>
              <a:rPr lang="en-US" sz="2000" dirty="0"/>
              <a:t>You should see a timeline printed on your screen showing Process 0 and Process 1 running.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Note: You do not need to understand the output numbers yet! If it runs without a Python error, you are ready for next week's CPU Scheduling lecture.</a:t>
            </a:r>
          </a:p>
        </p:txBody>
      </p:sp>
    </p:spTree>
    <p:extLst>
      <p:ext uri="{BB962C8B-B14F-4D97-AF65-F5344CB8AC3E}">
        <p14:creationId xmlns:p14="http://schemas.microsoft.com/office/powerpoint/2010/main" val="447081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2D73-90C4-44E9-B462-3DB245DB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4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D2540D-B95E-40BE-838E-EAD765069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33263-B89C-43D9-BCBE-F7D0BA07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School of AI and Advanced Computing, XJTLU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6A48A-78BB-49BC-96DB-B3BCAF53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67A078-1DD7-43EF-83AE-0619E26AA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Run the script: </a:t>
            </a:r>
            <a:r>
              <a:rPr lang="en-US" sz="2000" dirty="0">
                <a:highlight>
                  <a:srgbClr val="C0C0C0"/>
                </a:highlight>
              </a:rPr>
              <a:t>python cpu_hog.py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en-US" sz="2000" dirty="0"/>
              <a:t>Open Windows Task Manager (</a:t>
            </a:r>
            <a:r>
              <a:rPr lang="en-US" sz="2000" dirty="0" err="1"/>
              <a:t>Ctrl+Shift+Esc</a:t>
            </a:r>
            <a:r>
              <a:rPr lang="en-US" sz="2000" dirty="0"/>
              <a:t>) or Activity Monitor (Mac), go to the Details tab, and find python.exe.</a:t>
            </a:r>
          </a:p>
          <a:p>
            <a:pPr marL="457200" lvl="1" indent="0">
              <a:buNone/>
            </a:pPr>
            <a:r>
              <a:rPr lang="en-US" sz="1600" dirty="0"/>
              <a:t>Question 1: What is the PID (Process ID)? ________</a:t>
            </a:r>
          </a:p>
          <a:p>
            <a:pPr marL="457200" lvl="1" indent="0">
              <a:buNone/>
            </a:pPr>
            <a:r>
              <a:rPr lang="en-US" sz="1600" dirty="0"/>
              <a:t>Question 2: What percentage (%) of the CPU is it using? ________</a:t>
            </a:r>
          </a:p>
          <a:p>
            <a:pPr marL="0" indent="0">
              <a:buNone/>
            </a:pPr>
            <a:r>
              <a:rPr lang="en-US" sz="2000" dirty="0"/>
              <a:t>Open 3 more separate terminal windows and run python cpu_hog.py in all of them.</a:t>
            </a:r>
          </a:p>
          <a:p>
            <a:pPr marL="457200" lvl="1" indent="0">
              <a:buNone/>
            </a:pPr>
            <a:r>
              <a:rPr lang="en-US" sz="1600" dirty="0"/>
              <a:t>Look at Task Manager again.</a:t>
            </a:r>
          </a:p>
          <a:p>
            <a:pPr marL="457200" lvl="1" indent="0">
              <a:buNone/>
            </a:pPr>
            <a:r>
              <a:rPr lang="en-US" sz="1600" dirty="0"/>
              <a:t>Question 3: Did your computer crash? How did the OS distribute the CPU % among the 4 identical processes?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Press Ctrl + C in your terminals to kill the programs</a:t>
            </a:r>
          </a:p>
        </p:txBody>
      </p:sp>
    </p:spTree>
    <p:extLst>
      <p:ext uri="{BB962C8B-B14F-4D97-AF65-F5344CB8AC3E}">
        <p14:creationId xmlns:p14="http://schemas.microsoft.com/office/powerpoint/2010/main" val="2210213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78E3-58B5-48EB-960A-427A189E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DE87A-87BB-4569-AA23-4E34E8843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67495A-DE7C-402F-AC2C-7F885EFEF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E884E-EF9B-4552-8C22-4A2CACA7C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13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68339C2-3B40-4854-967B-10A2FB13B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did not finish last week's lab, please use this time to review and complete them. Ask the TA or instructor for help if you are stuck</a:t>
            </a:r>
          </a:p>
          <a:p>
            <a:r>
              <a:rPr lang="en-US" dirty="0"/>
              <a:t>If you have successfully completed all tasks today, go to the official OSTEP website (</a:t>
            </a:r>
            <a:r>
              <a:rPr lang="en-US" dirty="0">
                <a:hlinkClick r:id="rId2"/>
              </a:rPr>
              <a:t>https://pages.cs.wisc.edu/~remzi/OSTEP/</a:t>
            </a:r>
            <a:r>
              <a:rPr lang="en-US" dirty="0"/>
              <a:t>) . </a:t>
            </a:r>
            <a:r>
              <a:rPr lang="en-US" altLang="zh-CN" dirty="0"/>
              <a:t>Overview the textbook and preview </a:t>
            </a:r>
            <a:r>
              <a:rPr lang="en-US" altLang="zh-CN" b="1" dirty="0"/>
              <a:t>Processes.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71562366"/>
      </p:ext>
    </p:extLst>
  </p:cSld>
  <p:clrMapOvr>
    <a:masterClrMapping/>
  </p:clrMapOvr>
</p:sld>
</file>

<file path=ppt/theme/theme1.xml><?xml version="1.0" encoding="utf-8"?>
<a:theme xmlns:a="http://schemas.openxmlformats.org/drawingml/2006/main" name="AIAC">
  <a:themeElements>
    <a:clrScheme name="AIAC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3AEF1"/>
      </a:accent1>
      <a:accent2>
        <a:srgbClr val="002060"/>
      </a:accent2>
      <a:accent3>
        <a:srgbClr val="A5A5A5"/>
      </a:accent3>
      <a:accent4>
        <a:srgbClr val="58257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1389</Words>
  <Application>Microsoft Office PowerPoint</Application>
  <PresentationFormat>Widescreen</PresentationFormat>
  <Paragraphs>145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AIAC</vt:lpstr>
      <vt:lpstr>Week 5 Lab</vt:lpstr>
      <vt:lpstr>OSTEP</vt:lpstr>
      <vt:lpstr>GUI vs. CLI</vt:lpstr>
      <vt:lpstr>CLI</vt:lpstr>
      <vt:lpstr>CLI</vt:lpstr>
      <vt:lpstr>CLI</vt:lpstr>
      <vt:lpstr>VS Code Integrated Terminal</vt:lpstr>
      <vt:lpstr>Task 1</vt:lpstr>
      <vt:lpstr>Task 1</vt:lpstr>
      <vt:lpstr>Task 2</vt:lpstr>
      <vt:lpstr>Task 3</vt:lpstr>
      <vt:lpstr>Task 4</vt:lpstr>
      <vt:lpstr>Task 5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Tianming Bai</dc:creator>
  <cp:lastModifiedBy>Tianming Bai</cp:lastModifiedBy>
  <cp:revision>77</cp:revision>
  <dcterms:created xsi:type="dcterms:W3CDTF">2025-10-22T02:43:00Z</dcterms:created>
  <dcterms:modified xsi:type="dcterms:W3CDTF">2026-03-31T05:31:34Z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D54924A72EA5414ABBE088D1CC4432A3_13</vt:lpwstr>
  </property>
  <property fmtid="{D5CDD505-2E9C-101B-9397-08002B2CF9AE}" pid="3" name="KSOProductBuildVer">
    <vt:lpwstr>2052-12.1.0.24657</vt:lpwstr>
  </property>
</Properties>
</file>