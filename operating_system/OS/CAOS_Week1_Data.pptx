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56" r:id="rId2"/>
    <p:sldId id="259" r:id="rId3"/>
    <p:sldId id="264" r:id="rId4"/>
    <p:sldId id="263" r:id="rId5"/>
    <p:sldId id="260" r:id="rId6"/>
    <p:sldId id="265" r:id="rId7"/>
    <p:sldId id="261" r:id="rId8"/>
    <p:sldId id="267" r:id="rId9"/>
    <p:sldId id="268" r:id="rId10"/>
    <p:sldId id="262" r:id="rId11"/>
    <p:sldId id="266" r:id="rId12"/>
    <p:sldId id="357" r:id="rId13"/>
    <p:sldId id="35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AEF1"/>
    <a:srgbClr val="582579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A9278-991E-4FC4-A092-547ADFE43B7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16CDF-66D6-42F5-82AB-44061AC83C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AI and Advanced Computing, XJTLU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45355"/>
            <a:ext cx="7647305" cy="66421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5536565"/>
            <a:ext cx="7647305" cy="664210"/>
          </a:xfrm>
        </p:spPr>
        <p:txBody>
          <a:bodyPr/>
          <a:lstStyle>
            <a:lvl1pPr marL="0" indent="0" algn="r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751785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A912-BA0F-455A-9008-30C412343B5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848995" y="357505"/>
            <a:ext cx="746760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rm.com/documentation/ddi0602/2025-12/Shared-Pseudocode/shared-functions-float?lang=en#func_FPAdd_4" TargetMode="External"/><Relationship Id="rId2" Type="http://schemas.openxmlformats.org/officeDocument/2006/relationships/hyperlink" Target="https://developer.arm.com/documentation/ddi0602/2025-12/?lang=en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Computer Architecture and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Operating System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Data Format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zh-CN"/>
              <a:t>Lecturer: Tianming Bai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3/2/2026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ADD7-9412-4604-AA1E-E8C5E6B4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084D8-6F78-4D5F-93A5-5E1A436DEF6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Computer uses binary numbers.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The most basic unit of information: </a:t>
            </a:r>
            <a:r>
              <a:rPr lang="en-US" altLang="zh-CN" b="1" dirty="0"/>
              <a:t>bit</a:t>
            </a:r>
          </a:p>
          <a:p>
            <a:pPr>
              <a:lnSpc>
                <a:spcPct val="150000"/>
              </a:lnSpc>
            </a:pPr>
            <a:r>
              <a:rPr lang="en-US" dirty="0"/>
              <a:t>8bits = 1byte (Why?)</a:t>
            </a:r>
          </a:p>
        </p:txBody>
      </p:sp>
    </p:spTree>
    <p:extLst>
      <p:ext uri="{BB962C8B-B14F-4D97-AF65-F5344CB8AC3E}">
        <p14:creationId xmlns:p14="http://schemas.microsoft.com/office/powerpoint/2010/main" val="163949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F9DF655-86D7-4272-A0FD-75E1EB3E0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190" y="239141"/>
            <a:ext cx="8407184" cy="646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42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418F-028B-4122-807C-B5609013D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Positional Numbering System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94AF8-7776-4CC9-ACB9-2C948EA82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use decimal numbers</a:t>
                </a:r>
              </a:p>
              <a:p>
                <a:r>
                  <a:rPr lang="en-US" altLang="zh-CN" dirty="0"/>
                  <a:t>Try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zh-CN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to decimal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CN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zh-CN" dirty="0"/>
                  <a:t> to binary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CN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147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to binary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94AF8-7776-4CC9-ACB9-2C948EA82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5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ADD7-9412-4604-AA1E-E8C5E6B4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Representation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3CC252-34D9-4C73-8D9E-F468BB1571B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Unsigned (e.g. uint8)</a:t>
            </a:r>
          </a:p>
          <a:p>
            <a:r>
              <a:rPr lang="en-US" sz="3200" dirty="0"/>
              <a:t>Signed (e.g. int8)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Signed Magnitude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One’s complement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Two’s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283675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ADD7-9412-4604-AA1E-E8C5E6B4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Arithmetic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3CC252-34D9-4C73-8D9E-F468BB1571B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dirty="0"/>
              <a:t>When doing calculation, what do we care?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Addition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Subtraction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Multiplication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Division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0765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ADD7-9412-4604-AA1E-E8C5E6B4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F3B475-4073-4A95-8097-99DC3962A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56862"/>
            <a:ext cx="8964478" cy="407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39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BC41-A80F-411A-AF40-5A1451D3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2E1E7-31AB-49BB-92CA-43E639498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41" y="1594398"/>
            <a:ext cx="9038095" cy="46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4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BC41-A80F-411A-AF40-5A1451D3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Representation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85D0A1-B86B-4AE9-BA19-0FD77EDBBC42}"/>
              </a:ext>
            </a:extLst>
          </p:cNvPr>
          <p:cNvSpPr txBox="1">
            <a:spLocks/>
          </p:cNvSpPr>
          <p:nvPr/>
        </p:nvSpPr>
        <p:spPr>
          <a:xfrm>
            <a:off x="838200" y="1817876"/>
            <a:ext cx="42568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/>
              <a:t>Convert to decimal:</a:t>
            </a:r>
          </a:p>
          <a:p>
            <a:pPr lvl="1">
              <a:lnSpc>
                <a:spcPct val="150000"/>
              </a:lnSpc>
            </a:pPr>
            <a:r>
              <a:rPr lang="en-US" b="0" i="0" dirty="0"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0 00000 0000000001</a:t>
            </a:r>
          </a:p>
          <a:p>
            <a:pPr lvl="1">
              <a:lnSpc>
                <a:spcPct val="150000"/>
              </a:lnSpc>
            </a:pPr>
            <a:r>
              <a:rPr lang="en-US" b="0" i="0" dirty="0"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0 00001 0000000000</a:t>
            </a:r>
            <a:endParaRPr lang="en-US" dirty="0">
              <a:solidFill>
                <a:srgbClr val="202122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b="0" i="0" dirty="0"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0 01111 0000000001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D35E8-F73E-48AA-82DB-5A532A9E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52" y="2551291"/>
            <a:ext cx="9297429" cy="6269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EC7632-832D-4280-84A3-8F90B0270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830" y="3241880"/>
            <a:ext cx="9252751" cy="596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7E5D59-203B-462B-9F74-635D282F9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407" y="3871640"/>
            <a:ext cx="9213175" cy="58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2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ADD7-9412-4604-AA1E-E8C5E6B4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42CE4-24E6-4285-9486-F4692E7F0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20" y="1637001"/>
            <a:ext cx="6187698" cy="42558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3D80EF-EBF8-40FD-B924-DD0F134F8C1D}"/>
              </a:ext>
            </a:extLst>
          </p:cNvPr>
          <p:cNvSpPr txBox="1"/>
          <p:nvPr/>
        </p:nvSpPr>
        <p:spPr>
          <a:xfrm>
            <a:off x="7028481" y="1987658"/>
            <a:ext cx="259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What are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balancing?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59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D871-4994-4050-A7FB-B0EB52A6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251"/>
            <a:ext cx="10515600" cy="1325563"/>
          </a:xfrm>
        </p:spPr>
        <p:txBody>
          <a:bodyPr/>
          <a:lstStyle/>
          <a:p>
            <a:r>
              <a:rPr lang="en-US" dirty="0"/>
              <a:t>Floating Point </a:t>
            </a:r>
            <a:r>
              <a:rPr lang="en-US" altLang="zh-CN" dirty="0"/>
              <a:t>Arithmetic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085A-31AE-44A7-8400-8CCF6B7AD46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dirty="0"/>
              <a:t>When doing calculation, what do we care?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Addition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Alignment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Summation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Normalization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Round Up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Detection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268BB7-ECB2-4CF4-9F8A-72E49B1A15F2}"/>
              </a:ext>
            </a:extLst>
          </p:cNvPr>
          <p:cNvSpPr txBox="1"/>
          <p:nvPr/>
        </p:nvSpPr>
        <p:spPr>
          <a:xfrm>
            <a:off x="5358161" y="3246859"/>
            <a:ext cx="39809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Example:</a:t>
            </a:r>
          </a:p>
          <a:p>
            <a:endParaRPr lang="en-US" altLang="zh-CN" dirty="0"/>
          </a:p>
          <a:p>
            <a:pPr lvl="1"/>
            <a:r>
              <a:rPr lang="en-US" altLang="zh-CN" dirty="0"/>
              <a:t>A = 0 00000 0000000001</a:t>
            </a:r>
          </a:p>
          <a:p>
            <a:pPr lvl="1"/>
            <a:r>
              <a:rPr lang="en-US" altLang="zh-CN" dirty="0"/>
              <a:t>B = 0 00001 0000000000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Try compute: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+ 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+ B</a:t>
            </a:r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4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D871-4994-4050-A7FB-B0EB52A6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251"/>
            <a:ext cx="10515600" cy="1325563"/>
          </a:xfrm>
        </p:spPr>
        <p:txBody>
          <a:bodyPr/>
          <a:lstStyle/>
          <a:p>
            <a:r>
              <a:rPr lang="en-US" dirty="0"/>
              <a:t>Floating Point </a:t>
            </a:r>
            <a:r>
              <a:rPr lang="en-US" altLang="zh-CN" dirty="0"/>
              <a:t>Arithmetic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085A-31AE-44A7-8400-8CCF6B7AD46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dirty="0"/>
              <a:t>When doing calculation, what do we care?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Multiplication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/>
              <a:t>Sign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/>
              <a:t>Exponential</a:t>
            </a:r>
            <a:r>
              <a:rPr lang="zh-CN" altLang="en-US" sz="1800" dirty="0"/>
              <a:t>：</a:t>
            </a:r>
            <a:r>
              <a:rPr lang="en-US" altLang="zh-CN" sz="1800" dirty="0"/>
              <a:t>summation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/>
              <a:t>Mantissa</a:t>
            </a:r>
            <a:r>
              <a:rPr lang="zh-CN" altLang="en-US" sz="1800" dirty="0"/>
              <a:t>：</a:t>
            </a:r>
            <a:r>
              <a:rPr lang="en-US" altLang="zh-CN" sz="1800" dirty="0"/>
              <a:t>multiplication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/>
              <a:t>Normalize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/>
              <a:t>Round Up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/>
              <a:t>Detection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F43A7-726C-4A49-AEB2-03EB2F90C4E8}"/>
              </a:ext>
            </a:extLst>
          </p:cNvPr>
          <p:cNvSpPr txBox="1"/>
          <p:nvPr/>
        </p:nvSpPr>
        <p:spPr>
          <a:xfrm>
            <a:off x="5597912" y="3314641"/>
            <a:ext cx="39809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Example:</a:t>
            </a:r>
          </a:p>
          <a:p>
            <a:endParaRPr lang="en-US" altLang="zh-CN" dirty="0"/>
          </a:p>
          <a:p>
            <a:pPr lvl="1"/>
            <a:r>
              <a:rPr lang="en-US" altLang="zh-CN" dirty="0"/>
              <a:t>B = 0 00001 0000000000</a:t>
            </a:r>
          </a:p>
          <a:p>
            <a:pPr lvl="1"/>
            <a:r>
              <a:rPr lang="en-US" altLang="zh-CN" dirty="0"/>
              <a:t>C = 0 00000 0111111110</a:t>
            </a:r>
          </a:p>
          <a:p>
            <a:pPr lvl="1"/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Try compute: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 * B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 * C</a:t>
            </a:r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0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B559A-AA97-4CBB-A581-1FD00CE9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Computer Arithmetic Book</a:t>
            </a:r>
            <a:endParaRPr lang="en-US" dirty="0"/>
          </a:p>
        </p:txBody>
      </p:sp>
      <p:pic>
        <p:nvPicPr>
          <p:cNvPr id="1030" name="Picture 6" descr="Computer Arithmetic Algorithms: Koren, Israel: 9781568811604: Amazon.com:  Books">
            <a:extLst>
              <a:ext uri="{FF2B5EF4-FFF2-40B4-BE49-F238E27FC236}">
                <a16:creationId xmlns:a16="http://schemas.microsoft.com/office/drawing/2014/main" id="{77441B43-EC79-4FAE-923A-DFA7B46E1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215" y="1929161"/>
            <a:ext cx="2786290" cy="368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601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D871-4994-4050-A7FB-B0EB52A6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251"/>
            <a:ext cx="10515600" cy="1325563"/>
          </a:xfrm>
        </p:spPr>
        <p:txBody>
          <a:bodyPr/>
          <a:lstStyle/>
          <a:p>
            <a:r>
              <a:rPr lang="en-US" dirty="0"/>
              <a:t>Modern Design - 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085A-31AE-44A7-8400-8CCF6B7AD465}"/>
              </a:ext>
            </a:extLst>
          </p:cNvPr>
          <p:cNvSpPr txBox="1">
            <a:spLocks/>
          </p:cNvSpPr>
          <p:nvPr/>
        </p:nvSpPr>
        <p:spPr>
          <a:xfrm>
            <a:off x="7631955" y="1332856"/>
            <a:ext cx="4241369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hlinkClick r:id="rId2"/>
              </a:rPr>
              <a:t>https://developer.arm.com/documentation/ddi0602/2025-12/?lang=en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hlinkClick r:id="rId3"/>
              </a:rPr>
              <a:t>https://developer.arm.com/documentation/ddi0602/2025-12/Shared-Pseudocode/shared-functions-float?lang=en#func_FPAdd_4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760AF-1872-402C-9568-BB4F6C843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86" y="1495048"/>
            <a:ext cx="6793755" cy="500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74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67CF-1390-465D-AD24-A90E0B5E6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288C-7194-4BE1-B90C-D2813FC4CE5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dirty="0"/>
              <a:t>Instruction Set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86355448"/>
      </p:ext>
    </p:extLst>
  </p:cSld>
  <p:clrMapOvr>
    <a:masterClrMapping/>
  </p:clrMapOvr>
</p:sld>
</file>

<file path=ppt/theme/theme1.xml><?xml version="1.0" encoding="utf-8"?>
<a:theme xmlns:a="http://schemas.openxmlformats.org/drawingml/2006/main" name="AIAC">
  <a:themeElements>
    <a:clrScheme name="AIA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3AEF1"/>
      </a:accent1>
      <a:accent2>
        <a:srgbClr val="002060"/>
      </a:accent2>
      <a:accent3>
        <a:srgbClr val="A5A5A5"/>
      </a:accent3>
      <a:accent4>
        <a:srgbClr val="58257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270</Words>
  <Application>Microsoft Office PowerPoint</Application>
  <PresentationFormat>Widescreen</PresentationFormat>
  <Paragraphs>77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Courier New</vt:lpstr>
      <vt:lpstr>AIAC</vt:lpstr>
      <vt:lpstr>Computer Architecture and Operating System</vt:lpstr>
      <vt:lpstr>Introduction</vt:lpstr>
      <vt:lpstr>PowerPoint Presentation</vt:lpstr>
      <vt:lpstr>Positional Numbering System</vt:lpstr>
      <vt:lpstr>Integer Representation</vt:lpstr>
      <vt:lpstr>Integer Arithmetic</vt:lpstr>
      <vt:lpstr>Floating Point Representation</vt:lpstr>
      <vt:lpstr>Floating Point Representation</vt:lpstr>
      <vt:lpstr>Floating Point Representation</vt:lpstr>
      <vt:lpstr>Floating Point Representation</vt:lpstr>
      <vt:lpstr>Floating Point Arithmetic</vt:lpstr>
      <vt:lpstr>Floating Point Arithmetic</vt:lpstr>
      <vt:lpstr>Computer Arithmetic Book</vt:lpstr>
      <vt:lpstr>Modern Design - ARM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Tianming Bai</dc:creator>
  <cp:lastModifiedBy>Tianming Bai</cp:lastModifiedBy>
  <cp:revision>34</cp:revision>
  <dcterms:created xsi:type="dcterms:W3CDTF">2025-10-22T02:43:00Z</dcterms:created>
  <dcterms:modified xsi:type="dcterms:W3CDTF">2026-03-02T01:11:45Z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D54924A72EA5414ABBE088D1CC4432A3_13</vt:lpwstr>
  </property>
  <property fmtid="{D5CDD505-2E9C-101B-9397-08002B2CF9AE}" pid="3" name="KSOProductBuildVer">
    <vt:lpwstr>2052-12.1.0.24657</vt:lpwstr>
  </property>
</Properties>
</file>