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356" r:id="rId2"/>
    <p:sldId id="359" r:id="rId3"/>
    <p:sldId id="358" r:id="rId4"/>
    <p:sldId id="443" r:id="rId5"/>
    <p:sldId id="444" r:id="rId6"/>
    <p:sldId id="433" r:id="rId7"/>
    <p:sldId id="456" r:id="rId8"/>
    <p:sldId id="439" r:id="rId9"/>
    <p:sldId id="409" r:id="rId10"/>
    <p:sldId id="438" r:id="rId11"/>
    <p:sldId id="445" r:id="rId12"/>
    <p:sldId id="434" r:id="rId13"/>
    <p:sldId id="435" r:id="rId14"/>
    <p:sldId id="436" r:id="rId15"/>
    <p:sldId id="437" r:id="rId16"/>
    <p:sldId id="432" r:id="rId17"/>
    <p:sldId id="440" r:id="rId18"/>
    <p:sldId id="441" r:id="rId19"/>
    <p:sldId id="442" r:id="rId20"/>
    <p:sldId id="446" r:id="rId21"/>
    <p:sldId id="447" r:id="rId22"/>
    <p:sldId id="448" r:id="rId23"/>
    <p:sldId id="449" r:id="rId24"/>
    <p:sldId id="450" r:id="rId25"/>
    <p:sldId id="454" r:id="rId26"/>
    <p:sldId id="457" r:id="rId27"/>
    <p:sldId id="458" r:id="rId28"/>
    <p:sldId id="451" r:id="rId29"/>
    <p:sldId id="452" r:id="rId30"/>
    <p:sldId id="453" r:id="rId31"/>
    <p:sldId id="455" r:id="rId32"/>
    <p:sldId id="459" r:id="rId33"/>
    <p:sldId id="386" r:id="rId3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CD9B1D-7B9A-4D58-995E-AFA475280652}">
          <p14:sldIdLst>
            <p14:sldId id="356"/>
            <p14:sldId id="359"/>
            <p14:sldId id="358"/>
          </p14:sldIdLst>
        </p14:section>
        <p14:section name="Process" id="{7F84BA80-6D35-443A-BE5C-9BE5D43F9D2B}">
          <p14:sldIdLst>
            <p14:sldId id="443"/>
            <p14:sldId id="444"/>
            <p14:sldId id="433"/>
            <p14:sldId id="456"/>
            <p14:sldId id="439"/>
            <p14:sldId id="409"/>
            <p14:sldId id="438"/>
            <p14:sldId id="445"/>
            <p14:sldId id="434"/>
            <p14:sldId id="435"/>
            <p14:sldId id="436"/>
            <p14:sldId id="437"/>
            <p14:sldId id="432"/>
            <p14:sldId id="440"/>
            <p14:sldId id="441"/>
            <p14:sldId id="442"/>
            <p14:sldId id="446"/>
            <p14:sldId id="447"/>
            <p14:sldId id="448"/>
            <p14:sldId id="449"/>
            <p14:sldId id="450"/>
            <p14:sldId id="454"/>
            <p14:sldId id="457"/>
            <p14:sldId id="458"/>
            <p14:sldId id="451"/>
            <p14:sldId id="452"/>
            <p14:sldId id="453"/>
            <p14:sldId id="455"/>
            <p14:sldId id="459"/>
          </p14:sldIdLst>
        </p14:section>
        <p14:section name="OS" id="{E44DA7B4-7F18-4CB0-A02F-006F6FF9D39B}">
          <p14:sldIdLst>
            <p14:sldId id="386"/>
          </p14:sldIdLst>
        </p14:section>
        <p14:section name="Break" id="{A5AD1969-3B2C-45D3-80B6-7885A0EAA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FC"/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7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0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5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11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64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70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64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72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73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40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24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66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60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72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70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807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29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971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22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51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39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01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357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55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674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843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620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722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43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16CDF-66D6-42F5-82AB-44061AC83CC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4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05165" cy="1072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22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010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33540"/>
            <a:ext cx="12192635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Computer Architecture and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Operating System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latin typeface="Arial"/>
                <a:ea typeface="等线"/>
                <a:cs typeface="Arial"/>
              </a:rPr>
              <a:t>Process</a:t>
            </a:r>
            <a:endParaRPr lang="en-US" altLang="zh-CN" dirty="0">
              <a:ea typeface="等线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 dirty="0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4D036-9817-A934-B0EA-918B7A24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Review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1087FA-8F51-2D01-D6E7-6C5D25DF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AAB4E8-32A5-9526-D0D0-171D4C76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561E0C-96D7-9379-F18E-695FD529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</a:t>
            </a:fld>
            <a:endParaRPr lang="en-US"/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601FDCA4-7529-4D9A-A65D-37A13F744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233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/>
              <a:t>Cache memory</a:t>
            </a:r>
          </a:p>
          <a:p>
            <a:r>
              <a:rPr lang="en-US" altLang="zh-CN" dirty="0">
                <a:ea typeface="等线"/>
              </a:rPr>
              <a:t>Introduction to OS: </a:t>
            </a:r>
            <a:r>
              <a:rPr lang="en-US" altLang="zh-CN" dirty="0"/>
              <a:t>CPU Virtualization, Memory Virtualization, Concurrency, and Persistence</a:t>
            </a:r>
            <a:r>
              <a:rPr lang="en-US" altLang="zh-CN" dirty="0">
                <a:ea typeface="等线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180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38200" y="143233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ea typeface="等线"/>
              </a:rPr>
              <a:t>How the OS virtualizes the CPU</a:t>
            </a:r>
          </a:p>
          <a:p>
            <a:r>
              <a:rPr lang="en-US" altLang="zh-CN" dirty="0">
                <a:ea typeface="等线"/>
              </a:rPr>
              <a:t>What is a process? </a:t>
            </a:r>
          </a:p>
          <a:p>
            <a:endParaRPr lang="en-US" altLang="zh-CN" dirty="0">
              <a:ea typeface="等线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1F7F3-5F4B-45C5-E993-43585BA5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Recall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531351-5186-977D-FECF-8F495102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06D2BA-08FA-4D11-C982-E5336099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F4409A-78A6-F481-AD89-986027E0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3A1874C-E3B1-A8B8-D96A-685DD8529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 MARIE, we can run only one program at a time. </a:t>
            </a:r>
          </a:p>
          <a:p>
            <a:pPr marL="0" indent="0">
              <a:buNone/>
            </a:pPr>
            <a:r>
              <a:rPr lang="en-US" altLang="zh-CN" dirty="0"/>
              <a:t>	Fetch -&gt; Decode -&gt; Execution</a:t>
            </a:r>
          </a:p>
          <a:p>
            <a:pPr marL="0" indent="0">
              <a:buNone/>
            </a:pPr>
            <a:r>
              <a:rPr lang="en-US" altLang="zh-CN" dirty="0"/>
              <a:t>In real life, we often wants to run more than one program at once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517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A965-12C4-580A-93B1-8B9115484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76F0F-6A4C-48B3-74CB-8940DD98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25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How to Provide the Illusion of Many CPUs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CAA8CD-889A-56D0-822D-5AEE83B0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718614-2B1B-F94E-F3EA-874186B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1DD601-3247-C969-1636-51421203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EE1F0A-8160-3020-1B83-587D69190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The OS creates this illusion by </a:t>
            </a:r>
            <a:r>
              <a:rPr lang="en-US" altLang="zh-CN" sz="2400" b="1" dirty="0"/>
              <a:t>virtualizing</a:t>
            </a:r>
            <a:r>
              <a:rPr lang="en-US" altLang="zh-CN" sz="2400" dirty="0"/>
              <a:t> the CPU. </a:t>
            </a:r>
          </a:p>
          <a:p>
            <a:pPr marL="0" indent="0">
              <a:buNone/>
            </a:pPr>
            <a:r>
              <a:rPr lang="en-US" altLang="zh-CN" sz="2400" dirty="0"/>
              <a:t>By running one </a:t>
            </a:r>
            <a:r>
              <a:rPr lang="en-US" altLang="zh-CN" sz="2400" b="1" dirty="0"/>
              <a:t>process</a:t>
            </a:r>
            <a:r>
              <a:rPr lang="en-US" altLang="zh-CN" sz="2400" dirty="0"/>
              <a:t>, then stopping it and running another, and so forth.</a:t>
            </a:r>
            <a:endParaRPr lang="zh-CN" altLang="en-US" sz="2400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B3B941-299E-BF97-1E36-D481BADB277B}"/>
              </a:ext>
            </a:extLst>
          </p:cNvPr>
          <p:cNvSpPr txBox="1">
            <a:spLocks/>
          </p:cNvSpPr>
          <p:nvPr/>
        </p:nvSpPr>
        <p:spPr>
          <a:xfrm>
            <a:off x="838200" y="2941455"/>
            <a:ext cx="10515600" cy="36815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400" b="1" dirty="0"/>
              <a:t>Definition</a:t>
            </a:r>
            <a:r>
              <a:rPr lang="en-US" altLang="zh-CN" sz="2400" dirty="0"/>
              <a:t>: A process is simply </a:t>
            </a:r>
            <a:r>
              <a:rPr lang="en-US" altLang="zh-CN" sz="2400" b="1" dirty="0"/>
              <a:t>a running program</a:t>
            </a:r>
            <a:r>
              <a:rPr lang="en-US" altLang="zh-CN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A program itself is lifeless: static bytes (instructions + static data) stored on disk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The OS transforms this static program into an active, running process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It is the most fundamental abstraction the OS provides to users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589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0FE7-ABD4-9BE6-656B-D050030C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26085-E4A3-AD95-F071-1A1CE35C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a Process Is Created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A5671E-4913-B217-1AB6-A94DE03B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0078D1-0888-7CD1-0D30-9D653A40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CF8B9D-DDBD-3841-EB98-59528A5A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A643DB8-A821-499D-8220-53A0EDDE8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31696"/>
            <a:ext cx="10515600" cy="444526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/>
              <a:t>From a static program on disk to a running process: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600" b="1" dirty="0"/>
              <a:t>Load the program into memory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OS reads the program code and static data from disk into the process’s address space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Modern OSes do this lazily: load code/data only when it is needed during execution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600" b="1" dirty="0"/>
              <a:t>Allocate &amp; initialize the run-time stack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OS allocates memory for the process’s stack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Initializes the stack with </a:t>
            </a:r>
            <a:r>
              <a:rPr lang="en-US" altLang="zh-CN" sz="1400" dirty="0" err="1"/>
              <a:t>argc</a:t>
            </a:r>
            <a:r>
              <a:rPr lang="en-US" altLang="zh-CN" sz="1400" dirty="0"/>
              <a:t> and </a:t>
            </a:r>
            <a:r>
              <a:rPr lang="en-US" altLang="zh-CN" sz="1400" dirty="0" err="1"/>
              <a:t>argv</a:t>
            </a:r>
            <a:r>
              <a:rPr lang="en-US" altLang="zh-CN" sz="1400" dirty="0"/>
              <a:t> parameters for the main() function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600" b="1" dirty="0"/>
              <a:t>Allocate the heap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OS sets up initial heap space for dynamic memory allocation (malloc()/free())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600" b="1" dirty="0"/>
              <a:t>Initialize I/O setup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By default, UNIX systems open 3 file descriptors: standard input, output, and error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600" b="1" dirty="0"/>
              <a:t>Start execution at the entry point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OS jumps to the main() function, transferring CPU control to the new process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0855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FCDF-527F-4FC5-B687-9DA76E95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a Process Is Created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8A1AE-7DAF-469D-9088-F87E2631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46056-0F8B-4A4B-BBE4-D55EE81C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D8D3C-9EBC-445C-BBFB-A888204B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E3FC1-630A-4A38-9C4F-34D81A06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083" y="1578503"/>
            <a:ext cx="4114800" cy="429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3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CEFDA-111B-14C5-C505-D0C454F8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1A09D-A035-4AE8-9D2B-243EC2AE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Machine State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3AA5F0-8181-628D-63A2-27A76970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EC8279-8E45-EFF9-BF8D-0C4A6F62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DB095B-0FED-0CDB-B2DB-1C9E5BF1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6949FD-FE97-50E8-9CF5-CFF3B27A7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8516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What defines a process at any moment? </a:t>
            </a:r>
          </a:p>
          <a:p>
            <a:pPr marL="0" indent="0">
              <a:buNone/>
            </a:pPr>
            <a:r>
              <a:rPr lang="en-US" altLang="zh-CN" b="1" dirty="0"/>
              <a:t>Its machine state</a:t>
            </a:r>
            <a:r>
              <a:rPr lang="en-US" altLang="zh-CN" dirty="0"/>
              <a:t>: all parts of the system the process accesses or affects during execution.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Core Components </a:t>
            </a:r>
            <a:r>
              <a:rPr lang="en-US" altLang="zh-CN" dirty="0"/>
              <a:t>of the Machine State</a:t>
            </a:r>
            <a:r>
              <a:rPr lang="zh-CN" altLang="en-US" dirty="0"/>
              <a:t>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Address Space: The memory the process can access</a:t>
            </a:r>
          </a:p>
          <a:p>
            <a:pPr lvl="1"/>
            <a:r>
              <a:rPr lang="en-US" altLang="zh-CN" dirty="0"/>
              <a:t>Program instructions, static data, heap (dynamic data), stack (local variables/function calls)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CPU Registers</a:t>
            </a:r>
          </a:p>
          <a:p>
            <a:pPr lvl="1"/>
            <a:r>
              <a:rPr lang="en-US" altLang="zh-CN" dirty="0"/>
              <a:t>Program Counter (PC) / Instruction Pointer (IP): which instruction to run next</a:t>
            </a:r>
          </a:p>
          <a:p>
            <a:pPr lvl="1"/>
            <a:r>
              <a:rPr lang="en-US" altLang="zh-CN" dirty="0"/>
              <a:t>Stack Pointer &amp; Frame Pointer: manage the function call stack</a:t>
            </a:r>
          </a:p>
          <a:p>
            <a:pPr lvl="1"/>
            <a:r>
              <a:rPr lang="en-US" altLang="zh-CN" dirty="0"/>
              <a:t>General-purpose registers for computation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I/O Information</a:t>
            </a:r>
          </a:p>
          <a:p>
            <a:pPr lvl="1"/>
            <a:r>
              <a:rPr lang="en-US" altLang="zh-CN" dirty="0"/>
              <a:t>List of open files the process is accessing</a:t>
            </a:r>
          </a:p>
          <a:p>
            <a:pPr lvl="1"/>
            <a:r>
              <a:rPr lang="en-US" altLang="zh-CN" dirty="0"/>
              <a:t>Standard input/output/error file descriptors (UNIX systems)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751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075E3-48FB-08D6-7D25-00F31D57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Time Sharing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5BCAFE-C184-1AEF-F891-6A9F079B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94BAED-F835-20C2-9FC6-53089445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48CCCD-B17D-A50A-C3DB-D8A89876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70989-73CB-9DF5-08D0-0C2A2B44A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210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200" dirty="0"/>
              <a:t>The basic technique the OS uses to share the CPU:</a:t>
            </a:r>
          </a:p>
          <a:p>
            <a:pPr lvl="1"/>
            <a:r>
              <a:rPr lang="en-US" altLang="zh-CN" sz="1900" dirty="0"/>
              <a:t>Run one process for a short time slice</a:t>
            </a:r>
          </a:p>
          <a:p>
            <a:pPr lvl="1"/>
            <a:r>
              <a:rPr lang="en-US" altLang="zh-CN" sz="1900" dirty="0"/>
              <a:t>Stop it, save its state, and switch to another process</a:t>
            </a:r>
          </a:p>
          <a:p>
            <a:pPr lvl="1"/>
            <a:r>
              <a:rPr lang="en-US" altLang="zh-CN" sz="1900" dirty="0"/>
              <a:t>Repeat, creating the illusion that all processes are running simultaneously</a:t>
            </a:r>
          </a:p>
          <a:p>
            <a:pPr lvl="1"/>
            <a:endParaRPr lang="en-US" altLang="zh-CN" sz="1900" dirty="0"/>
          </a:p>
          <a:p>
            <a:pPr marL="0" indent="0">
              <a:buNone/>
            </a:pPr>
            <a:r>
              <a:rPr lang="en-US" altLang="zh-CN" sz="2200" dirty="0"/>
              <a:t>Counterpart: </a:t>
            </a:r>
            <a:r>
              <a:rPr lang="en-US" altLang="zh-CN" sz="2200" b="1" dirty="0"/>
              <a:t>Space Sharing</a:t>
            </a:r>
          </a:p>
          <a:p>
            <a:pPr lvl="1"/>
            <a:r>
              <a:rPr lang="en-US" altLang="zh-CN" sz="1900" dirty="0"/>
              <a:t>Resource is divided in space among users</a:t>
            </a:r>
          </a:p>
          <a:p>
            <a:pPr lvl="1"/>
            <a:r>
              <a:rPr lang="en-US" altLang="zh-CN" sz="1900" dirty="0"/>
              <a:t>Example: Disk space — once a block is assigned to a file, it stays assigned until the file is deleted</a:t>
            </a:r>
          </a:p>
          <a:p>
            <a:pPr lvl="1"/>
            <a:endParaRPr lang="en-US" altLang="zh-CN" sz="1900" dirty="0"/>
          </a:p>
          <a:p>
            <a:pPr marL="0" indent="0">
              <a:buNone/>
            </a:pPr>
            <a:r>
              <a:rPr lang="en-US" altLang="zh-CN" sz="2200" b="1" dirty="0"/>
              <a:t>Tradeoff</a:t>
            </a:r>
          </a:p>
          <a:p>
            <a:r>
              <a:rPr lang="en-US" altLang="zh-CN" sz="2200" dirty="0"/>
              <a:t>Benefit: Makes the system easy to use, enables concurrent program execution</a:t>
            </a:r>
          </a:p>
          <a:p>
            <a:r>
              <a:rPr lang="en-US" altLang="zh-CN" sz="2200" dirty="0"/>
              <a:t>Cost: Performance reduction, each process runs slower when the CPU is shared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6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7282F-9441-0B19-E944-4BFA9EAA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0A58F-2A69-D235-6A95-6B82B7DC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Mechanism vs. Policy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3ECABA-B9A7-C773-2FEB-2ABABDCA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FB4D4C-C1E4-B978-FAF4-C5548B33E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98BF2B-A721-9DF4-B7F1-3D949A0F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521C7F-5DE8-83DE-6478-F0CADF99D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To implement virtualization of the CPU, the OS will need both some </a:t>
            </a:r>
            <a:r>
              <a:rPr lang="en-US" altLang="zh-CN" b="1" dirty="0"/>
              <a:t>low-level machinery </a:t>
            </a:r>
            <a:r>
              <a:rPr lang="en-US" altLang="zh-CN" dirty="0"/>
              <a:t>and some </a:t>
            </a:r>
            <a:r>
              <a:rPr lang="en-US" altLang="zh-CN" b="1" dirty="0"/>
              <a:t>high-level intelligence</a:t>
            </a:r>
            <a:r>
              <a:rPr lang="en-US" altLang="zh-CN" dirty="0"/>
              <a:t>.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low-level machinery: </a:t>
            </a:r>
            <a:r>
              <a:rPr lang="en-US" altLang="zh-CN" dirty="0"/>
              <a:t>Mechanism</a:t>
            </a:r>
          </a:p>
          <a:p>
            <a:pPr marL="0" indent="0">
              <a:buNone/>
            </a:pPr>
            <a:r>
              <a:rPr lang="en-US" altLang="zh-CN" b="1" i="1" dirty="0"/>
              <a:t>How</a:t>
            </a:r>
            <a:r>
              <a:rPr lang="en-US" altLang="zh-CN" dirty="0"/>
              <a:t> does an operating system perform a context switch?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high-level intelligence: </a:t>
            </a:r>
            <a:r>
              <a:rPr lang="en-US" altLang="zh-CN" dirty="0"/>
              <a:t>Policy</a:t>
            </a:r>
          </a:p>
          <a:p>
            <a:pPr marL="0" indent="0">
              <a:buNone/>
            </a:pPr>
            <a:r>
              <a:rPr lang="en-US" altLang="zh-CN" b="1" i="1" dirty="0"/>
              <a:t>Which</a:t>
            </a:r>
            <a:r>
              <a:rPr lang="en-US" altLang="zh-CN" dirty="0"/>
              <a:t> process should the operating system run right now?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242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F0DC7-DFEC-5799-9615-F6D33030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5A0312-E0F8-F963-901F-BB75E5A4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09A184-4D01-6B57-BF35-5CFCFAE9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22166A-E4AE-DE6A-2E44-FB90D35B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170779B-9D3D-7518-7885-D345DACAD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5ED54F-14DC-B76A-C039-54B59595A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92" y="1737801"/>
            <a:ext cx="8966090" cy="202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63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D0C73-6DF2-7458-F0EA-0C1DA077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4EF18-C71F-0319-392E-CA1E7038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States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C4DD2F-5DB8-9CBE-5D3A-FB7F56C6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E72CCC-8B5C-908C-7182-3B1A96DA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2FD5C1-9C04-4795-D654-00E784EC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1667E9F-E190-E312-568A-A0A3269B0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5569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A process can be in one of three fundamental states at any time:</a:t>
            </a:r>
            <a:endParaRPr lang="zh-CN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3D3DE59-3EDF-B2DB-F6F4-05D530112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67684"/>
              </p:ext>
            </p:extLst>
          </p:nvPr>
        </p:nvGraphicFramePr>
        <p:xfrm>
          <a:off x="1536137" y="2132848"/>
          <a:ext cx="8083945" cy="3397025"/>
        </p:xfrm>
        <a:graphic>
          <a:graphicData uri="http://schemas.openxmlformats.org/drawingml/2006/table">
            <a:tbl>
              <a:tblPr/>
              <a:tblGrid>
                <a:gridCol w="1851387">
                  <a:extLst>
                    <a:ext uri="{9D8B030D-6E8A-4147-A177-3AD203B41FA5}">
                      <a16:colId xmlns:a16="http://schemas.microsoft.com/office/drawing/2014/main" val="3671664283"/>
                    </a:ext>
                  </a:extLst>
                </a:gridCol>
                <a:gridCol w="6232558">
                  <a:extLst>
                    <a:ext uri="{9D8B030D-6E8A-4147-A177-3AD203B41FA5}">
                      <a16:colId xmlns:a16="http://schemas.microsoft.com/office/drawing/2014/main" val="3643148648"/>
                    </a:ext>
                  </a:extLst>
                </a:gridCol>
              </a:tblGrid>
              <a:tr h="1799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State</a:t>
                      </a: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Definition</a:t>
                      </a: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19904"/>
                  </a:ext>
                </a:extLst>
              </a:tr>
              <a:tr h="7996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Running</a:t>
                      </a:r>
                      <a:endParaRPr lang="en-US" sz="1800">
                        <a:effectLst/>
                      </a:endParaRP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The process is actively executing instructions on a CPU core</a:t>
                      </a: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268581"/>
                  </a:ext>
                </a:extLst>
              </a:tr>
              <a:tr h="1048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Ready</a:t>
                      </a:r>
                      <a:endParaRPr lang="en-US" sz="1800">
                        <a:effectLst/>
                      </a:endParaRP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The process is ready to run, but the OS has chosen not to schedule it at this moment</a:t>
                      </a: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381460"/>
                  </a:ext>
                </a:extLst>
              </a:tr>
              <a:tr h="12666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Blocked</a:t>
                      </a:r>
                      <a:endParaRPr lang="en-US" sz="1800">
                        <a:effectLst/>
                      </a:endParaRP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The process cannot run until an external event completes (e.g., an I/O request to disk finishes)</a:t>
                      </a:r>
                    </a:p>
                  </a:txBody>
                  <a:tcPr marL="3828" marR="3828" marT="3828" marB="38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84512"/>
                  </a:ext>
                </a:extLst>
              </a:tr>
            </a:tbl>
          </a:graphicData>
        </a:graphic>
      </p:graphicFrame>
      <p:sp>
        <p:nvSpPr>
          <p:cNvPr id="8" name="文本占位符 5">
            <a:extLst>
              <a:ext uri="{FF2B5EF4-FFF2-40B4-BE49-F238E27FC236}">
                <a16:creationId xmlns:a16="http://schemas.microsoft.com/office/drawing/2014/main" id="{238F29A7-AFF0-2296-A8AE-92299FC9CEDE}"/>
              </a:ext>
            </a:extLst>
          </p:cNvPr>
          <p:cNvSpPr txBox="1">
            <a:spLocks/>
          </p:cNvSpPr>
          <p:nvPr/>
        </p:nvSpPr>
        <p:spPr>
          <a:xfrm>
            <a:off x="385046" y="5679523"/>
            <a:ext cx="10515600" cy="753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</a:pPr>
            <a:r>
              <a:rPr lang="en-US" altLang="zh-CN" sz="1400" dirty="0"/>
              <a:t>OS moves processes between Ready and Running via </a:t>
            </a:r>
            <a:r>
              <a:rPr lang="en-US" altLang="zh-CN" sz="1400" b="1" dirty="0"/>
              <a:t>scheduling</a:t>
            </a:r>
            <a:r>
              <a:rPr lang="en-US" altLang="zh-CN" sz="1400" dirty="0"/>
              <a:t> and </a:t>
            </a:r>
            <a:r>
              <a:rPr lang="en-US" altLang="zh-CN" sz="1400" b="1" dirty="0" err="1"/>
              <a:t>descheduling</a:t>
            </a:r>
            <a:endParaRPr lang="en-US" altLang="zh-CN" sz="1400" b="1" dirty="0"/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A process moves to Blocked when it initiates an I/O operation, and back to Ready when the I/O completes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35110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6B91-D1F5-9B09-56C3-9FA2DF4B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D5582-5B34-C8D7-1C12-EC7D34D3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State Transitions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EF672-C594-DA0E-429E-2B900C71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E3BDF8-243A-EA48-BDE7-240F30FA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DF890F-C53B-FF06-378C-41149C20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13</a:t>
            </a:fld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3807F7E-8557-F648-AD57-E837F8EC7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355" y="2267324"/>
            <a:ext cx="4243219" cy="2899440"/>
          </a:xfrm>
          <a:prstGeom prst="rect">
            <a:avLst/>
          </a:prstGeom>
        </p:spPr>
      </p:pic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70B455B5-3D97-F73C-4BE1-0FBA93A7F3F6}"/>
              </a:ext>
            </a:extLst>
          </p:cNvPr>
          <p:cNvSpPr txBox="1">
            <a:spLocks/>
          </p:cNvSpPr>
          <p:nvPr/>
        </p:nvSpPr>
        <p:spPr>
          <a:xfrm>
            <a:off x="890798" y="1753667"/>
            <a:ext cx="6295604" cy="4062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Key Transitions: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/>
              <a:t>Running → Ready: </a:t>
            </a:r>
            <a:r>
              <a:rPr lang="en-US" altLang="zh-CN" sz="2200" dirty="0"/>
              <a:t>Process is </a:t>
            </a:r>
            <a:r>
              <a:rPr lang="en-US" altLang="zh-CN" sz="2200" dirty="0" err="1"/>
              <a:t>descheduled</a:t>
            </a:r>
            <a:r>
              <a:rPr lang="en-US" altLang="zh-CN" sz="2200" dirty="0"/>
              <a:t> by the OS (time slice ends)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/>
              <a:t>Ready → Running: </a:t>
            </a:r>
            <a:r>
              <a:rPr lang="en-US" altLang="zh-CN" sz="2200" dirty="0"/>
              <a:t>Process is scheduled by the OS to use the CPU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/>
              <a:t>Running → Blocked: </a:t>
            </a:r>
            <a:r>
              <a:rPr lang="en-US" altLang="zh-CN" sz="2200" dirty="0"/>
              <a:t>Process initiates an I/O operation, cannot continue until it completes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/>
              <a:t>Blocked → Ready: </a:t>
            </a:r>
            <a:r>
              <a:rPr lang="en-US" altLang="zh-CN" sz="2200" dirty="0"/>
              <a:t>I/O operation completes, process is now eligible to run again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09671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8386-F0EC-24A5-11EC-E654C0C6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10E31-B613-8CF1-04D7-45BAC493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State Trace Examples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27E5C9-2455-E4DE-9FE0-13E522B1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EF494B-3B51-81AC-9FFE-EBDC8213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5BDA2-53B0-5365-DA34-3E2C12F1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43C7610-BC66-7846-FE53-30A2A316E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Example 1: CPU-Only Workloads (No I/O)</a:t>
            </a:r>
          </a:p>
          <a:p>
            <a:r>
              <a:rPr lang="en-US" altLang="zh-CN" sz="2000" dirty="0"/>
              <a:t>Two processes, both only use the CPU (no I/O requests)</a:t>
            </a:r>
          </a:p>
          <a:p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904D80-F2F3-0A4D-0D47-CAE62D24E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621578"/>
              </p:ext>
            </p:extLst>
          </p:nvPr>
        </p:nvGraphicFramePr>
        <p:xfrm>
          <a:off x="2083719" y="2820074"/>
          <a:ext cx="5814126" cy="3021246"/>
        </p:xfrm>
        <a:graphic>
          <a:graphicData uri="http://schemas.openxmlformats.org/drawingml/2006/table">
            <a:tbl>
              <a:tblPr/>
              <a:tblGrid>
                <a:gridCol w="1938042">
                  <a:extLst>
                    <a:ext uri="{9D8B030D-6E8A-4147-A177-3AD203B41FA5}">
                      <a16:colId xmlns:a16="http://schemas.microsoft.com/office/drawing/2014/main" val="71181447"/>
                    </a:ext>
                  </a:extLst>
                </a:gridCol>
                <a:gridCol w="1938042">
                  <a:extLst>
                    <a:ext uri="{9D8B030D-6E8A-4147-A177-3AD203B41FA5}">
                      <a16:colId xmlns:a16="http://schemas.microsoft.com/office/drawing/2014/main" val="3699005443"/>
                    </a:ext>
                  </a:extLst>
                </a:gridCol>
                <a:gridCol w="1938042">
                  <a:extLst>
                    <a:ext uri="{9D8B030D-6E8A-4147-A177-3AD203B41FA5}">
                      <a16:colId xmlns:a16="http://schemas.microsoft.com/office/drawing/2014/main" val="994329571"/>
                    </a:ext>
                  </a:extLst>
                </a:gridCol>
              </a:tblGrid>
              <a:tr h="375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Time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</a:rPr>
                        <a:t>Process 0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Process 1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312220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1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Ready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98463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2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Ready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997840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3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Ready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19824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4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Ready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896238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5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Done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18449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6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Done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056619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7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Done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Running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208758"/>
                  </a:ext>
                </a:extLst>
              </a:tr>
              <a:tr h="1961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effectLst/>
                        </a:rPr>
                        <a:t>8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Done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Done</a:t>
                      </a:r>
                    </a:p>
                  </a:txBody>
                  <a:tcPr marL="12525" marR="12525" marT="12525" marB="1252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54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637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76C8-CCFE-A3E9-6B7D-567A778DD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8FF0D-88C9-00CE-2E9A-53AFAF13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 State Trace Examples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E92E7E-F0B3-D2D4-AF71-94BEDF7F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F90070-C2C8-B4FD-A0E6-E4F4F8A7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9DEB00-4A5F-ECB2-7947-4B396912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FA2DCBE-992C-D369-4478-EE601A696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53895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Example 2: Workload with I/O</a:t>
            </a:r>
          </a:p>
          <a:p>
            <a:r>
              <a:rPr lang="en-US" altLang="zh-CN" sz="2000" dirty="0"/>
              <a:t>Process 0 initiates an I/O after 3 time units</a:t>
            </a:r>
          </a:p>
          <a:p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EB80FB6-8343-9E88-A33E-F2907488A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949185"/>
              </p:ext>
            </p:extLst>
          </p:nvPr>
        </p:nvGraphicFramePr>
        <p:xfrm>
          <a:off x="4990782" y="2020674"/>
          <a:ext cx="7037372" cy="3380886"/>
        </p:xfrm>
        <a:graphic>
          <a:graphicData uri="http://schemas.openxmlformats.org/drawingml/2006/table">
            <a:tbl>
              <a:tblPr/>
              <a:tblGrid>
                <a:gridCol w="974405">
                  <a:extLst>
                    <a:ext uri="{9D8B030D-6E8A-4147-A177-3AD203B41FA5}">
                      <a16:colId xmlns:a16="http://schemas.microsoft.com/office/drawing/2014/main" val="976551512"/>
                    </a:ext>
                  </a:extLst>
                </a:gridCol>
                <a:gridCol w="1286214">
                  <a:extLst>
                    <a:ext uri="{9D8B030D-6E8A-4147-A177-3AD203B41FA5}">
                      <a16:colId xmlns:a16="http://schemas.microsoft.com/office/drawing/2014/main" val="2706206574"/>
                    </a:ext>
                  </a:extLst>
                </a:gridCol>
                <a:gridCol w="1247239">
                  <a:extLst>
                    <a:ext uri="{9D8B030D-6E8A-4147-A177-3AD203B41FA5}">
                      <a16:colId xmlns:a16="http://schemas.microsoft.com/office/drawing/2014/main" val="1933022182"/>
                    </a:ext>
                  </a:extLst>
                </a:gridCol>
                <a:gridCol w="3529514">
                  <a:extLst>
                    <a:ext uri="{9D8B030D-6E8A-4147-A177-3AD203B41FA5}">
                      <a16:colId xmlns:a16="http://schemas.microsoft.com/office/drawing/2014/main" val="781589810"/>
                    </a:ext>
                  </a:extLst>
                </a:gridCol>
              </a:tblGrid>
              <a:tr h="226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effectLst/>
                        </a:rPr>
                        <a:t>Time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effectLst/>
                        </a:rPr>
                        <a:t>Process 0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effectLst/>
                        </a:rPr>
                        <a:t>Process 1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Key Note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033576"/>
                  </a:ext>
                </a:extLst>
              </a:tr>
              <a:tr h="226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Ready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600">
                        <a:effectLst/>
                      </a:endParaRP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83272"/>
                  </a:ext>
                </a:extLst>
              </a:tr>
              <a:tr h="226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2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Ready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600" dirty="0">
                        <a:effectLst/>
                      </a:endParaRP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909760"/>
                  </a:ext>
                </a:extLst>
              </a:tr>
              <a:tr h="3772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3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Ready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>
                          <a:effectLst/>
                        </a:rPr>
                        <a:t>Process 0 initiates I/O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361824"/>
                  </a:ext>
                </a:extLst>
              </a:tr>
              <a:tr h="5069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4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Blocked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OS runs Process 1 to keep CPU busy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81301"/>
                  </a:ext>
                </a:extLst>
              </a:tr>
              <a:tr h="226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5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Blocked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600" dirty="0">
                        <a:effectLst/>
                      </a:endParaRP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454490"/>
                  </a:ext>
                </a:extLst>
              </a:tr>
              <a:tr h="6180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6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Ready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I/O completes, Process 0 moves to Ready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766783"/>
                  </a:ext>
                </a:extLst>
              </a:tr>
              <a:tr h="303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7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Ready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Process 1 finishes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1660"/>
                  </a:ext>
                </a:extLst>
              </a:tr>
              <a:tr h="226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8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Done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600" dirty="0">
                        <a:effectLst/>
                      </a:endParaRP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587115"/>
                  </a:ext>
                </a:extLst>
              </a:tr>
              <a:tr h="303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>
                          <a:effectLst/>
                        </a:rPr>
                        <a:t>9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Running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Done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Process 0 finishes</a:t>
                      </a:r>
                    </a:p>
                  </a:txBody>
                  <a:tcPr marL="5312" marR="5312" marT="5312" marB="531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83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193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B9C3-9648-D08C-5AC4-5A132BCF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ED2C4-8405-F506-5505-846B69EF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Standard Process API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11D723-3A38-9BC8-9134-2A26A105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FBEFF1-5CCD-21B9-FDE2-6DC299AA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0AC64E-9051-6353-C466-BB00C023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43F4F-F61B-3448-6646-A80DFABD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08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All modern OSes provide these core interfaces for process management:</a:t>
            </a:r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D76F989-9BD9-3070-7844-D053BB252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917015"/>
              </p:ext>
            </p:extLst>
          </p:nvPr>
        </p:nvGraphicFramePr>
        <p:xfrm>
          <a:off x="893158" y="2741242"/>
          <a:ext cx="10405683" cy="3563557"/>
        </p:xfrm>
        <a:graphic>
          <a:graphicData uri="http://schemas.openxmlformats.org/drawingml/2006/table">
            <a:tbl>
              <a:tblPr/>
              <a:tblGrid>
                <a:gridCol w="3168896">
                  <a:extLst>
                    <a:ext uri="{9D8B030D-6E8A-4147-A177-3AD203B41FA5}">
                      <a16:colId xmlns:a16="http://schemas.microsoft.com/office/drawing/2014/main" val="2605215140"/>
                    </a:ext>
                  </a:extLst>
                </a:gridCol>
                <a:gridCol w="7236787">
                  <a:extLst>
                    <a:ext uri="{9D8B030D-6E8A-4147-A177-3AD203B41FA5}">
                      <a16:colId xmlns:a16="http://schemas.microsoft.com/office/drawing/2014/main" val="2129861327"/>
                    </a:ext>
                  </a:extLst>
                </a:gridCol>
              </a:tblGrid>
              <a:tr h="3213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API Call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Core Function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957116"/>
                  </a:ext>
                </a:extLst>
              </a:tr>
              <a:tr h="8354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Create</a:t>
                      </a:r>
                      <a:endParaRPr lang="en-US" sz="2000" dirty="0">
                        <a:effectLst/>
                      </a:endParaRP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Create a new process (e.g., when you run a program in the terminal)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227515"/>
                  </a:ext>
                </a:extLst>
              </a:tr>
              <a:tr h="5185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</a:rPr>
                        <a:t>Destroy</a:t>
                      </a:r>
                      <a:endParaRPr lang="en-US" sz="2000">
                        <a:effectLst/>
                      </a:endParaRP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Forcefully terminate a running process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007080"/>
                  </a:ext>
                </a:extLst>
              </a:tr>
              <a:tr h="4884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</a:rPr>
                        <a:t>Wait</a:t>
                      </a:r>
                      <a:endParaRPr lang="en-US" sz="2000">
                        <a:effectLst/>
                      </a:endParaRP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Wait for a process to finish execution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285151"/>
                  </a:ext>
                </a:extLst>
              </a:tr>
              <a:tr h="5794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</a:rPr>
                        <a:t>Misc Control</a:t>
                      </a:r>
                      <a:endParaRPr lang="en-US" sz="2000">
                        <a:effectLst/>
                      </a:endParaRP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Suspend a process (pause) or resume it later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2483"/>
                  </a:ext>
                </a:extLst>
              </a:tr>
              <a:tr h="8203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</a:rPr>
                        <a:t>Status</a:t>
                      </a:r>
                      <a:endParaRPr lang="en-US" sz="2000">
                        <a:effectLst/>
                      </a:endParaRP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Get runtime information about a process (run time, state, etc.)</a:t>
                      </a:r>
                    </a:p>
                  </a:txBody>
                  <a:tcPr marL="3562" marR="3562" marT="3562" marB="3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37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889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9B0AB-5E03-CA08-34CD-D14F0346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FD522-D2C1-F54A-86AA-1DF10EA7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94B5E-5D97-7AAD-E9CE-9F331A35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93A0F9-175D-3FAF-7DC3-8B9AF0F9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04EC89-9E71-9318-EBBB-8CFC3AE0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00ADBC2-90A9-FB21-4B71-30F3B4FBA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89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DE0C-1DCE-3DDD-FC6D-25697123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93B24-BC13-97F3-019A-5E064FE5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15066D-C516-8BAC-53AC-CC22FCF9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451908-059D-E67D-7E9D-4F82C20B9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9EC222-5ADA-A5D0-DEC6-9AED7E6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70C18EF-AD0C-CF05-553E-EDABEF48A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7302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How can the OS virtualize the CPU efficiently, while </a:t>
            </a:r>
            <a:r>
              <a:rPr lang="en-US" altLang="zh-CN" sz="2400" b="1" dirty="0"/>
              <a:t>retaining full control over the system</a:t>
            </a:r>
            <a:r>
              <a:rPr lang="en-US" altLang="zh-CN" sz="2400" dirty="0"/>
              <a:t>?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Performance</a:t>
            </a:r>
            <a:r>
              <a:rPr lang="en-US" altLang="zh-CN" sz="2400" dirty="0"/>
              <a:t>: Implement virtualization without excessive system overhead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Control</a:t>
            </a:r>
            <a:r>
              <a:rPr lang="en-US" altLang="zh-CN" sz="2400" dirty="0"/>
              <a:t>: Run user processes efficiently, while preventing them from taking over the machine or accessing restricted resources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Solution</a:t>
            </a:r>
            <a:r>
              <a:rPr lang="en-US" altLang="zh-CN" sz="2400" dirty="0"/>
              <a:t>: Hardware + OS collaboration via the </a:t>
            </a:r>
            <a:r>
              <a:rPr lang="en-US" altLang="zh-CN" sz="2400" b="1" dirty="0"/>
              <a:t>Limited Direct Execution </a:t>
            </a:r>
            <a:r>
              <a:rPr lang="en-US" altLang="zh-CN" sz="2400" dirty="0"/>
              <a:t>(LDE) protocol</a:t>
            </a:r>
          </a:p>
        </p:txBody>
      </p:sp>
    </p:spTree>
    <p:extLst>
      <p:ext uri="{BB962C8B-B14F-4D97-AF65-F5344CB8AC3E}">
        <p14:creationId xmlns:p14="http://schemas.microsoft.com/office/powerpoint/2010/main" val="88575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5602-1A68-9E25-0C8B-D685C6D9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4F971-6B67-6ACB-BF80-E1B39C33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Direct Execution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37CC60-3A37-1605-A82E-035E51A1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98B7B2-1E63-8B64-8F8A-6350A1BF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9E0CAC-2B4D-5F87-46F5-94E48923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D3977CD-5C18-8BCE-9B61-281F4EE94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The core idea is simple: </a:t>
            </a:r>
            <a:r>
              <a:rPr lang="en-US" altLang="zh-CN" sz="2400" b="1" dirty="0"/>
              <a:t>run the program directly on the physical CPU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OS creates a process entry in the process list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Allocates memory for the process, loads program code from disk into 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Jumps to the program’s entry point (main()) and runs user code directly on the CPU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47367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A43D3-E4E8-4BD0-90A6-033D0748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"Limited"?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2E2B2C-14E6-1873-4329-45B8DB6F1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FEBB9E-7746-939D-9D52-A49D8FAA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AA57A-4265-F3F4-1CEF-B53B392E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5003A02-A107-7008-9CC5-01F3C8FE5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Unlimited direct execution creates two fatal problems:</a:t>
            </a:r>
          </a:p>
          <a:p>
            <a:r>
              <a:rPr lang="en-US" altLang="zh-CN" b="1" dirty="0"/>
              <a:t>No control over restricted operations</a:t>
            </a:r>
            <a:r>
              <a:rPr lang="en-US" altLang="zh-CN" dirty="0"/>
              <a:t>: A user process could issue privileged I/O requests, access all system memory, or take over the machine entirely</a:t>
            </a:r>
          </a:p>
          <a:p>
            <a:r>
              <a:rPr lang="en-US" altLang="zh-CN" b="1" dirty="0"/>
              <a:t>No way to switch processes</a:t>
            </a:r>
            <a:r>
              <a:rPr lang="en-US" altLang="zh-CN" dirty="0"/>
              <a:t>: Once a process starts running on the CPU, the OS is not running, it cannot stop the process to switch to another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181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C8788-2913-48A4-CEF8-B0D7851C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814F8-A15B-48E6-41FE-6BE7236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Limited Direct Execution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802E5-DD36-4E0A-6B1A-08E7F312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06F613-EE69-1098-57EA-DAA8625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9D778D-8190-B5A3-125E-DD97463F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03A5F2B-12EB-6FFD-DF23-8F3D8E6A6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We add limits to direct execution, using </a:t>
            </a:r>
            <a:r>
              <a:rPr lang="en-US" altLang="zh-CN" b="1" dirty="0"/>
              <a:t>hardware support</a:t>
            </a:r>
            <a:r>
              <a:rPr lang="en-US" altLang="zh-CN" dirty="0"/>
              <a:t> to:</a:t>
            </a:r>
          </a:p>
          <a:p>
            <a:r>
              <a:rPr lang="en-US" altLang="zh-CN" dirty="0"/>
              <a:t>Restrict what user processes can do</a:t>
            </a:r>
          </a:p>
          <a:p>
            <a:r>
              <a:rPr lang="en-US" altLang="zh-CN" dirty="0"/>
              <a:t>Let the OS safely regain control of the CPU at any time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8201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1CF3-25B8-3658-184E-28D8AB41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4B6D9-6A0F-FECA-C5E4-C785EB40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User Mode vs. Kernel Mode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C0E782-3912-97D8-9BE2-55D7C6A7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FFC617-2D3E-92AB-FF7D-73881DD56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6908C4-2FA3-3D87-9ED5-5CB7610F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BBF231F-8701-A0CD-2C86-1E1632612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Hardware-Enforced Privilege Modes</a:t>
            </a:r>
          </a:p>
          <a:p>
            <a:r>
              <a:rPr lang="en-US" altLang="zh-CN" dirty="0"/>
              <a:t>All modern CPUs support two core execution modes:</a:t>
            </a:r>
          </a:p>
          <a:p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8753F65-FC91-3A21-1B8F-B35BE29F9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85281"/>
              </p:ext>
            </p:extLst>
          </p:nvPr>
        </p:nvGraphicFramePr>
        <p:xfrm>
          <a:off x="983181" y="2964343"/>
          <a:ext cx="9014530" cy="3302314"/>
        </p:xfrm>
        <a:graphic>
          <a:graphicData uri="http://schemas.openxmlformats.org/drawingml/2006/table">
            <a:tbl>
              <a:tblPr/>
              <a:tblGrid>
                <a:gridCol w="1735309">
                  <a:extLst>
                    <a:ext uri="{9D8B030D-6E8A-4147-A177-3AD203B41FA5}">
                      <a16:colId xmlns:a16="http://schemas.microsoft.com/office/drawing/2014/main" val="2195177762"/>
                    </a:ext>
                  </a:extLst>
                </a:gridCol>
                <a:gridCol w="1508605">
                  <a:extLst>
                    <a:ext uri="{9D8B030D-6E8A-4147-A177-3AD203B41FA5}">
                      <a16:colId xmlns:a16="http://schemas.microsoft.com/office/drawing/2014/main" val="723749354"/>
                    </a:ext>
                  </a:extLst>
                </a:gridCol>
                <a:gridCol w="5770616">
                  <a:extLst>
                    <a:ext uri="{9D8B030D-6E8A-4147-A177-3AD203B41FA5}">
                      <a16:colId xmlns:a16="http://schemas.microsoft.com/office/drawing/2014/main" val="10341995"/>
                    </a:ext>
                  </a:extLst>
                </a:gridCol>
              </a:tblGrid>
              <a:tr h="135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Mode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Privilege Level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Capabilities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064003"/>
                  </a:ext>
                </a:extLst>
              </a:tr>
              <a:tr h="15021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User Mode</a:t>
                      </a:r>
                      <a:endParaRPr lang="en-US" sz="1800">
                        <a:effectLst/>
                      </a:endParaRP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Restricted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Code can only perform safe, non-privileged operations (e.g., arithmetic, in-memory operations). </a:t>
                      </a:r>
                    </a:p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Cannot</a:t>
                      </a:r>
                      <a:r>
                        <a:rPr lang="en-US" sz="1800" dirty="0">
                          <a:effectLst/>
                        </a:rPr>
                        <a:t> issue I/O requests, modify system configuration, or access restricted memory.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65834"/>
                  </a:ext>
                </a:extLst>
              </a:tr>
              <a:tr h="15210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effectLst/>
                        </a:rPr>
                        <a:t>Kernel Mode</a:t>
                      </a:r>
                      <a:endParaRPr lang="en-US" sz="1800">
                        <a:effectLst/>
                      </a:endParaRP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Full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Code runs with complete access to all hardware resources. </a:t>
                      </a:r>
                      <a:r>
                        <a:rPr lang="en-US" sz="1800" b="1" dirty="0">
                          <a:effectLst/>
                        </a:rPr>
                        <a:t>Can</a:t>
                      </a:r>
                      <a:r>
                        <a:rPr lang="en-US" sz="1800" dirty="0">
                          <a:effectLst/>
                        </a:rPr>
                        <a:t> execute privileged instructions (e.g., I/O setup, timer configuration, memory management) and modify critical system state.</a:t>
                      </a:r>
                    </a:p>
                  </a:txBody>
                  <a:tcPr marL="2405" marR="2405" marT="2405" marB="2405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4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188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51377-54C3-43EE-0B89-5722523D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0C37E-CCAB-26CD-70F7-E29D4C28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BF352F-C665-25E0-C6DA-CE25F515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AED9CC-8ED5-3067-E5D9-DB7F029E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63F731-3B28-6356-4E52-D640C50B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CED900C-A9BA-4DB6-43D6-B16EB6EC7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What if a user process needs to perform privileged operations?</a:t>
            </a:r>
          </a:p>
          <a:p>
            <a:pPr marL="0" indent="0">
              <a:buNone/>
            </a:pPr>
            <a:r>
              <a:rPr lang="en-US" altLang="zh-CN" dirty="0"/>
              <a:t>	We cannot let it run in kernel mode directly.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Solution: </a:t>
            </a:r>
            <a:r>
              <a:rPr lang="en-US" altLang="zh-CN" b="1" dirty="0"/>
              <a:t>System calls </a:t>
            </a:r>
            <a:r>
              <a:rPr lang="en-US" altLang="zh-CN" dirty="0"/>
              <a:t>via the </a:t>
            </a:r>
            <a:r>
              <a:rPr lang="en-US" altLang="zh-CN" b="1" dirty="0"/>
              <a:t>trap mechanism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6748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9AD13-49CC-F611-E435-D7D6F727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Calls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EA0489-7BC0-440F-8CF4-54CADDD7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7D0DBE-3E63-6008-12C2-384EC364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308B7C-9CE3-4E9B-A0F7-9CA6E91C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57A11D5-4BD5-C05D-33A7-CF3A7389E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System calls let user processes safely request privileged operations from the OS, via a controlled hardware trap.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Stage 1</a:t>
            </a:r>
            <a:r>
              <a:rPr lang="en-US" altLang="zh-CN" dirty="0"/>
              <a:t>: Boot Time Setup (Kernel Mode Only)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OS initializes the trap table at system boot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Tells the hardware the memory location of trap handlers for:</a:t>
            </a:r>
          </a:p>
          <a:p>
            <a:pPr lvl="2">
              <a:lnSpc>
                <a:spcPct val="110000"/>
              </a:lnSpc>
            </a:pPr>
            <a:r>
              <a:rPr lang="en-US" altLang="zh-CN" dirty="0"/>
              <a:t>System calls</a:t>
            </a:r>
          </a:p>
          <a:p>
            <a:pPr lvl="2">
              <a:lnSpc>
                <a:spcPct val="110000"/>
              </a:lnSpc>
            </a:pPr>
            <a:r>
              <a:rPr lang="en-US" altLang="zh-CN" dirty="0"/>
              <a:t>Hardware interrupts (e.g., timer, keyboard)</a:t>
            </a:r>
          </a:p>
          <a:p>
            <a:pPr lvl="2">
              <a:lnSpc>
                <a:spcPct val="110000"/>
              </a:lnSpc>
            </a:pPr>
            <a:r>
              <a:rPr lang="en-US" altLang="zh-CN" dirty="0"/>
              <a:t>Illegal operations (e.g., division by zero)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Setting the trap table is a privileged operation — user code cannot modify it.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0031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BEA5-25BC-7915-4F68-C427211C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84501-86A1-E357-924F-8D5D9B90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Calls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CDB0BC-4F4D-D18A-9BFF-EEC80130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89FCB6-C716-33EA-84A6-EB052EAC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5494CB-460C-48C9-6DF6-AA1B80B4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ED3DAE-A4DB-938E-783B-868C47E6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23603"/>
            <a:ext cx="10515600" cy="470016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Stage 2 - </a:t>
            </a:r>
            <a:r>
              <a:rPr lang="en-US" altLang="zh-CN" dirty="0"/>
              <a:t>The User Request (User Mode)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Your program calls a standard library function, like read(). It enters the C Standard Library (</a:t>
            </a:r>
            <a:r>
              <a:rPr lang="en-US" altLang="zh-CN" dirty="0" err="1"/>
              <a:t>libc</a:t>
            </a:r>
            <a:r>
              <a:rPr lang="en-US" altLang="zh-CN" dirty="0"/>
              <a:t>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library code places the System Call Number (e.g., 63 for read) and arguments into agreed-upon general-purpose registers (e.g., a7, a0).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library executes a special trap instruction (e.g., </a:t>
            </a:r>
            <a:r>
              <a:rPr lang="en-US" altLang="zh-CN" dirty="0" err="1"/>
              <a:t>ecall</a:t>
            </a:r>
            <a:r>
              <a:rPr lang="en-US" altLang="zh-CN" dirty="0"/>
              <a:t> in RISC-V, or </a:t>
            </a:r>
            <a:r>
              <a:rPr lang="en-US" altLang="zh-CN" dirty="0" err="1"/>
              <a:t>syscall</a:t>
            </a:r>
            <a:r>
              <a:rPr lang="en-US" altLang="zh-CN" dirty="0"/>
              <a:t> in x86).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Up to this exact microsecond, the CPU is still operating under strict User Mode restrictions.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697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BEA5-25BC-7915-4F68-C427211C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84501-86A1-E357-924F-8D5D9B90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Calls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CDB0BC-4F4D-D18A-9BFF-EEC80130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89FCB6-C716-33EA-84A6-EB052EAC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5494CB-460C-48C9-6DF6-AA1B80B4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ED3DAE-A4DB-938E-783B-868C47E6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23603"/>
            <a:ext cx="10515600" cy="470016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Stage 3 - </a:t>
            </a:r>
            <a:r>
              <a:rPr lang="en-US" altLang="zh-CN" dirty="0"/>
              <a:t>The Hardware Trap 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CPU hardware decoder sees the </a:t>
            </a:r>
            <a:r>
              <a:rPr lang="en-US" altLang="zh-CN" dirty="0" err="1"/>
              <a:t>ecall</a:t>
            </a:r>
            <a:r>
              <a:rPr lang="en-US" altLang="zh-CN" dirty="0"/>
              <a:t> instruction and instantly intervenes.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hardware forcefully flips the Mode Bit in the status register from User Mode -&gt; Kernel Mode.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hardware automatically saves the current Program Counter (PC) and registers so the program doesn't lose its place.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hardware reads the Trap Table address (set in Stage 1) and forces the PC to jump to the OS's pre-defined entry point.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453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BEA5-25BC-7915-4F68-C427211C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84501-86A1-E357-924F-8D5D9B90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Calls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CDB0BC-4F4D-D18A-9BFF-EEC80130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89FCB6-C716-33EA-84A6-EB052EAC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5494CB-460C-48C9-6DF6-AA1B80B4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ED3DAE-A4DB-938E-783B-868C47E6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23603"/>
            <a:ext cx="10515600" cy="470016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b="1" dirty="0"/>
              <a:t>Stage 4 - </a:t>
            </a:r>
            <a:r>
              <a:rPr lang="en-US" altLang="zh-CN" dirty="0"/>
              <a:t>Kernel Execution &amp; Return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OS wakes up in Kernel Mode. It reads the System Call Number (e.g., 63), verifies the permissions, and performs the actual hardware I/O (e.g., reading the disk).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Once finished, the OS executes a special return-from-trap instruction (e.g., </a:t>
            </a:r>
            <a:r>
              <a:rPr lang="en-US" altLang="zh-CN" dirty="0" err="1"/>
              <a:t>sret</a:t>
            </a:r>
            <a:r>
              <a:rPr lang="en-US" altLang="zh-CN" dirty="0"/>
              <a:t>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CPU hardware sees </a:t>
            </a:r>
            <a:r>
              <a:rPr lang="en-US" altLang="zh-CN" dirty="0" err="1"/>
              <a:t>sret</a:t>
            </a:r>
            <a:r>
              <a:rPr lang="en-US" altLang="zh-CN" dirty="0"/>
              <a:t>. It automatically flips the Mode Bit back to User Mode and restores the saved PC.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/>
              <a:t>The user program resumes execution exactly where it left off, now with the requested data available.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6992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03A2-36B0-3473-FA31-AEC45234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47925-7859-116D-17AB-D13D25F9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Switching Between Processes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A4BFC4-9734-F877-5E36-6BD0DED5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1E8DDC-9B94-C839-65E3-6F9D0273A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EDFE37-06AC-FB68-B859-5553C5D7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CF779B9-1CC5-AAAD-AB79-DEABB470E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If a process is running on the CPU, the OS is NOT running. If the OS is not running, how can it do anything?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Once a user process starts executing, the OS has </a:t>
            </a:r>
            <a:r>
              <a:rPr lang="en-US" altLang="zh-CN" b="1" dirty="0"/>
              <a:t>no way</a:t>
            </a:r>
            <a:r>
              <a:rPr lang="en-US" altLang="zh-CN" dirty="0"/>
              <a:t> to stop it or switch to another process, unless the process voluntarily gives up control.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The Two Approaches to Regain Control</a:t>
            </a:r>
          </a:p>
          <a:p>
            <a:pPr lvl="1">
              <a:lnSpc>
                <a:spcPct val="110000"/>
              </a:lnSpc>
            </a:pPr>
            <a:r>
              <a:rPr lang="en-US" altLang="zh-CN" b="1" dirty="0"/>
              <a:t>Cooperative Approach</a:t>
            </a:r>
            <a:r>
              <a:rPr lang="en-US" altLang="zh-CN" dirty="0"/>
              <a:t>: Trust processes to hand control back to the OS voluntarily</a:t>
            </a:r>
          </a:p>
          <a:p>
            <a:pPr lvl="1">
              <a:lnSpc>
                <a:spcPct val="110000"/>
              </a:lnSpc>
            </a:pPr>
            <a:r>
              <a:rPr lang="en-US" altLang="zh-CN" b="1" dirty="0"/>
              <a:t>Non-Cooperative Approach</a:t>
            </a:r>
            <a:r>
              <a:rPr lang="en-US" altLang="zh-CN" dirty="0"/>
              <a:t>: Use hardware support to force control back to the OS, even with uncooperative/rogue processes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61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906ED-9AEE-DA1A-D546-0ECFAFAA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3F8F6-73B3-FA83-C4A9-2AA188CE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Cooperative Approach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C8F1DD-B4D1-A423-4AB0-7C6B6F1D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91ACBA-18A1-8A06-8952-9EAB9E32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56FDAA-2248-1952-07B7-99B5D46F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7FE060-6F71-5AFA-9E20-02F885301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The OS trusts user processes to behave reasonably:</a:t>
            </a:r>
          </a:p>
          <a:p>
            <a:pPr lvl="1">
              <a:lnSpc>
                <a:spcPct val="110000"/>
              </a:lnSpc>
            </a:pPr>
            <a:r>
              <a:rPr lang="en-US" altLang="zh-CN" sz="2100" dirty="0"/>
              <a:t>Processes hand control back to the OS frequently via </a:t>
            </a:r>
            <a:r>
              <a:rPr lang="en-US" altLang="zh-CN" sz="2100" b="1" dirty="0"/>
              <a:t>system calls</a:t>
            </a:r>
            <a:r>
              <a:rPr lang="en-US" altLang="zh-CN" sz="2100" dirty="0"/>
              <a:t> (e.g., I/O requests)</a:t>
            </a:r>
          </a:p>
          <a:p>
            <a:pPr lvl="1">
              <a:lnSpc>
                <a:spcPct val="110000"/>
              </a:lnSpc>
            </a:pPr>
            <a:r>
              <a:rPr lang="en-US" altLang="zh-CN" sz="2100" dirty="0"/>
              <a:t>Explicit yield() system call: Does nothing except transfer control to the OS</a:t>
            </a:r>
          </a:p>
          <a:p>
            <a:pPr lvl="1">
              <a:lnSpc>
                <a:spcPct val="110000"/>
              </a:lnSpc>
            </a:pPr>
            <a:r>
              <a:rPr lang="en-US" altLang="zh-CN" sz="2100" dirty="0"/>
              <a:t>Control is also returned when a process triggers an illegal operation (e.g., invalid memory access, division by zero), which generates a trap to the kernel</a:t>
            </a:r>
          </a:p>
          <a:p>
            <a:pPr lvl="1">
              <a:lnSpc>
                <a:spcPct val="110000"/>
              </a:lnSpc>
            </a:pPr>
            <a:endParaRPr lang="en-US" altLang="zh-CN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Limitations</a:t>
            </a:r>
          </a:p>
          <a:p>
            <a:pPr lvl="1">
              <a:lnSpc>
                <a:spcPct val="110000"/>
              </a:lnSpc>
            </a:pPr>
            <a:r>
              <a:rPr lang="en-US" altLang="zh-CN" b="1" dirty="0"/>
              <a:t>No protection against rogue/buggy processes</a:t>
            </a:r>
            <a:r>
              <a:rPr lang="en-US" altLang="zh-CN" dirty="0"/>
              <a:t>: A process stuck in an infinite loop will never make a system call, and never hand control back to the OS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The only fix is to </a:t>
            </a:r>
            <a:r>
              <a:rPr lang="en-US" altLang="zh-CN" b="1" dirty="0"/>
              <a:t>reboot the machine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Used in early systems (e.g., early Mac OS, Xerox Alto), but not suitable for modern general-purpose operating systems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48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4DE7D-2844-995C-7E92-EFFE65B0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CE337-356E-420B-A1DF-A5862CE3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Non-Cooperative Approach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6217E3-47BC-A2A0-D733-F727387D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F30B60-D788-1195-4CA4-F9EAC9A7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50B0EF-D39C-80FD-7A2B-5FB997CD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125A0-9692-7AC4-74FC-B7BB5FDDD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The Hardware Solution: </a:t>
            </a:r>
            <a:r>
              <a:rPr lang="en-US" altLang="zh-CN" sz="2400" b="1" dirty="0"/>
              <a:t>Timer Interrupt</a:t>
            </a:r>
          </a:p>
          <a:p>
            <a:pPr lvl="1"/>
            <a:r>
              <a:rPr lang="en-US" altLang="zh-CN" sz="2000" dirty="0"/>
              <a:t>The only way to guarantee the OS can regain control, even with uncooperative processes.</a:t>
            </a:r>
          </a:p>
          <a:p>
            <a:pPr marL="0" indent="0">
              <a:buNone/>
            </a:pPr>
            <a:r>
              <a:rPr lang="en-US" altLang="zh-CN" sz="2400" dirty="0"/>
              <a:t>How It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000" b="1" dirty="0"/>
              <a:t>Boot Time Setup</a:t>
            </a:r>
            <a:r>
              <a:rPr lang="en-US" altLang="zh-CN" sz="2000" dirty="0"/>
              <a:t>: OS programs a hardware timer device to raise an interrupt every X milliseconds (privileged operation)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000" b="1" dirty="0"/>
              <a:t>Runtime</a:t>
            </a:r>
            <a:r>
              <a:rPr lang="en-US" altLang="zh-CN" sz="2000" dirty="0"/>
              <a:t>: When the timer interrupt fires:</a:t>
            </a:r>
          </a:p>
          <a:p>
            <a:pPr lvl="1"/>
            <a:r>
              <a:rPr lang="en-US" altLang="zh-CN" sz="1800" dirty="0"/>
              <a:t>The currently running process is halted</a:t>
            </a:r>
          </a:p>
          <a:p>
            <a:pPr lvl="1"/>
            <a:r>
              <a:rPr lang="en-US" altLang="zh-CN" sz="1800" dirty="0"/>
              <a:t>Hardware saves the process’s registers to its kernel stack</a:t>
            </a:r>
          </a:p>
          <a:p>
            <a:pPr lvl="1"/>
            <a:r>
              <a:rPr lang="en-US" altLang="zh-CN" sz="1800" dirty="0"/>
              <a:t>CPU jumps to the OS’s pre-configured timer interrupt handler (kernel mode)</a:t>
            </a:r>
          </a:p>
          <a:p>
            <a:pPr lvl="1"/>
            <a:r>
              <a:rPr lang="en-US" altLang="zh-CN" sz="1800" dirty="0"/>
              <a:t>The OS now has full control of the CPU!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3435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9EDDB-44D1-34AB-F172-136E8B34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53AC3B-BAAE-8171-9D59-626E281A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466318-F4C7-FCD1-76FC-D650B8A3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47FC8C-CB19-F1D1-265A-E3DD8E70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BCE633F-61F6-A1E6-1EC4-69DDD64A9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The Process Abstraction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The Core Illusion:</a:t>
            </a:r>
            <a:r>
              <a:rPr lang="en-US" sz="2200" dirty="0"/>
              <a:t> The OS virtualizes the CPU using </a:t>
            </a:r>
            <a:r>
              <a:rPr lang="en-US" sz="2200" b="1" dirty="0"/>
              <a:t>time sharing</a:t>
            </a:r>
            <a:r>
              <a:rPr lang="en-US" sz="2200" dirty="0"/>
              <a:t>, running one process for a short time slice and switching to another, creating the illusion of many CPUs.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The Process:</a:t>
            </a:r>
            <a:r>
              <a:rPr lang="en-US" sz="2200" dirty="0"/>
              <a:t> A process is a running program. It is defined by its </a:t>
            </a:r>
            <a:r>
              <a:rPr lang="en-US" sz="2200" b="1" dirty="0"/>
              <a:t>machine state</a:t>
            </a:r>
            <a:r>
              <a:rPr lang="en-US" sz="2200" dirty="0"/>
              <a:t>: Address Space (memory), CPU Registers (PC, SP, FP), and I/O Information.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State Transitions:</a:t>
            </a:r>
            <a:r>
              <a:rPr lang="en-US" sz="2200" dirty="0"/>
              <a:t> A process actively moves between three fundamental states: </a:t>
            </a:r>
            <a:r>
              <a:rPr lang="en-US" sz="2200" b="1" dirty="0"/>
              <a:t>Running</a:t>
            </a:r>
            <a:r>
              <a:rPr lang="en-US" sz="2200" dirty="0"/>
              <a:t> (executing on CPU), </a:t>
            </a:r>
            <a:r>
              <a:rPr lang="en-US" sz="2200" b="1" dirty="0"/>
              <a:t>Ready</a:t>
            </a:r>
            <a:r>
              <a:rPr lang="en-US" sz="2200" dirty="0"/>
              <a:t> (waiting to be scheduled), and </a:t>
            </a:r>
            <a:r>
              <a:rPr lang="en-US" sz="2200" b="1" dirty="0"/>
              <a:t>Blocked</a:t>
            </a:r>
            <a:r>
              <a:rPr lang="en-US" sz="2200" dirty="0"/>
              <a:t> (waiting for an external event like I/O).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The Process API:</a:t>
            </a:r>
            <a:r>
              <a:rPr lang="en-US" sz="2200" dirty="0"/>
              <a:t> Modern OSes provide standard interfaces to Create, Destroy, Wait, Suspend/Resume, and check the Status of processes.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4480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9EDDB-44D1-34AB-F172-136E8B34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53AC3B-BAAE-8171-9D59-626E281A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466318-F4C7-FCD1-76FC-D650B8A3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47FC8C-CB19-F1D1-265A-E3DD8E70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BCE633F-61F6-A1E6-1EC4-69DDD64A9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Control &amp; Mechanisms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Limited Direct Execution (LDE):</a:t>
            </a:r>
            <a:r>
              <a:rPr lang="en-US" sz="2100" dirty="0"/>
              <a:t> The OS achieves high performance by running user code directly on the CPU, but maintains control by applying hardware-enforced limits.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Privilege Modes:</a:t>
            </a:r>
            <a:r>
              <a:rPr lang="en-US" sz="2100" dirty="0"/>
              <a:t> Hardware strictly separates </a:t>
            </a:r>
            <a:r>
              <a:rPr lang="en-US" sz="2100" b="1" dirty="0"/>
              <a:t>User Mode</a:t>
            </a:r>
            <a:r>
              <a:rPr lang="en-US" sz="2100" dirty="0"/>
              <a:t> (restricted capabilities) from </a:t>
            </a:r>
            <a:r>
              <a:rPr lang="en-US" sz="2100" b="1" dirty="0"/>
              <a:t>Kernel Mode</a:t>
            </a:r>
            <a:r>
              <a:rPr lang="en-US" sz="2100" dirty="0"/>
              <a:t> (full hardware access).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System Calls (The Trap):</a:t>
            </a:r>
            <a:r>
              <a:rPr lang="en-US" sz="2100" dirty="0"/>
              <a:t> User processes must use a controlled hardware trap mechanism (via a pre-configured Trap Table) to safely request privileged operations from the OS.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Regaining Control:</a:t>
            </a:r>
            <a:r>
              <a:rPr lang="en-US" sz="2100" dirty="0"/>
              <a:t> To prevent rogue processes from taking over, the OS relies on the </a:t>
            </a:r>
            <a:r>
              <a:rPr lang="en-US" sz="2100" b="1" dirty="0"/>
              <a:t>Non-Cooperative Approach</a:t>
            </a:r>
            <a:r>
              <a:rPr lang="en-US" sz="2100" dirty="0"/>
              <a:t>: using a hardware </a:t>
            </a:r>
            <a:r>
              <a:rPr lang="en-US" sz="2100" b="1" dirty="0"/>
              <a:t>Timer Interrupt</a:t>
            </a:r>
            <a:r>
              <a:rPr lang="en-US" sz="2100" dirty="0"/>
              <a:t> to forcefully halt the current process and switch execution back to the kernel.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103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03AF-6C50-4AB1-F31A-DE10C899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/>
                <a:ea typeface="等线 Light"/>
                <a:cs typeface="Arial"/>
              </a:rPr>
              <a:t>Next Lecture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F83AC3-4EEF-629B-703D-90BD4F5B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39CF7-57B7-27D5-CFC0-4D358894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CE09B-2CCC-442C-BD00-3DAFD257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2C07704-5735-2744-0A3D-6CCA11EE1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Scheduling…</a:t>
            </a:r>
          </a:p>
          <a:p>
            <a:pPr marL="0" indent="0">
              <a:buNone/>
            </a:pPr>
            <a:endParaRPr lang="en-US" altLang="zh-CN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222130008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2690</Words>
  <Application>Microsoft Office PowerPoint</Application>
  <PresentationFormat>Widescreen</PresentationFormat>
  <Paragraphs>410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AIAC</vt:lpstr>
      <vt:lpstr>Computer Architecture and Operating System</vt:lpstr>
      <vt:lpstr>Review</vt:lpstr>
      <vt:lpstr>Content</vt:lpstr>
      <vt:lpstr>Recall</vt:lpstr>
      <vt:lpstr>How to Provide the Illusion of Many CPUs</vt:lpstr>
      <vt:lpstr>How a Process Is Created</vt:lpstr>
      <vt:lpstr>How a Process Is Created</vt:lpstr>
      <vt:lpstr>Process Machine State</vt:lpstr>
      <vt:lpstr>Time Sharing</vt:lpstr>
      <vt:lpstr>Mechanism vs. Policy</vt:lpstr>
      <vt:lpstr>Example</vt:lpstr>
      <vt:lpstr>Process States</vt:lpstr>
      <vt:lpstr>Process State Transitions</vt:lpstr>
      <vt:lpstr>Process State Trace Examples</vt:lpstr>
      <vt:lpstr>Process State Trace Examples</vt:lpstr>
      <vt:lpstr>Standard Process API</vt:lpstr>
      <vt:lpstr>PowerPoint Presentation</vt:lpstr>
      <vt:lpstr>Question</vt:lpstr>
      <vt:lpstr>Direct Execution</vt:lpstr>
      <vt:lpstr>Why "Limited"?</vt:lpstr>
      <vt:lpstr>Limited Direct Execution</vt:lpstr>
      <vt:lpstr>User Mode vs. Kernel Mode</vt:lpstr>
      <vt:lpstr>Question</vt:lpstr>
      <vt:lpstr>System Calls </vt:lpstr>
      <vt:lpstr>System Calls </vt:lpstr>
      <vt:lpstr>System Calls </vt:lpstr>
      <vt:lpstr>System Calls </vt:lpstr>
      <vt:lpstr>Switching Between Processes</vt:lpstr>
      <vt:lpstr>Cooperative Approach</vt:lpstr>
      <vt:lpstr>Non-Cooperative Approach</vt:lpstr>
      <vt:lpstr>Summary</vt:lpstr>
      <vt:lpstr>Summary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1099</cp:revision>
  <cp:lastPrinted>2026-04-07T04:51:58Z</cp:lastPrinted>
  <dcterms:created xsi:type="dcterms:W3CDTF">2025-10-22T02:43:00Z</dcterms:created>
  <dcterms:modified xsi:type="dcterms:W3CDTF">2026-04-07T05:57:01Z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3DFBA0E403B8423FB8BFD4C8BC3E42ED_13</vt:lpwstr>
  </property>
  <property fmtid="{D5CDD505-2E9C-101B-9397-08002B2CF9AE}" pid="3" name="KSOProductBuildVer">
    <vt:lpwstr>2052-12.1.0.25225</vt:lpwstr>
  </property>
</Properties>
</file>