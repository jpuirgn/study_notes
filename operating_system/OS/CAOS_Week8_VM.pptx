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356" r:id="rId2"/>
    <p:sldId id="443" r:id="rId3"/>
    <p:sldId id="359" r:id="rId4"/>
    <p:sldId id="358" r:id="rId5"/>
    <p:sldId id="453" r:id="rId6"/>
    <p:sldId id="444" r:id="rId7"/>
    <p:sldId id="454" r:id="rId8"/>
    <p:sldId id="446" r:id="rId9"/>
    <p:sldId id="445" r:id="rId10"/>
    <p:sldId id="455" r:id="rId11"/>
    <p:sldId id="456" r:id="rId12"/>
    <p:sldId id="457" r:id="rId13"/>
    <p:sldId id="447" r:id="rId14"/>
    <p:sldId id="448" r:id="rId15"/>
    <p:sldId id="449" r:id="rId16"/>
    <p:sldId id="450" r:id="rId17"/>
    <p:sldId id="451" r:id="rId18"/>
    <p:sldId id="477" r:id="rId19"/>
    <p:sldId id="452" r:id="rId20"/>
    <p:sldId id="458" r:id="rId21"/>
    <p:sldId id="459" r:id="rId22"/>
    <p:sldId id="460" r:id="rId23"/>
    <p:sldId id="476" r:id="rId24"/>
    <p:sldId id="461" r:id="rId25"/>
    <p:sldId id="462" r:id="rId26"/>
    <p:sldId id="463" r:id="rId27"/>
    <p:sldId id="464" r:id="rId28"/>
    <p:sldId id="478" r:id="rId29"/>
    <p:sldId id="465" r:id="rId30"/>
    <p:sldId id="466" r:id="rId31"/>
    <p:sldId id="467" r:id="rId32"/>
    <p:sldId id="468" r:id="rId33"/>
    <p:sldId id="469" r:id="rId34"/>
    <p:sldId id="470" r:id="rId35"/>
    <p:sldId id="471" r:id="rId36"/>
    <p:sldId id="472" r:id="rId37"/>
    <p:sldId id="473" r:id="rId38"/>
    <p:sldId id="474" r:id="rId39"/>
    <p:sldId id="475" r:id="rId40"/>
    <p:sldId id="479" r:id="rId41"/>
    <p:sldId id="38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FCD9B1D-7B9A-4D58-995E-AFA475280652}">
          <p14:sldIdLst>
            <p14:sldId id="356"/>
            <p14:sldId id="443"/>
            <p14:sldId id="359"/>
            <p14:sldId id="358"/>
          </p14:sldIdLst>
        </p14:section>
        <p14:section name="VM" id="{7F84BA80-6D35-443A-BE5C-9BE5D43F9D2B}">
          <p14:sldIdLst>
            <p14:sldId id="453"/>
            <p14:sldId id="444"/>
            <p14:sldId id="454"/>
            <p14:sldId id="446"/>
            <p14:sldId id="445"/>
            <p14:sldId id="455"/>
            <p14:sldId id="456"/>
            <p14:sldId id="457"/>
            <p14:sldId id="447"/>
            <p14:sldId id="448"/>
            <p14:sldId id="449"/>
            <p14:sldId id="450"/>
            <p14:sldId id="451"/>
            <p14:sldId id="477"/>
            <p14:sldId id="452"/>
            <p14:sldId id="458"/>
            <p14:sldId id="459"/>
            <p14:sldId id="460"/>
          </p14:sldIdLst>
        </p14:section>
        <p14:section name="Break" id="{56FEBD4D-D279-45B9-B15C-D6897509075E}">
          <p14:sldIdLst>
            <p14:sldId id="476"/>
            <p14:sldId id="461"/>
            <p14:sldId id="462"/>
            <p14:sldId id="463"/>
            <p14:sldId id="464"/>
            <p14:sldId id="478"/>
            <p14:sldId id="465"/>
            <p14:sldId id="466"/>
            <p14:sldId id="467"/>
            <p14:sldId id="468"/>
            <p14:sldId id="469"/>
            <p14:sldId id="470"/>
            <p14:sldId id="471"/>
            <p14:sldId id="472"/>
            <p14:sldId id="473"/>
            <p14:sldId id="474"/>
            <p14:sldId id="475"/>
            <p14:sldId id="479"/>
            <p14:sldId id="3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E5FC"/>
    <a:srgbClr val="53AEF1"/>
    <a:srgbClr val="582579"/>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7" autoAdjust="0"/>
    <p:restoredTop sz="94660"/>
  </p:normalViewPr>
  <p:slideViewPr>
    <p:cSldViewPr snapToGrid="0">
      <p:cViewPr varScale="1">
        <p:scale>
          <a:sx n="164" d="100"/>
          <a:sy n="164" d="100"/>
        </p:scale>
        <p:origin x="17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A9278-991E-4FC4-A092-547ADFE43B77}"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16CDF-66D6-42F5-82AB-44061AC83CC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lnSpc>
                <a:spcPct val="90000"/>
              </a:lnSpc>
              <a:defRPr sz="6000"/>
            </a:lvl1pPr>
          </a:lstStyle>
          <a:p>
            <a:r>
              <a:rPr lang="en-US"/>
              <a:t>Click to edit Master title style</a:t>
            </a:r>
          </a:p>
        </p:txBody>
      </p:sp>
      <p:sp>
        <p:nvSpPr>
          <p:cNvPr id="3" name="Text Placeholder 2"/>
          <p:cNvSpPr>
            <a:spLocks noGrp="1"/>
          </p:cNvSpPr>
          <p:nvPr>
            <p:ph type="body" idx="1"/>
          </p:nvPr>
        </p:nvSpPr>
        <p:spPr>
          <a:xfrm>
            <a:off x="831850" y="4745355"/>
            <a:ext cx="7647305" cy="664210"/>
          </a:xfrm>
        </p:spPr>
        <p:txBody>
          <a:bodyPr/>
          <a:lstStyle>
            <a:lvl1pPr marL="0" indent="0">
              <a:buNone/>
              <a:defRPr sz="4000" b="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79A912-BA0F-455A-9008-30C412343B55}" type="datetime1">
              <a:rPr lang="en-US" smtClean="0"/>
              <a:t>4/20/2026</a:t>
            </a:fld>
            <a:endParaRPr lang="en-US"/>
          </a:p>
        </p:txBody>
      </p:sp>
      <p:sp>
        <p:nvSpPr>
          <p:cNvPr id="5" name="Footer Placeholder 4"/>
          <p:cNvSpPr>
            <a:spLocks noGrp="1"/>
          </p:cNvSpPr>
          <p:nvPr>
            <p:ph type="ftr" sz="quarter" idx="11"/>
          </p:nvPr>
        </p:nvSpPr>
        <p:spPr/>
        <p:txBody>
          <a:bodyPr/>
          <a:lstStyle/>
          <a:p>
            <a:r>
              <a:rPr lang="en-US">
                <a:sym typeface="+mn-ea"/>
              </a:rPr>
              <a:t>School of AI and Advanced Computing, XJTLU</a:t>
            </a:r>
            <a:endParaRPr lang="en-US"/>
          </a:p>
        </p:txBody>
      </p:sp>
      <p:sp>
        <p:nvSpPr>
          <p:cNvPr id="6" name="Slide Number Placeholder 5"/>
          <p:cNvSpPr>
            <a:spLocks noGrp="1"/>
          </p:cNvSpPr>
          <p:nvPr>
            <p:ph type="sldNum" sz="quarter" idx="12"/>
          </p:nvPr>
        </p:nvSpPr>
        <p:spPr/>
        <p:txBody>
          <a:bodyPr/>
          <a:lstStyle/>
          <a:p>
            <a:fld id="{9146477A-3083-4652-9A53-6C94B28E95E9}" type="slidenum">
              <a:rPr lang="en-US" smtClean="0"/>
              <a:t>‹#›</a:t>
            </a:fld>
            <a:endParaRPr lang="en-US"/>
          </a:p>
        </p:txBody>
      </p:sp>
      <p:sp>
        <p:nvSpPr>
          <p:cNvPr id="8" name="Text Placeholder 2"/>
          <p:cNvSpPr>
            <a:spLocks noGrp="1"/>
          </p:cNvSpPr>
          <p:nvPr>
            <p:ph type="body" idx="13"/>
          </p:nvPr>
        </p:nvSpPr>
        <p:spPr>
          <a:xfrm>
            <a:off x="838200" y="5536565"/>
            <a:ext cx="7647305" cy="664210"/>
          </a:xfrm>
        </p:spPr>
        <p:txBody>
          <a:bodyPr/>
          <a:lstStyle>
            <a:lvl1pPr marL="0" indent="0" algn="r">
              <a:buNone/>
              <a:defRPr sz="2400" b="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305165" cy="1072515"/>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779A912-BA0F-455A-9008-30C412343B55}" type="datetime1">
              <a:rPr lang="en-US" smtClean="0"/>
              <a:t>4/20/2026</a:t>
            </a:fld>
            <a:endParaRPr lang="en-US"/>
          </a:p>
        </p:txBody>
      </p:sp>
      <p:sp>
        <p:nvSpPr>
          <p:cNvPr id="4" name="Footer Placeholder 3"/>
          <p:cNvSpPr>
            <a:spLocks noGrp="1"/>
          </p:cNvSpPr>
          <p:nvPr>
            <p:ph type="ftr" sz="quarter" idx="11"/>
          </p:nvPr>
        </p:nvSpPr>
        <p:spPr/>
        <p:txBody>
          <a:bodyPr/>
          <a:lstStyle/>
          <a:p>
            <a:r>
              <a:rPr lang="en-US">
                <a:sym typeface="+mn-ea"/>
              </a:rPr>
              <a:t>School of AI and Advanced Computing, XJTLU</a:t>
            </a:r>
            <a:endParaRPr lang="en-US"/>
          </a:p>
        </p:txBody>
      </p:sp>
      <p:sp>
        <p:nvSpPr>
          <p:cNvPr id="5" name="Slide Number Placeholder 4"/>
          <p:cNvSpPr>
            <a:spLocks noGrp="1"/>
          </p:cNvSpPr>
          <p:nvPr>
            <p:ph type="sldNum" sz="quarter" idx="12"/>
          </p:nvPr>
        </p:nvSpPr>
        <p:spPr/>
        <p:txBody>
          <a:bodyPr/>
          <a:lstStyle/>
          <a:p>
            <a:fld id="{9146477A-3083-4652-9A53-6C94B28E95E9}" type="slidenum">
              <a:rPr lang="en-US" smtClean="0"/>
              <a:t>‹#›</a:t>
            </a:fld>
            <a:endParaRPr lang="en-US"/>
          </a:p>
        </p:txBody>
      </p:sp>
      <p:sp>
        <p:nvSpPr>
          <p:cNvPr id="6"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79A912-BA0F-455A-9008-30C412343B55}" type="datetime1">
              <a:rPr lang="en-US" smtClean="0"/>
              <a:t>4/20/2026</a:t>
            </a:fld>
            <a:endParaRPr lang="en-US"/>
          </a:p>
        </p:txBody>
      </p:sp>
      <p:sp>
        <p:nvSpPr>
          <p:cNvPr id="6" name="Footer Placeholder 5"/>
          <p:cNvSpPr>
            <a:spLocks noGrp="1"/>
          </p:cNvSpPr>
          <p:nvPr>
            <p:ph type="ftr" sz="quarter" idx="11"/>
          </p:nvPr>
        </p:nvSpPr>
        <p:spPr/>
        <p:txBody>
          <a:bodyPr/>
          <a:lstStyle/>
          <a:p>
            <a:r>
              <a:rPr lang="en-US"/>
              <a:t>School of AI and Advanced Computing, XJTLU</a:t>
            </a:r>
          </a:p>
        </p:txBody>
      </p:sp>
      <p:sp>
        <p:nvSpPr>
          <p:cNvPr id="7" name="Slide Number Placeholder 6"/>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779A912-BA0F-455A-9008-30C412343B55}" type="datetime1">
              <a:rPr lang="en-US" smtClean="0"/>
              <a:t>4/20/2026</a:t>
            </a:fld>
            <a:endParaRPr lang="en-US"/>
          </a:p>
        </p:txBody>
      </p:sp>
      <p:sp>
        <p:nvSpPr>
          <p:cNvPr id="3" name="页脚占位符 2"/>
          <p:cNvSpPr>
            <a:spLocks noGrp="1"/>
          </p:cNvSpPr>
          <p:nvPr>
            <p:ph type="ftr" sz="quarter" idx="11"/>
          </p:nvPr>
        </p:nvSpPr>
        <p:spPr/>
        <p:txBody>
          <a:bodyPr/>
          <a:lstStyle/>
          <a:p>
            <a:r>
              <a:rPr lang="en-US">
                <a:sym typeface="+mn-ea"/>
              </a:rPr>
              <a:t>School of AI and Advanced Computing, XJTLU</a:t>
            </a:r>
            <a:endParaRPr lang="en-US"/>
          </a:p>
        </p:txBody>
      </p:sp>
      <p:sp>
        <p:nvSpPr>
          <p:cNvPr id="4" name="灯片编号占位符 3"/>
          <p:cNvSpPr>
            <a:spLocks noGrp="1"/>
          </p:cNvSpPr>
          <p:nvPr>
            <p:ph type="sldNum" sz="quarter" idx="12"/>
          </p:nvPr>
        </p:nvSpPr>
        <p:spPr/>
        <p:txBody>
          <a:bodyPr/>
          <a:lstStyle/>
          <a:p>
            <a:fld id="{9146477A-3083-4652-9A53-6C94B28E95E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79A912-BA0F-455A-9008-30C412343B55}" type="datetime1">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sym typeface="+mn-ea"/>
              </a:rPr>
              <a:t>School of AI and Advanced Computing, XJTLU</a:t>
            </a:r>
            <a:endParaRPr lang="en-US"/>
          </a:p>
        </p:txBody>
      </p:sp>
      <p:sp>
        <p:nvSpPr>
          <p:cNvPr id="6" name="Slide Number Placeholder 5"/>
          <p:cNvSpPr>
            <a:spLocks noGrp="1"/>
          </p:cNvSpPr>
          <p:nvPr>
            <p:ph type="sldNum" sz="quarter" idx="4"/>
          </p:nvPr>
        </p:nvSpPr>
        <p:spPr>
          <a:xfrm>
            <a:off x="8610600" y="6356350"/>
            <a:ext cx="18224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46477A-3083-4652-9A53-6C94B28E95E9}" type="slidenum">
              <a:rPr lang="en-US" smtClean="0"/>
              <a:t>‹#›</a:t>
            </a:fld>
            <a:endParaRPr lang="en-US"/>
          </a:p>
        </p:txBody>
      </p:sp>
      <p:pic>
        <p:nvPicPr>
          <p:cNvPr id="7" name="图片 6" descr="AIAC_logo"/>
          <p:cNvPicPr>
            <a:picLocks noChangeAspect="1"/>
          </p:cNvPicPr>
          <p:nvPr/>
        </p:nvPicPr>
        <p:blipFill>
          <a:blip r:embed="rId7"/>
          <a:stretch>
            <a:fillRect/>
          </a:stretch>
        </p:blipFill>
        <p:spPr>
          <a:xfrm>
            <a:off x="10549890" y="5742940"/>
            <a:ext cx="1457960" cy="924560"/>
          </a:xfrm>
          <a:prstGeom prst="rect">
            <a:avLst/>
          </a:prstGeom>
        </p:spPr>
      </p:pic>
      <p:sp>
        <p:nvSpPr>
          <p:cNvPr id="8" name="矩形 7"/>
          <p:cNvSpPr/>
          <p:nvPr/>
        </p:nvSpPr>
        <p:spPr>
          <a:xfrm>
            <a:off x="840105" y="357505"/>
            <a:ext cx="746760" cy="124460"/>
          </a:xfrm>
          <a:prstGeom prst="rect">
            <a:avLst/>
          </a:prstGeom>
          <a:solidFill>
            <a:srgbClr val="53AE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0" y="6733540"/>
            <a:ext cx="12192635" cy="124460"/>
          </a:xfrm>
          <a:prstGeom prst="rect">
            <a:avLst/>
          </a:prstGeom>
          <a:solidFill>
            <a:srgbClr val="53AE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sym typeface="+mn-ea"/>
              </a:rPr>
              <a:t>Computer Architecture and</a:t>
            </a:r>
            <a:br>
              <a:rPr lang="en-US" altLang="zh-CN">
                <a:sym typeface="+mn-ea"/>
              </a:rPr>
            </a:br>
            <a:r>
              <a:rPr lang="en-US" altLang="zh-CN">
                <a:sym typeface="+mn-ea"/>
              </a:rPr>
              <a:t>Operating System</a:t>
            </a:r>
            <a:endParaRPr lang="zh-CN" altLang="en-US"/>
          </a:p>
        </p:txBody>
      </p:sp>
      <p:sp>
        <p:nvSpPr>
          <p:cNvPr id="6" name="文本占位符 5"/>
          <p:cNvSpPr>
            <a:spLocks noGrp="1"/>
          </p:cNvSpPr>
          <p:nvPr>
            <p:ph type="body" idx="1"/>
          </p:nvPr>
        </p:nvSpPr>
        <p:spPr/>
        <p:txBody>
          <a:bodyPr vert="horz" lIns="91440" tIns="45720" rIns="91440" bIns="45720" rtlCol="0" anchor="t">
            <a:normAutofit/>
          </a:bodyPr>
          <a:lstStyle/>
          <a:p>
            <a:r>
              <a:rPr lang="en-US" altLang="zh-CN" dirty="0">
                <a:latin typeface="Arial"/>
                <a:ea typeface="等线"/>
                <a:cs typeface="Arial"/>
              </a:rPr>
              <a:t>Virtual Memory</a:t>
            </a:r>
            <a:endParaRPr lang="en-US" altLang="zh-CN" dirty="0">
              <a:ea typeface="等线"/>
            </a:endParaRPr>
          </a:p>
        </p:txBody>
      </p:sp>
      <p:sp>
        <p:nvSpPr>
          <p:cNvPr id="7" name="文本占位符 6"/>
          <p:cNvSpPr>
            <a:spLocks noGrp="1"/>
          </p:cNvSpPr>
          <p:nvPr>
            <p:ph type="body" idx="13"/>
          </p:nvPr>
        </p:nvSpPr>
        <p:spPr/>
        <p:txBody>
          <a:bodyPr/>
          <a:lstStyle/>
          <a:p>
            <a:r>
              <a:rPr lang="en-US" altLang="zh-CN" dirty="0"/>
              <a:t>Lecturer: Tianming Bai</a:t>
            </a:r>
          </a:p>
        </p:txBody>
      </p:sp>
      <p:sp>
        <p:nvSpPr>
          <p:cNvPr id="2" name="日期占位符 1"/>
          <p:cNvSpPr>
            <a:spLocks noGrp="1"/>
          </p:cNvSpPr>
          <p:nvPr>
            <p:ph type="dt" sz="half" idx="10"/>
          </p:nvPr>
        </p:nvSpPr>
        <p:spPr/>
        <p:txBody>
          <a:bodyPr/>
          <a:lstStyle/>
          <a:p>
            <a:fld id="{C779A912-BA0F-455A-9008-30C412343B55}" type="datetime1">
              <a:rPr lang="en-US" smtClean="0"/>
              <a:t>4/20/2026</a:t>
            </a:fld>
            <a:endParaRPr lang="en-US" dirty="0"/>
          </a:p>
        </p:txBody>
      </p:sp>
      <p:sp>
        <p:nvSpPr>
          <p:cNvPr id="3" name="页脚占位符 2"/>
          <p:cNvSpPr>
            <a:spLocks noGrp="1"/>
          </p:cNvSpPr>
          <p:nvPr>
            <p:ph type="ftr" sz="quarter" idx="11"/>
          </p:nvPr>
        </p:nvSpPr>
        <p:spPr/>
        <p:txBody>
          <a:bodyPr/>
          <a:lstStyle/>
          <a:p>
            <a:r>
              <a:rPr lang="en-US">
                <a:sym typeface="+mn-ea"/>
              </a:rPr>
              <a:t>School of AI and Advanced Computing, XJTLU</a:t>
            </a:r>
            <a:endParaRPr lang="en-US"/>
          </a:p>
        </p:txBody>
      </p:sp>
      <p:sp>
        <p:nvSpPr>
          <p:cNvPr id="4" name="灯片编号占位符 3"/>
          <p:cNvSpPr>
            <a:spLocks noGrp="1"/>
          </p:cNvSpPr>
          <p:nvPr>
            <p:ph type="sldNum" sz="quarter" idx="12"/>
          </p:nvPr>
        </p:nvSpPr>
        <p:spPr/>
        <p:txBody>
          <a:bodyPr/>
          <a:lstStyle/>
          <a:p>
            <a:fld id="{9146477A-3083-4652-9A53-6C94B28E95E9}"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1F7F3-5F4B-45C5-E993-43585BA5AE3B}"/>
              </a:ext>
            </a:extLst>
          </p:cNvPr>
          <p:cNvSpPr>
            <a:spLocks noGrp="1"/>
          </p:cNvSpPr>
          <p:nvPr>
            <p:ph type="title"/>
          </p:nvPr>
        </p:nvSpPr>
        <p:spPr>
          <a:xfrm>
            <a:off x="838200" y="365125"/>
            <a:ext cx="10515600" cy="1072515"/>
          </a:xfrm>
        </p:spPr>
        <p:txBody>
          <a:bodyPr>
            <a:normAutofit/>
          </a:bodyPr>
          <a:lstStyle/>
          <a:p>
            <a:r>
              <a:rPr lang="zh-CN" altLang="en-US" dirty="0">
                <a:ea typeface="等线 Light"/>
              </a:rPr>
              <a:t>Review</a:t>
            </a:r>
            <a:endParaRPr lang="zh-CN" altLang="en-US" dirty="0"/>
          </a:p>
        </p:txBody>
      </p:sp>
      <p:sp>
        <p:nvSpPr>
          <p:cNvPr id="3" name="日期占位符 2">
            <a:extLst>
              <a:ext uri="{FF2B5EF4-FFF2-40B4-BE49-F238E27FC236}">
                <a16:creationId xmlns:a16="http://schemas.microsoft.com/office/drawing/2014/main" id="{7B531351-5186-977D-FECF-8F495102F637}"/>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0206D2BA-08FA-4D11-C982-E53360998D03}"/>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EAF4409A-78A6-F481-AD89-986027E04B88}"/>
              </a:ext>
            </a:extLst>
          </p:cNvPr>
          <p:cNvSpPr>
            <a:spLocks noGrp="1"/>
          </p:cNvSpPr>
          <p:nvPr>
            <p:ph type="sldNum" sz="quarter" idx="12"/>
          </p:nvPr>
        </p:nvSpPr>
        <p:spPr/>
        <p:txBody>
          <a:bodyPr/>
          <a:lstStyle/>
          <a:p>
            <a:fld id="{9146477A-3083-4652-9A53-6C94B28E95E9}" type="slidenum">
              <a:rPr lang="en-US" smtClean="0"/>
              <a:t>2</a:t>
            </a:fld>
            <a:endParaRPr lang="en-US"/>
          </a:p>
        </p:txBody>
      </p:sp>
      <p:sp>
        <p:nvSpPr>
          <p:cNvPr id="8" name="文本占位符 7">
            <a:extLst>
              <a:ext uri="{FF2B5EF4-FFF2-40B4-BE49-F238E27FC236}">
                <a16:creationId xmlns:a16="http://schemas.microsoft.com/office/drawing/2014/main" id="{A8CCE4A2-6692-BAC1-42CB-37DD0E753561}"/>
              </a:ext>
            </a:extLst>
          </p:cNvPr>
          <p:cNvSpPr>
            <a:spLocks noGrp="1"/>
          </p:cNvSpPr>
          <p:nvPr>
            <p:ph type="body" idx="1"/>
          </p:nvPr>
        </p:nvSpPr>
        <p:spPr/>
        <p:txBody>
          <a:bodyPr>
            <a:normAutofit/>
          </a:bodyPr>
          <a:lstStyle/>
          <a:p>
            <a:pPr marL="0" indent="0">
              <a:lnSpc>
                <a:spcPct val="100000"/>
              </a:lnSpc>
              <a:buNone/>
            </a:pPr>
            <a:r>
              <a:rPr lang="en-US" altLang="zh-CN" dirty="0"/>
              <a:t>In early time, the physical memory contained just the OS routines and one running program. </a:t>
            </a:r>
            <a:r>
              <a:rPr lang="en-US" altLang="zh-CN" b="1" dirty="0"/>
              <a:t>Multiprogramming</a:t>
            </a:r>
            <a:r>
              <a:rPr lang="en-US" altLang="zh-CN" dirty="0"/>
              <a:t> and </a:t>
            </a:r>
            <a:r>
              <a:rPr lang="en-US" altLang="zh-CN" b="1" dirty="0"/>
              <a:t>Time Sharing </a:t>
            </a:r>
            <a:r>
              <a:rPr lang="en-US" altLang="zh-CN" dirty="0"/>
              <a:t>were introduced to increase CPU utilization and interactivity.</a:t>
            </a:r>
          </a:p>
        </p:txBody>
      </p:sp>
    </p:spTree>
    <p:extLst>
      <p:ext uri="{BB962C8B-B14F-4D97-AF65-F5344CB8AC3E}">
        <p14:creationId xmlns:p14="http://schemas.microsoft.com/office/powerpoint/2010/main" val="243517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4D036-9817-A934-B0EA-918B7A245057}"/>
              </a:ext>
            </a:extLst>
          </p:cNvPr>
          <p:cNvSpPr>
            <a:spLocks noGrp="1"/>
          </p:cNvSpPr>
          <p:nvPr>
            <p:ph type="title"/>
          </p:nvPr>
        </p:nvSpPr>
        <p:spPr/>
        <p:txBody>
          <a:bodyPr/>
          <a:lstStyle/>
          <a:p>
            <a:r>
              <a:rPr lang="zh-CN" altLang="en-US" dirty="0">
                <a:ea typeface="等线 Light"/>
              </a:rPr>
              <a:t>Review </a:t>
            </a:r>
            <a:r>
              <a:rPr lang="en-US" altLang="zh-CN" dirty="0">
                <a:ea typeface="等线 Light"/>
              </a:rPr>
              <a:t>- </a:t>
            </a:r>
            <a:r>
              <a:rPr lang="en-US" altLang="zh-CN" dirty="0"/>
              <a:t>CPU Virtualization</a:t>
            </a:r>
            <a:endParaRPr lang="zh-CN" altLang="en-US" dirty="0"/>
          </a:p>
        </p:txBody>
      </p:sp>
      <p:sp>
        <p:nvSpPr>
          <p:cNvPr id="3" name="日期占位符 2">
            <a:extLst>
              <a:ext uri="{FF2B5EF4-FFF2-40B4-BE49-F238E27FC236}">
                <a16:creationId xmlns:a16="http://schemas.microsoft.com/office/drawing/2014/main" id="{091087FA-8F51-2D01-D6E7-6C5D25DF1B19}"/>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C5AAB4E8-32A5-9526-D0D0-171D4C769B9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78561E0C-96D7-9379-F18E-695FD529ED7D}"/>
              </a:ext>
            </a:extLst>
          </p:cNvPr>
          <p:cNvSpPr>
            <a:spLocks noGrp="1"/>
          </p:cNvSpPr>
          <p:nvPr>
            <p:ph type="sldNum" sz="quarter" idx="12"/>
          </p:nvPr>
        </p:nvSpPr>
        <p:spPr/>
        <p:txBody>
          <a:bodyPr/>
          <a:lstStyle/>
          <a:p>
            <a:fld id="{9146477A-3083-4652-9A53-6C94B28E95E9}" type="slidenum">
              <a:rPr lang="en-US" smtClean="0"/>
              <a:t>3</a:t>
            </a:fld>
            <a:endParaRPr lang="en-US"/>
          </a:p>
        </p:txBody>
      </p:sp>
      <p:sp>
        <p:nvSpPr>
          <p:cNvPr id="10" name="文本占位符 5">
            <a:extLst>
              <a:ext uri="{FF2B5EF4-FFF2-40B4-BE49-F238E27FC236}">
                <a16:creationId xmlns:a16="http://schemas.microsoft.com/office/drawing/2014/main" id="{601FDCA4-7529-4D9A-A65D-37A13F744986}"/>
              </a:ext>
            </a:extLst>
          </p:cNvPr>
          <p:cNvSpPr>
            <a:spLocks noGrp="1"/>
          </p:cNvSpPr>
          <p:nvPr>
            <p:ph type="body" idx="1"/>
          </p:nvPr>
        </p:nvSpPr>
        <p:spPr>
          <a:xfrm>
            <a:off x="838200" y="1432335"/>
            <a:ext cx="10515600" cy="4351338"/>
          </a:xfrm>
        </p:spPr>
        <p:txBody>
          <a:bodyPr vert="horz" lIns="91440" tIns="45720" rIns="91440" bIns="45720" rtlCol="0" anchor="t">
            <a:normAutofit fontScale="77500" lnSpcReduction="20000"/>
          </a:bodyPr>
          <a:lstStyle/>
          <a:p>
            <a:pPr marL="0" indent="0">
              <a:lnSpc>
                <a:spcPct val="120000"/>
              </a:lnSpc>
              <a:buNone/>
            </a:pPr>
            <a:r>
              <a:rPr lang="en-US" altLang="zh-CN" sz="2300" dirty="0"/>
              <a:t>How the OS provides the illusion of many CPUs?</a:t>
            </a:r>
          </a:p>
          <a:p>
            <a:pPr>
              <a:lnSpc>
                <a:spcPct val="120000"/>
              </a:lnSpc>
            </a:pPr>
            <a:r>
              <a:rPr lang="en-US" altLang="zh-CN" sz="2300" b="1" dirty="0"/>
              <a:t>Mechanism</a:t>
            </a:r>
            <a:r>
              <a:rPr lang="en-US" altLang="zh-CN" sz="2300" dirty="0"/>
              <a:t>: Limited Direct Execution (LDE). The OS runs programs directly on the CPU but maintains control through hardware-enforced User/Kernel modes and Trap mechanisms (System Calls).</a:t>
            </a:r>
          </a:p>
          <a:p>
            <a:pPr>
              <a:lnSpc>
                <a:spcPct val="120000"/>
              </a:lnSpc>
            </a:pPr>
            <a:r>
              <a:rPr lang="en-US" altLang="zh-CN" sz="2300" b="1" dirty="0"/>
              <a:t>Policy</a:t>
            </a:r>
            <a:r>
              <a:rPr lang="en-US" altLang="zh-CN" sz="2300" dirty="0"/>
              <a:t>: Scheduling. We discussed how to optimize Turnaround Time (SJF, STCF) and Response Time (RR, MLFQ).</a:t>
            </a:r>
          </a:p>
          <a:p>
            <a:pPr marL="0" indent="0">
              <a:lnSpc>
                <a:spcPct val="120000"/>
              </a:lnSpc>
              <a:buNone/>
            </a:pPr>
            <a:endParaRPr lang="en-US" altLang="zh-CN" sz="2300" dirty="0"/>
          </a:p>
          <a:p>
            <a:pPr marL="0" indent="0">
              <a:lnSpc>
                <a:spcPct val="120000"/>
              </a:lnSpc>
              <a:buNone/>
            </a:pPr>
            <a:r>
              <a:rPr lang="en-US" altLang="zh-CN" sz="2300" dirty="0"/>
              <a:t>We successfully virtualized the CPU through time-sharing. Now, what about memory? Saving the entire contents of memory to disk when switching processes is brutally slow.</a:t>
            </a:r>
          </a:p>
          <a:p>
            <a:pPr marL="0" indent="0">
              <a:lnSpc>
                <a:spcPct val="120000"/>
              </a:lnSpc>
              <a:buNone/>
            </a:pPr>
            <a:endParaRPr lang="en-US" altLang="zh-CN" sz="2300" dirty="0"/>
          </a:p>
          <a:p>
            <a:pPr marL="0" indent="0">
              <a:lnSpc>
                <a:spcPct val="120000"/>
              </a:lnSpc>
              <a:buNone/>
            </a:pPr>
            <a:r>
              <a:rPr lang="en-US" altLang="zh-CN" sz="2300" b="1" dirty="0"/>
              <a:t>The Solution: </a:t>
            </a:r>
            <a:r>
              <a:rPr lang="en-US" altLang="zh-CN" sz="2300" dirty="0"/>
              <a:t>Leave multiple processes in memory simultaneously and switch the CPU between them.</a:t>
            </a:r>
            <a:endParaRPr lang="en-US" altLang="zh-CN" sz="2300" b="1" dirty="0"/>
          </a:p>
          <a:p>
            <a:pPr marL="0" indent="0">
              <a:lnSpc>
                <a:spcPct val="110000"/>
              </a:lnSpc>
              <a:buNone/>
            </a:pPr>
            <a:endParaRPr lang="en-US" altLang="zh-CN" dirty="0"/>
          </a:p>
          <a:p>
            <a:pPr marL="0" indent="0">
              <a:lnSpc>
                <a:spcPct val="110000"/>
              </a:lnSpc>
              <a:buNone/>
            </a:pPr>
            <a:endParaRPr lang="en-US" altLang="zh-CN" dirty="0"/>
          </a:p>
          <a:p>
            <a:endParaRPr lang="en-US" altLang="zh-CN" dirty="0">
              <a:ea typeface="等线"/>
            </a:endParaRPr>
          </a:p>
          <a:p>
            <a:endParaRPr lang="en-US" altLang="zh-CN" dirty="0">
              <a:ea typeface="等线"/>
            </a:endParaRPr>
          </a:p>
        </p:txBody>
      </p:sp>
    </p:spTree>
    <p:extLst>
      <p:ext uri="{BB962C8B-B14F-4D97-AF65-F5344CB8AC3E}">
        <p14:creationId xmlns:p14="http://schemas.microsoft.com/office/powerpoint/2010/main" val="303180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8200" y="365125"/>
            <a:ext cx="10195290" cy="1072515"/>
          </a:xfrm>
        </p:spPr>
        <p:txBody>
          <a:bodyPr>
            <a:normAutofit/>
          </a:bodyPr>
          <a:lstStyle/>
          <a:p>
            <a:r>
              <a:rPr lang="en-US" altLang="zh-CN" dirty="0"/>
              <a:t>Recall - Introduction to VM</a:t>
            </a:r>
          </a:p>
        </p:txBody>
      </p:sp>
      <p:sp>
        <p:nvSpPr>
          <p:cNvPr id="6" name="文本占位符 5"/>
          <p:cNvSpPr>
            <a:spLocks noGrp="1"/>
          </p:cNvSpPr>
          <p:nvPr>
            <p:ph type="body" idx="1"/>
          </p:nvPr>
        </p:nvSpPr>
        <p:spPr>
          <a:xfrm>
            <a:off x="838200" y="1432335"/>
            <a:ext cx="10515600" cy="4351338"/>
          </a:xfrm>
        </p:spPr>
        <p:txBody>
          <a:bodyPr vert="horz" lIns="91440" tIns="45720" rIns="91440" bIns="45720" rtlCol="0" anchor="t">
            <a:normAutofit/>
          </a:bodyPr>
          <a:lstStyle/>
          <a:p>
            <a:pPr marL="0" indent="0">
              <a:lnSpc>
                <a:spcPct val="100000"/>
              </a:lnSpc>
              <a:buNone/>
            </a:pPr>
            <a:r>
              <a:rPr lang="en-US" altLang="zh-CN" b="1" dirty="0"/>
              <a:t>Limitations of physical-only memory: </a:t>
            </a:r>
            <a:r>
              <a:rPr lang="en-US" altLang="zh-CN" dirty="0"/>
              <a:t>A program’s size is strictly capped by physical RAM, and multiple running programs can overwrite each other’s data.</a:t>
            </a:r>
          </a:p>
          <a:p>
            <a:pPr marL="0" indent="0">
              <a:lnSpc>
                <a:spcPct val="100000"/>
              </a:lnSpc>
              <a:buNone/>
            </a:pPr>
            <a:r>
              <a:rPr lang="en-US" altLang="zh-CN" b="1" dirty="0"/>
              <a:t>The Goal:</a:t>
            </a:r>
            <a:r>
              <a:rPr lang="en-US" altLang="zh-CN" dirty="0"/>
              <a:t> Extend memory capacity, provide isolation/protection, and simplify programming.</a:t>
            </a:r>
          </a:p>
        </p:txBody>
      </p:sp>
      <p:sp>
        <p:nvSpPr>
          <p:cNvPr id="2" name="日期占位符 1"/>
          <p:cNvSpPr>
            <a:spLocks noGrp="1"/>
          </p:cNvSpPr>
          <p:nvPr>
            <p:ph type="dt" sz="half" idx="10"/>
          </p:nvPr>
        </p:nvSpPr>
        <p:spPr/>
        <p:txBody>
          <a:bodyPr/>
          <a:lstStyle/>
          <a:p>
            <a:fld id="{C779A912-BA0F-455A-9008-30C412343B55}" type="datetime1">
              <a:rPr lang="en-US" smtClean="0"/>
              <a:t>4/20/2026</a:t>
            </a:fld>
            <a:endParaRPr lang="en-US"/>
          </a:p>
        </p:txBody>
      </p:sp>
      <p:sp>
        <p:nvSpPr>
          <p:cNvPr id="3" name="页脚占位符 2"/>
          <p:cNvSpPr>
            <a:spLocks noGrp="1"/>
          </p:cNvSpPr>
          <p:nvPr>
            <p:ph type="ftr" sz="quarter" idx="11"/>
          </p:nvPr>
        </p:nvSpPr>
        <p:spPr/>
        <p:txBody>
          <a:bodyPr/>
          <a:lstStyle/>
          <a:p>
            <a:r>
              <a:rPr lang="en-US">
                <a:sym typeface="+mn-ea"/>
              </a:rPr>
              <a:t>School of AI and Advanced Computing, XJTLU</a:t>
            </a:r>
            <a:endParaRPr lang="en-US"/>
          </a:p>
        </p:txBody>
      </p:sp>
      <p:sp>
        <p:nvSpPr>
          <p:cNvPr id="4" name="灯片编号占位符 3"/>
          <p:cNvSpPr>
            <a:spLocks noGrp="1"/>
          </p:cNvSpPr>
          <p:nvPr>
            <p:ph type="sldNum" sz="quarter" idx="12"/>
          </p:nvPr>
        </p:nvSpPr>
        <p:spPr/>
        <p:txBody>
          <a:bodyPr/>
          <a:lstStyle/>
          <a:p>
            <a:fld id="{9146477A-3083-4652-9A53-6C94B28E95E9}"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2EE3-25C4-F5E7-43FA-F0224B414C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008F2E8-B504-7329-E540-FB95991DFA24}"/>
              </a:ext>
            </a:extLst>
          </p:cNvPr>
          <p:cNvSpPr>
            <a:spLocks noGrp="1"/>
          </p:cNvSpPr>
          <p:nvPr>
            <p:ph type="title"/>
          </p:nvPr>
        </p:nvSpPr>
        <p:spPr/>
        <p:txBody>
          <a:bodyPr/>
          <a:lstStyle/>
          <a:p>
            <a:r>
              <a:rPr lang="en-US" altLang="zh-CN" dirty="0"/>
              <a:t>How To Virtualize Memory?</a:t>
            </a:r>
            <a:endParaRPr lang="zh-CN" altLang="en-US" dirty="0"/>
          </a:p>
        </p:txBody>
      </p:sp>
      <p:sp>
        <p:nvSpPr>
          <p:cNvPr id="3" name="日期占位符 2">
            <a:extLst>
              <a:ext uri="{FF2B5EF4-FFF2-40B4-BE49-F238E27FC236}">
                <a16:creationId xmlns:a16="http://schemas.microsoft.com/office/drawing/2014/main" id="{CF4167FF-79B7-CF3C-F68F-32ACD5610CB2}"/>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FE301959-E9FB-69A0-3630-83F0BE52A657}"/>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68BC8AF2-866E-53D6-197C-5C78E20DC02D}"/>
              </a:ext>
            </a:extLst>
          </p:cNvPr>
          <p:cNvSpPr>
            <a:spLocks noGrp="1"/>
          </p:cNvSpPr>
          <p:nvPr>
            <p:ph type="sldNum" sz="quarter" idx="12"/>
          </p:nvPr>
        </p:nvSpPr>
        <p:spPr/>
        <p:txBody>
          <a:bodyPr/>
          <a:lstStyle/>
          <a:p>
            <a:fld id="{9146477A-3083-4652-9A53-6C94B28E95E9}" type="slidenum">
              <a:rPr lang="en-US" smtClean="0"/>
              <a:t>5</a:t>
            </a:fld>
            <a:endParaRPr lang="en-US"/>
          </a:p>
        </p:txBody>
      </p:sp>
      <p:sp>
        <p:nvSpPr>
          <p:cNvPr id="6" name="文本占位符 5">
            <a:extLst>
              <a:ext uri="{FF2B5EF4-FFF2-40B4-BE49-F238E27FC236}">
                <a16:creationId xmlns:a16="http://schemas.microsoft.com/office/drawing/2014/main" id="{A437403E-A3C0-0690-E054-934F0C179CE5}"/>
              </a:ext>
            </a:extLst>
          </p:cNvPr>
          <p:cNvSpPr>
            <a:spLocks noGrp="1"/>
          </p:cNvSpPr>
          <p:nvPr>
            <p:ph type="body" idx="1"/>
          </p:nvPr>
        </p:nvSpPr>
        <p:spPr>
          <a:xfrm>
            <a:off x="838200" y="1825625"/>
            <a:ext cx="7217421" cy="4351338"/>
          </a:xfrm>
        </p:spPr>
        <p:txBody>
          <a:bodyPr/>
          <a:lstStyle/>
          <a:p>
            <a:r>
              <a:rPr lang="en-US" altLang="zh-CN" dirty="0"/>
              <a:t>How can the OS build this abstraction of a private, </a:t>
            </a:r>
            <a:r>
              <a:rPr lang="en-US" altLang="zh-CN" b="1" dirty="0"/>
              <a:t>potentially large address </a:t>
            </a:r>
            <a:r>
              <a:rPr lang="en-US" altLang="zh-CN" dirty="0"/>
              <a:t>space for </a:t>
            </a:r>
            <a:r>
              <a:rPr lang="en-US" altLang="zh-CN" b="1" dirty="0"/>
              <a:t>multiple running processes </a:t>
            </a:r>
            <a:r>
              <a:rPr lang="en-US" altLang="zh-CN" dirty="0"/>
              <a:t>(all sharing memory) on top of a single, physical memory?</a:t>
            </a:r>
            <a:endParaRPr lang="zh-CN" altLang="en-US" dirty="0"/>
          </a:p>
        </p:txBody>
      </p:sp>
      <p:pic>
        <p:nvPicPr>
          <p:cNvPr id="10" name="图片 9">
            <a:extLst>
              <a:ext uri="{FF2B5EF4-FFF2-40B4-BE49-F238E27FC236}">
                <a16:creationId xmlns:a16="http://schemas.microsoft.com/office/drawing/2014/main" id="{009234A6-BFD3-7FA5-C4F8-DC7D6FB041C7}"/>
              </a:ext>
            </a:extLst>
          </p:cNvPr>
          <p:cNvPicPr>
            <a:picLocks noChangeAspect="1"/>
          </p:cNvPicPr>
          <p:nvPr/>
        </p:nvPicPr>
        <p:blipFill>
          <a:blip r:embed="rId2"/>
          <a:stretch>
            <a:fillRect/>
          </a:stretch>
        </p:blipFill>
        <p:spPr>
          <a:xfrm>
            <a:off x="8456851" y="1160327"/>
            <a:ext cx="2821817" cy="4459218"/>
          </a:xfrm>
          <a:prstGeom prst="rect">
            <a:avLst/>
          </a:prstGeom>
        </p:spPr>
      </p:pic>
    </p:spTree>
    <p:extLst>
      <p:ext uri="{BB962C8B-B14F-4D97-AF65-F5344CB8AC3E}">
        <p14:creationId xmlns:p14="http://schemas.microsoft.com/office/powerpoint/2010/main" val="1804982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612C53-0B57-364C-2566-4DDDFC2F0B1A}"/>
              </a:ext>
            </a:extLst>
          </p:cNvPr>
          <p:cNvSpPr>
            <a:spLocks noGrp="1"/>
          </p:cNvSpPr>
          <p:nvPr>
            <p:ph type="title"/>
          </p:nvPr>
        </p:nvSpPr>
        <p:spPr/>
        <p:txBody>
          <a:bodyPr/>
          <a:lstStyle/>
          <a:p>
            <a:r>
              <a:rPr lang="en-US" altLang="zh-CN" dirty="0"/>
              <a:t>Address Spaces</a:t>
            </a:r>
            <a:endParaRPr lang="zh-CN" altLang="en-US" dirty="0"/>
          </a:p>
        </p:txBody>
      </p:sp>
      <p:sp>
        <p:nvSpPr>
          <p:cNvPr id="3" name="日期占位符 2">
            <a:extLst>
              <a:ext uri="{FF2B5EF4-FFF2-40B4-BE49-F238E27FC236}">
                <a16:creationId xmlns:a16="http://schemas.microsoft.com/office/drawing/2014/main" id="{09CC1A1A-C361-EA21-7231-DDE5F1E84002}"/>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4D726666-7FC8-BF24-5E1A-41CDF3CC4031}"/>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95D42D8D-2F20-13DF-6838-318F198E3134}"/>
              </a:ext>
            </a:extLst>
          </p:cNvPr>
          <p:cNvSpPr>
            <a:spLocks noGrp="1"/>
          </p:cNvSpPr>
          <p:nvPr>
            <p:ph type="sldNum" sz="quarter" idx="12"/>
          </p:nvPr>
        </p:nvSpPr>
        <p:spPr/>
        <p:txBody>
          <a:bodyPr/>
          <a:lstStyle/>
          <a:p>
            <a:fld id="{9146477A-3083-4652-9A53-6C94B28E95E9}" type="slidenum">
              <a:rPr lang="en-US" smtClean="0"/>
              <a:t>6</a:t>
            </a:fld>
            <a:endParaRPr lang="en-US"/>
          </a:p>
        </p:txBody>
      </p:sp>
      <p:sp>
        <p:nvSpPr>
          <p:cNvPr id="6" name="文本占位符 5">
            <a:extLst>
              <a:ext uri="{FF2B5EF4-FFF2-40B4-BE49-F238E27FC236}">
                <a16:creationId xmlns:a16="http://schemas.microsoft.com/office/drawing/2014/main" id="{CCE7F4DB-AA38-7BD7-7580-7085512ED93D}"/>
              </a:ext>
            </a:extLst>
          </p:cNvPr>
          <p:cNvSpPr>
            <a:spLocks noGrp="1"/>
          </p:cNvSpPr>
          <p:nvPr>
            <p:ph type="body" idx="1"/>
          </p:nvPr>
        </p:nvSpPr>
        <p:spPr>
          <a:xfrm>
            <a:off x="838201" y="1825625"/>
            <a:ext cx="7435905" cy="4351338"/>
          </a:xfrm>
        </p:spPr>
        <p:txBody>
          <a:bodyPr>
            <a:normAutofit/>
          </a:bodyPr>
          <a:lstStyle/>
          <a:p>
            <a:pPr>
              <a:lnSpc>
                <a:spcPct val="100000"/>
              </a:lnSpc>
            </a:pPr>
            <a:r>
              <a:rPr lang="en-US" altLang="zh-CN" sz="2400" dirty="0"/>
              <a:t>Doing so requires the OS to create an easy to use abstraction of physical memory.</a:t>
            </a:r>
          </a:p>
          <a:p>
            <a:pPr>
              <a:lnSpc>
                <a:spcPct val="100000"/>
              </a:lnSpc>
            </a:pPr>
            <a:r>
              <a:rPr lang="en-US" altLang="zh-CN" sz="2400" dirty="0"/>
              <a:t>We call this abstraction </a:t>
            </a:r>
            <a:r>
              <a:rPr lang="en-US" altLang="zh-CN" sz="2400" b="1" dirty="0"/>
              <a:t>the address space</a:t>
            </a:r>
            <a:r>
              <a:rPr lang="en-US" altLang="zh-CN" sz="2400" dirty="0"/>
              <a:t>, and it is the running program's view of memory in the system.</a:t>
            </a:r>
          </a:p>
          <a:p>
            <a:pPr>
              <a:lnSpc>
                <a:spcPct val="100000"/>
              </a:lnSpc>
            </a:pPr>
            <a:r>
              <a:rPr lang="en-US" altLang="zh-CN" sz="2400" dirty="0"/>
              <a:t>The address space of a process contains all of the memory state of the running program.</a:t>
            </a:r>
          </a:p>
          <a:p>
            <a:pPr>
              <a:lnSpc>
                <a:spcPct val="100000"/>
              </a:lnSpc>
            </a:pPr>
            <a:r>
              <a:rPr lang="en-US" altLang="zh-CN" sz="2400" dirty="0"/>
              <a:t>The program thinks it is loaded into memory at a particular address (say 0), but the reality is quite different.</a:t>
            </a:r>
            <a:endParaRPr lang="zh-CN" altLang="en-US" sz="2400" dirty="0"/>
          </a:p>
        </p:txBody>
      </p:sp>
      <p:pic>
        <p:nvPicPr>
          <p:cNvPr id="9" name="图片 8">
            <a:extLst>
              <a:ext uri="{FF2B5EF4-FFF2-40B4-BE49-F238E27FC236}">
                <a16:creationId xmlns:a16="http://schemas.microsoft.com/office/drawing/2014/main" id="{2FF62961-A471-9A05-CE8C-9898DC6E73EF}"/>
              </a:ext>
            </a:extLst>
          </p:cNvPr>
          <p:cNvPicPr>
            <a:picLocks noChangeAspect="1"/>
          </p:cNvPicPr>
          <p:nvPr/>
        </p:nvPicPr>
        <p:blipFill>
          <a:blip r:embed="rId2"/>
          <a:stretch>
            <a:fillRect/>
          </a:stretch>
        </p:blipFill>
        <p:spPr>
          <a:xfrm>
            <a:off x="8303020" y="1064102"/>
            <a:ext cx="3521331" cy="4001512"/>
          </a:xfrm>
          <a:prstGeom prst="rect">
            <a:avLst/>
          </a:prstGeom>
        </p:spPr>
      </p:pic>
    </p:spTree>
    <p:extLst>
      <p:ext uri="{BB962C8B-B14F-4D97-AF65-F5344CB8AC3E}">
        <p14:creationId xmlns:p14="http://schemas.microsoft.com/office/powerpoint/2010/main" val="2392535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42AA3-A9D5-A171-FC74-5B112C7FB4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19EBEF-9012-7CA0-3CC0-5611EA605DE0}"/>
              </a:ext>
            </a:extLst>
          </p:cNvPr>
          <p:cNvSpPr>
            <a:spLocks noGrp="1"/>
          </p:cNvSpPr>
          <p:nvPr>
            <p:ph type="title"/>
          </p:nvPr>
        </p:nvSpPr>
        <p:spPr/>
        <p:txBody>
          <a:bodyPr/>
          <a:lstStyle/>
          <a:p>
            <a:r>
              <a:rPr lang="en-US" altLang="zh-CN" dirty="0"/>
              <a:t>Address Spaces</a:t>
            </a:r>
            <a:endParaRPr lang="zh-CN" altLang="en-US" dirty="0"/>
          </a:p>
        </p:txBody>
      </p:sp>
      <p:sp>
        <p:nvSpPr>
          <p:cNvPr id="3" name="日期占位符 2">
            <a:extLst>
              <a:ext uri="{FF2B5EF4-FFF2-40B4-BE49-F238E27FC236}">
                <a16:creationId xmlns:a16="http://schemas.microsoft.com/office/drawing/2014/main" id="{D2475B7C-CE7A-659B-78D4-DFA278C9B4AF}"/>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471D578B-97AD-3014-6DB1-60E63978AD15}"/>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C34F79F8-F28F-11BB-8E3E-B5D2B4F65871}"/>
              </a:ext>
            </a:extLst>
          </p:cNvPr>
          <p:cNvSpPr>
            <a:spLocks noGrp="1"/>
          </p:cNvSpPr>
          <p:nvPr>
            <p:ph type="sldNum" sz="quarter" idx="12"/>
          </p:nvPr>
        </p:nvSpPr>
        <p:spPr/>
        <p:txBody>
          <a:bodyPr/>
          <a:lstStyle/>
          <a:p>
            <a:fld id="{9146477A-3083-4652-9A53-6C94B28E95E9}" type="slidenum">
              <a:rPr lang="en-US" smtClean="0"/>
              <a:t>7</a:t>
            </a:fld>
            <a:endParaRPr lang="en-US"/>
          </a:p>
        </p:txBody>
      </p:sp>
      <p:sp>
        <p:nvSpPr>
          <p:cNvPr id="6" name="文本占位符 5">
            <a:extLst>
              <a:ext uri="{FF2B5EF4-FFF2-40B4-BE49-F238E27FC236}">
                <a16:creationId xmlns:a16="http://schemas.microsoft.com/office/drawing/2014/main" id="{A7EE936C-57F6-2392-231E-C5D2AA84E15A}"/>
              </a:ext>
            </a:extLst>
          </p:cNvPr>
          <p:cNvSpPr>
            <a:spLocks noGrp="1"/>
          </p:cNvSpPr>
          <p:nvPr>
            <p:ph type="body" idx="1"/>
          </p:nvPr>
        </p:nvSpPr>
        <p:spPr>
          <a:xfrm>
            <a:off x="838201" y="1825625"/>
            <a:ext cx="7435905" cy="4351338"/>
          </a:xfrm>
        </p:spPr>
        <p:txBody>
          <a:bodyPr>
            <a:normAutofit/>
          </a:bodyPr>
          <a:lstStyle/>
          <a:p>
            <a:pPr>
              <a:lnSpc>
                <a:spcPct val="110000"/>
              </a:lnSpc>
            </a:pPr>
            <a:r>
              <a:rPr lang="en-US" altLang="zh-CN" sz="2000" b="1" dirty="0"/>
              <a:t>Program Code: </a:t>
            </a:r>
            <a:r>
              <a:rPr lang="en-US" altLang="zh-CN" sz="2000" dirty="0"/>
              <a:t>Where instructions live. Placed at the top of the address space because it is static and won't need more space.</a:t>
            </a:r>
          </a:p>
          <a:p>
            <a:pPr>
              <a:lnSpc>
                <a:spcPct val="110000"/>
              </a:lnSpc>
            </a:pPr>
            <a:r>
              <a:rPr lang="en-US" altLang="zh-CN" sz="2000" b="1" dirty="0"/>
              <a:t>Heap: </a:t>
            </a:r>
            <a:r>
              <a:rPr lang="en-US" altLang="zh-CN" sz="2000" dirty="0"/>
              <a:t>Used for dynamically-allocated, user-managed memory (e.g., malloc()). It starts just after the code and grows downward.</a:t>
            </a:r>
          </a:p>
          <a:p>
            <a:pPr>
              <a:lnSpc>
                <a:spcPct val="110000"/>
              </a:lnSpc>
            </a:pPr>
            <a:r>
              <a:rPr lang="en-US" altLang="zh-CN" sz="2000" b="1" dirty="0"/>
              <a:t>Stack: </a:t>
            </a:r>
            <a:r>
              <a:rPr lang="en-US" altLang="zh-CN" sz="2000" dirty="0"/>
              <a:t>Used to keep track of function calls, local variables, and return values. It starts at the bottom and grows upward.</a:t>
            </a:r>
          </a:p>
          <a:p>
            <a:pPr>
              <a:lnSpc>
                <a:spcPct val="110000"/>
              </a:lnSpc>
            </a:pPr>
            <a:r>
              <a:rPr lang="en-US" altLang="zh-CN" sz="2000" b="1" dirty="0"/>
              <a:t>Note: </a:t>
            </a:r>
            <a:r>
              <a:rPr lang="en-US" altLang="zh-CN" sz="2000" dirty="0"/>
              <a:t>Any address you can see as a programmer (e.g., printing a pointer) is a virtual address, not the physical truth.</a:t>
            </a:r>
          </a:p>
        </p:txBody>
      </p:sp>
      <p:pic>
        <p:nvPicPr>
          <p:cNvPr id="9" name="图片 8">
            <a:extLst>
              <a:ext uri="{FF2B5EF4-FFF2-40B4-BE49-F238E27FC236}">
                <a16:creationId xmlns:a16="http://schemas.microsoft.com/office/drawing/2014/main" id="{CC1B0524-1246-BCD2-DCC2-7C5A8905455A}"/>
              </a:ext>
            </a:extLst>
          </p:cNvPr>
          <p:cNvPicPr>
            <a:picLocks noChangeAspect="1"/>
          </p:cNvPicPr>
          <p:nvPr/>
        </p:nvPicPr>
        <p:blipFill>
          <a:blip r:embed="rId2"/>
          <a:stretch>
            <a:fillRect/>
          </a:stretch>
        </p:blipFill>
        <p:spPr>
          <a:xfrm>
            <a:off x="8303020" y="1064102"/>
            <a:ext cx="3521331" cy="4001512"/>
          </a:xfrm>
          <a:prstGeom prst="rect">
            <a:avLst/>
          </a:prstGeom>
        </p:spPr>
      </p:pic>
    </p:spTree>
    <p:extLst>
      <p:ext uri="{BB962C8B-B14F-4D97-AF65-F5344CB8AC3E}">
        <p14:creationId xmlns:p14="http://schemas.microsoft.com/office/powerpoint/2010/main" val="3520133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5891-500F-304D-4345-E084DEB666D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A57AC4-10FE-8B6D-1782-C38B350D8465}"/>
              </a:ext>
            </a:extLst>
          </p:cNvPr>
          <p:cNvSpPr>
            <a:spLocks noGrp="1"/>
          </p:cNvSpPr>
          <p:nvPr>
            <p:ph type="title"/>
          </p:nvPr>
        </p:nvSpPr>
        <p:spPr/>
        <p:txBody>
          <a:bodyPr>
            <a:normAutofit/>
          </a:bodyPr>
          <a:lstStyle/>
          <a:p>
            <a:r>
              <a:rPr lang="en-US" altLang="zh-CN" dirty="0"/>
              <a:t>Virtualize Memory</a:t>
            </a:r>
            <a:endParaRPr lang="zh-CN" altLang="en-US" dirty="0"/>
          </a:p>
        </p:txBody>
      </p:sp>
      <p:sp>
        <p:nvSpPr>
          <p:cNvPr id="3" name="日期占位符 2">
            <a:extLst>
              <a:ext uri="{FF2B5EF4-FFF2-40B4-BE49-F238E27FC236}">
                <a16:creationId xmlns:a16="http://schemas.microsoft.com/office/drawing/2014/main" id="{4171AEC3-BF02-2DDA-EDC4-943F7EE9950C}"/>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443B4478-7EA5-59FC-28A1-485BD731DF42}"/>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8699546-C01F-993B-E4DD-95E852914923}"/>
              </a:ext>
            </a:extLst>
          </p:cNvPr>
          <p:cNvSpPr>
            <a:spLocks noGrp="1"/>
          </p:cNvSpPr>
          <p:nvPr>
            <p:ph type="sldNum" sz="quarter" idx="12"/>
          </p:nvPr>
        </p:nvSpPr>
        <p:spPr/>
        <p:txBody>
          <a:bodyPr/>
          <a:lstStyle/>
          <a:p>
            <a:fld id="{9146477A-3083-4652-9A53-6C94B28E95E9}" type="slidenum">
              <a:rPr lang="en-US" smtClean="0"/>
              <a:t>8</a:t>
            </a:fld>
            <a:endParaRPr lang="en-US"/>
          </a:p>
        </p:txBody>
      </p:sp>
      <p:pic>
        <p:nvPicPr>
          <p:cNvPr id="7" name="图片 6">
            <a:extLst>
              <a:ext uri="{FF2B5EF4-FFF2-40B4-BE49-F238E27FC236}">
                <a16:creationId xmlns:a16="http://schemas.microsoft.com/office/drawing/2014/main" id="{4D13DB71-2297-99C0-56DE-5DCB6816BF67}"/>
              </a:ext>
            </a:extLst>
          </p:cNvPr>
          <p:cNvPicPr>
            <a:picLocks noChangeAspect="1"/>
          </p:cNvPicPr>
          <p:nvPr/>
        </p:nvPicPr>
        <p:blipFill>
          <a:blip r:embed="rId2"/>
          <a:stretch>
            <a:fillRect/>
          </a:stretch>
        </p:blipFill>
        <p:spPr>
          <a:xfrm>
            <a:off x="6998874" y="1437640"/>
            <a:ext cx="2821817" cy="4459218"/>
          </a:xfrm>
          <a:prstGeom prst="rect">
            <a:avLst/>
          </a:prstGeom>
        </p:spPr>
      </p:pic>
      <p:pic>
        <p:nvPicPr>
          <p:cNvPr id="8" name="图片 7">
            <a:extLst>
              <a:ext uri="{FF2B5EF4-FFF2-40B4-BE49-F238E27FC236}">
                <a16:creationId xmlns:a16="http://schemas.microsoft.com/office/drawing/2014/main" id="{4299E9CC-9F88-3511-11E4-09FE9EAACC9D}"/>
              </a:ext>
            </a:extLst>
          </p:cNvPr>
          <p:cNvPicPr>
            <a:picLocks noChangeAspect="1"/>
          </p:cNvPicPr>
          <p:nvPr/>
        </p:nvPicPr>
        <p:blipFill>
          <a:blip r:embed="rId3"/>
          <a:stretch>
            <a:fillRect/>
          </a:stretch>
        </p:blipFill>
        <p:spPr>
          <a:xfrm>
            <a:off x="1380887" y="1825625"/>
            <a:ext cx="3521331" cy="4001512"/>
          </a:xfrm>
          <a:prstGeom prst="rect">
            <a:avLst/>
          </a:prstGeom>
        </p:spPr>
      </p:pic>
    </p:spTree>
    <p:extLst>
      <p:ext uri="{BB962C8B-B14F-4D97-AF65-F5344CB8AC3E}">
        <p14:creationId xmlns:p14="http://schemas.microsoft.com/office/powerpoint/2010/main" val="141657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3A9BE-EF60-EF69-545B-527A60A223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13D078-A9AE-6678-54AB-F53DED736091}"/>
              </a:ext>
            </a:extLst>
          </p:cNvPr>
          <p:cNvSpPr>
            <a:spLocks noGrp="1"/>
          </p:cNvSpPr>
          <p:nvPr>
            <p:ph type="title"/>
          </p:nvPr>
        </p:nvSpPr>
        <p:spPr/>
        <p:txBody>
          <a:bodyPr/>
          <a:lstStyle/>
          <a:p>
            <a:r>
              <a:rPr lang="en-US" altLang="zh-CN" dirty="0"/>
              <a:t>Goals of Virtual Memory</a:t>
            </a:r>
            <a:endParaRPr lang="zh-CN" altLang="en-US" dirty="0"/>
          </a:p>
        </p:txBody>
      </p:sp>
      <p:sp>
        <p:nvSpPr>
          <p:cNvPr id="3" name="日期占位符 2">
            <a:extLst>
              <a:ext uri="{FF2B5EF4-FFF2-40B4-BE49-F238E27FC236}">
                <a16:creationId xmlns:a16="http://schemas.microsoft.com/office/drawing/2014/main" id="{7C443745-AE63-4916-C4D8-103DB9D9E7F7}"/>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D734DD02-7899-E779-A5DE-979EEDCE2A88}"/>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C34B8013-F752-CCCF-9072-16621D3F525C}"/>
              </a:ext>
            </a:extLst>
          </p:cNvPr>
          <p:cNvSpPr>
            <a:spLocks noGrp="1"/>
          </p:cNvSpPr>
          <p:nvPr>
            <p:ph type="sldNum" sz="quarter" idx="12"/>
          </p:nvPr>
        </p:nvSpPr>
        <p:spPr/>
        <p:txBody>
          <a:bodyPr/>
          <a:lstStyle/>
          <a:p>
            <a:fld id="{9146477A-3083-4652-9A53-6C94B28E95E9}" type="slidenum">
              <a:rPr lang="en-US" smtClean="0"/>
              <a:t>9</a:t>
            </a:fld>
            <a:endParaRPr lang="en-US"/>
          </a:p>
        </p:txBody>
      </p:sp>
      <p:sp>
        <p:nvSpPr>
          <p:cNvPr id="6" name="文本占位符 5">
            <a:extLst>
              <a:ext uri="{FF2B5EF4-FFF2-40B4-BE49-F238E27FC236}">
                <a16:creationId xmlns:a16="http://schemas.microsoft.com/office/drawing/2014/main" id="{0A13561A-A40F-8A57-8D45-692B8EC07154}"/>
              </a:ext>
            </a:extLst>
          </p:cNvPr>
          <p:cNvSpPr>
            <a:spLocks noGrp="1"/>
          </p:cNvSpPr>
          <p:nvPr>
            <p:ph type="body" idx="1"/>
          </p:nvPr>
        </p:nvSpPr>
        <p:spPr/>
        <p:txBody>
          <a:bodyPr>
            <a:normAutofit fontScale="92500" lnSpcReduction="20000"/>
          </a:bodyPr>
          <a:lstStyle/>
          <a:p>
            <a:pPr>
              <a:lnSpc>
                <a:spcPct val="110000"/>
              </a:lnSpc>
            </a:pPr>
            <a:r>
              <a:rPr lang="en-US" altLang="zh-CN" b="1" dirty="0"/>
              <a:t>Transparency</a:t>
            </a:r>
            <a:r>
              <a:rPr lang="en-US" altLang="zh-CN" dirty="0"/>
              <a:t>: The OS should implement virtual memory in a way that is invisible to the running program.</a:t>
            </a:r>
          </a:p>
          <a:p>
            <a:pPr>
              <a:lnSpc>
                <a:spcPct val="110000"/>
              </a:lnSpc>
            </a:pPr>
            <a:endParaRPr lang="en-US" altLang="zh-CN" dirty="0"/>
          </a:p>
          <a:p>
            <a:pPr>
              <a:lnSpc>
                <a:spcPct val="110000"/>
              </a:lnSpc>
            </a:pPr>
            <a:r>
              <a:rPr lang="en-US" altLang="zh-CN" b="1" dirty="0"/>
              <a:t>Efficiency</a:t>
            </a:r>
            <a:r>
              <a:rPr lang="en-US" altLang="zh-CN" dirty="0"/>
              <a:t>: Make virtualization time-efficient (relying on hardware support) and space-efficient (not using too much memory for OS structures).</a:t>
            </a:r>
          </a:p>
          <a:p>
            <a:pPr>
              <a:lnSpc>
                <a:spcPct val="110000"/>
              </a:lnSpc>
            </a:pPr>
            <a:endParaRPr lang="en-US" altLang="zh-CN" dirty="0"/>
          </a:p>
          <a:p>
            <a:pPr>
              <a:lnSpc>
                <a:spcPct val="110000"/>
              </a:lnSpc>
            </a:pPr>
            <a:r>
              <a:rPr lang="en-US" altLang="zh-CN" b="1" dirty="0"/>
              <a:t>Protection (Isolation): </a:t>
            </a:r>
            <a:r>
              <a:rPr lang="en-US" altLang="zh-CN" dirty="0"/>
              <a:t>Protect processes from one another and the OS itself from processes. A process should only be able to access its own address space.</a:t>
            </a:r>
            <a:endParaRPr lang="zh-CN" altLang="en-US" dirty="0"/>
          </a:p>
        </p:txBody>
      </p:sp>
    </p:spTree>
    <p:extLst>
      <p:ext uri="{BB962C8B-B14F-4D97-AF65-F5344CB8AC3E}">
        <p14:creationId xmlns:p14="http://schemas.microsoft.com/office/powerpoint/2010/main" val="3213342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442046-789A-7216-876B-A26150CAEA57}"/>
              </a:ext>
            </a:extLst>
          </p:cNvPr>
          <p:cNvSpPr>
            <a:spLocks noGrp="1"/>
          </p:cNvSpPr>
          <p:nvPr>
            <p:ph type="title"/>
          </p:nvPr>
        </p:nvSpPr>
        <p:spPr/>
        <p:txBody>
          <a:bodyPr/>
          <a:lstStyle/>
          <a:p>
            <a:r>
              <a:rPr lang="en-US" altLang="zh-CN" dirty="0"/>
              <a:t>Example</a:t>
            </a:r>
            <a:endParaRPr lang="zh-CN" altLang="en-US" dirty="0"/>
          </a:p>
        </p:txBody>
      </p:sp>
      <p:sp>
        <p:nvSpPr>
          <p:cNvPr id="3" name="日期占位符 2">
            <a:extLst>
              <a:ext uri="{FF2B5EF4-FFF2-40B4-BE49-F238E27FC236}">
                <a16:creationId xmlns:a16="http://schemas.microsoft.com/office/drawing/2014/main" id="{92BB16D8-F843-DD7C-87A7-E1A4EC1E4C41}"/>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AE2C516E-3FB1-D79D-494E-85A4E1A8248A}"/>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84DEE045-AEFE-302A-144E-9E15B9E6E207}"/>
              </a:ext>
            </a:extLst>
          </p:cNvPr>
          <p:cNvSpPr>
            <a:spLocks noGrp="1"/>
          </p:cNvSpPr>
          <p:nvPr>
            <p:ph type="sldNum" sz="quarter" idx="12"/>
          </p:nvPr>
        </p:nvSpPr>
        <p:spPr/>
        <p:txBody>
          <a:bodyPr/>
          <a:lstStyle/>
          <a:p>
            <a:fld id="{9146477A-3083-4652-9A53-6C94B28E95E9}" type="slidenum">
              <a:rPr lang="en-US" smtClean="0"/>
              <a:t>10</a:t>
            </a:fld>
            <a:endParaRPr lang="en-US"/>
          </a:p>
        </p:txBody>
      </p:sp>
      <p:sp>
        <p:nvSpPr>
          <p:cNvPr id="6" name="文本占位符 5">
            <a:extLst>
              <a:ext uri="{FF2B5EF4-FFF2-40B4-BE49-F238E27FC236}">
                <a16:creationId xmlns:a16="http://schemas.microsoft.com/office/drawing/2014/main" id="{02C75769-8C2B-4651-ED96-749C1D3690AD}"/>
              </a:ext>
            </a:extLst>
          </p:cNvPr>
          <p:cNvSpPr>
            <a:spLocks noGrp="1"/>
          </p:cNvSpPr>
          <p:nvPr>
            <p:ph type="body" idx="1"/>
          </p:nvPr>
        </p:nvSpPr>
        <p:spPr/>
        <p:txBody>
          <a:bodyPr/>
          <a:lstStyle/>
          <a:p>
            <a:pPr marL="0" indent="0">
              <a:buNone/>
            </a:pPr>
            <a:r>
              <a:rPr lang="en-US" altLang="zh-CN" b="1" dirty="0"/>
              <a:t>C code:</a:t>
            </a:r>
          </a:p>
          <a:p>
            <a:pPr marL="457200" lvl="1" indent="0">
              <a:buNone/>
            </a:pPr>
            <a:r>
              <a:rPr lang="en-US" altLang="zh-CN" dirty="0">
                <a:highlight>
                  <a:srgbClr val="C0C0C0"/>
                </a:highlight>
              </a:rPr>
              <a:t>int x = 3000; </a:t>
            </a:r>
          </a:p>
          <a:p>
            <a:pPr marL="457200" lvl="1" indent="0">
              <a:buNone/>
            </a:pPr>
            <a:r>
              <a:rPr lang="en-US" altLang="zh-CN" dirty="0">
                <a:highlight>
                  <a:srgbClr val="C0C0C0"/>
                </a:highlight>
              </a:rPr>
              <a:t>x = x + 3; </a:t>
            </a:r>
          </a:p>
          <a:p>
            <a:pPr marL="457200" lvl="1" indent="0">
              <a:buNone/>
            </a:pPr>
            <a:endParaRPr lang="en-US" altLang="zh-CN" dirty="0">
              <a:highlight>
                <a:srgbClr val="C0C0C0"/>
              </a:highlight>
            </a:endParaRPr>
          </a:p>
          <a:p>
            <a:pPr marL="0" indent="0">
              <a:buNone/>
            </a:pPr>
            <a:r>
              <a:rPr lang="en-US" altLang="zh-CN" b="1" dirty="0"/>
              <a:t>Assembly (x86):</a:t>
            </a:r>
            <a:endParaRPr lang="en-US" altLang="zh-CN" dirty="0"/>
          </a:p>
          <a:p>
            <a:pPr lvl="1"/>
            <a:r>
              <a:rPr lang="en-US" altLang="zh-CN" dirty="0"/>
              <a:t>128: </a:t>
            </a:r>
            <a:r>
              <a:rPr lang="en-US" altLang="zh-CN" dirty="0" err="1"/>
              <a:t>movl</a:t>
            </a:r>
            <a:r>
              <a:rPr lang="en-US" altLang="zh-CN" dirty="0"/>
              <a:t> 0x0(%</a:t>
            </a:r>
            <a:r>
              <a:rPr lang="en-US" altLang="zh-CN" dirty="0" err="1"/>
              <a:t>ebx</a:t>
            </a:r>
            <a:r>
              <a:rPr lang="en-US" altLang="zh-CN" dirty="0"/>
              <a:t>), %</a:t>
            </a:r>
            <a:r>
              <a:rPr lang="en-US" altLang="zh-CN" dirty="0" err="1"/>
              <a:t>eax</a:t>
            </a:r>
            <a:r>
              <a:rPr lang="en-US" altLang="zh-CN" dirty="0"/>
              <a:t> ; load value of x into register </a:t>
            </a:r>
            <a:r>
              <a:rPr lang="en-US" altLang="zh-CN" dirty="0" err="1"/>
              <a:t>eax</a:t>
            </a:r>
            <a:r>
              <a:rPr lang="en-US" altLang="zh-CN" dirty="0"/>
              <a:t>.</a:t>
            </a:r>
          </a:p>
          <a:p>
            <a:pPr lvl="1"/>
            <a:r>
              <a:rPr lang="en-US" altLang="zh-CN" dirty="0"/>
              <a:t>132: </a:t>
            </a:r>
            <a:r>
              <a:rPr lang="en-US" altLang="zh-CN" dirty="0" err="1"/>
              <a:t>addl</a:t>
            </a:r>
            <a:r>
              <a:rPr lang="en-US" altLang="zh-CN" dirty="0"/>
              <a:t> $0x03, %</a:t>
            </a:r>
            <a:r>
              <a:rPr lang="en-US" altLang="zh-CN" dirty="0" err="1"/>
              <a:t>eax</a:t>
            </a:r>
            <a:r>
              <a:rPr lang="en-US" altLang="zh-CN" dirty="0"/>
              <a:t> ; add 3 to </a:t>
            </a:r>
            <a:r>
              <a:rPr lang="en-US" altLang="zh-CN" dirty="0" err="1"/>
              <a:t>eax</a:t>
            </a:r>
            <a:r>
              <a:rPr lang="en-US" altLang="zh-CN" dirty="0"/>
              <a:t> register.</a:t>
            </a:r>
          </a:p>
          <a:p>
            <a:pPr lvl="1"/>
            <a:r>
              <a:rPr lang="en-US" altLang="zh-CN" dirty="0"/>
              <a:t>135: </a:t>
            </a:r>
            <a:r>
              <a:rPr lang="en-US" altLang="zh-CN" dirty="0" err="1"/>
              <a:t>movl</a:t>
            </a:r>
            <a:r>
              <a:rPr lang="en-US" altLang="zh-CN" dirty="0"/>
              <a:t> %</a:t>
            </a:r>
            <a:r>
              <a:rPr lang="en-US" altLang="zh-CN" dirty="0" err="1"/>
              <a:t>eax</a:t>
            </a:r>
            <a:r>
              <a:rPr lang="en-US" altLang="zh-CN" dirty="0"/>
              <a:t>, 0x0(%</a:t>
            </a:r>
            <a:r>
              <a:rPr lang="en-US" altLang="zh-CN" dirty="0" err="1"/>
              <a:t>ebx</a:t>
            </a:r>
            <a:r>
              <a:rPr lang="en-US" altLang="zh-CN" dirty="0"/>
              <a:t>) ; store </a:t>
            </a:r>
            <a:r>
              <a:rPr lang="en-US" altLang="zh-CN" dirty="0" err="1"/>
              <a:t>eax</a:t>
            </a:r>
            <a:r>
              <a:rPr lang="en-US" altLang="zh-CN" dirty="0"/>
              <a:t> back to memory.</a:t>
            </a:r>
          </a:p>
          <a:p>
            <a:pPr marL="0" indent="0">
              <a:buNone/>
            </a:pPr>
            <a:endParaRPr lang="en-US" altLang="zh-CN" dirty="0">
              <a:highlight>
                <a:srgbClr val="C0C0C0"/>
              </a:highlight>
            </a:endParaRPr>
          </a:p>
        </p:txBody>
      </p:sp>
    </p:spTree>
    <p:extLst>
      <p:ext uri="{BB962C8B-B14F-4D97-AF65-F5344CB8AC3E}">
        <p14:creationId xmlns:p14="http://schemas.microsoft.com/office/powerpoint/2010/main" val="27940039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75212F-EF60-CB35-63DF-C42976476040}"/>
              </a:ext>
            </a:extLst>
          </p:cNvPr>
          <p:cNvSpPr>
            <a:spLocks noGrp="1"/>
          </p:cNvSpPr>
          <p:nvPr>
            <p:ph type="title"/>
          </p:nvPr>
        </p:nvSpPr>
        <p:spPr/>
        <p:txBody>
          <a:bodyPr/>
          <a:lstStyle/>
          <a:p>
            <a:r>
              <a:rPr lang="en-US" altLang="zh-CN" dirty="0"/>
              <a:t>Example</a:t>
            </a:r>
            <a:endParaRPr lang="zh-CN" altLang="en-US" dirty="0"/>
          </a:p>
        </p:txBody>
      </p:sp>
      <p:sp>
        <p:nvSpPr>
          <p:cNvPr id="3" name="日期占位符 2">
            <a:extLst>
              <a:ext uri="{FF2B5EF4-FFF2-40B4-BE49-F238E27FC236}">
                <a16:creationId xmlns:a16="http://schemas.microsoft.com/office/drawing/2014/main" id="{C7B8557C-50E9-3F43-BF37-9E8AF6EED358}"/>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31FF2A2B-6D82-A579-747E-1635F9B8EB5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9FF26B3A-5A1E-7626-957D-DF5A8543D9F2}"/>
              </a:ext>
            </a:extLst>
          </p:cNvPr>
          <p:cNvSpPr>
            <a:spLocks noGrp="1"/>
          </p:cNvSpPr>
          <p:nvPr>
            <p:ph type="sldNum" sz="quarter" idx="12"/>
          </p:nvPr>
        </p:nvSpPr>
        <p:spPr/>
        <p:txBody>
          <a:bodyPr/>
          <a:lstStyle/>
          <a:p>
            <a:fld id="{9146477A-3083-4652-9A53-6C94B28E95E9}" type="slidenum">
              <a:rPr lang="en-US" smtClean="0"/>
              <a:t>11</a:t>
            </a:fld>
            <a:endParaRPr lang="en-US"/>
          </a:p>
        </p:txBody>
      </p:sp>
      <p:sp>
        <p:nvSpPr>
          <p:cNvPr id="6" name="文本占位符 5">
            <a:extLst>
              <a:ext uri="{FF2B5EF4-FFF2-40B4-BE49-F238E27FC236}">
                <a16:creationId xmlns:a16="http://schemas.microsoft.com/office/drawing/2014/main" id="{5E5F5DE8-A3A8-7F0E-A39B-2CCCD5E6C339}"/>
              </a:ext>
            </a:extLst>
          </p:cNvPr>
          <p:cNvSpPr>
            <a:spLocks noGrp="1"/>
          </p:cNvSpPr>
          <p:nvPr>
            <p:ph type="body" idx="1"/>
          </p:nvPr>
        </p:nvSpPr>
        <p:spPr>
          <a:xfrm>
            <a:off x="838200" y="1825625"/>
            <a:ext cx="6533644" cy="4351338"/>
          </a:xfrm>
        </p:spPr>
        <p:txBody>
          <a:bodyPr>
            <a:normAutofit/>
          </a:bodyPr>
          <a:lstStyle/>
          <a:p>
            <a:r>
              <a:rPr lang="en-US" altLang="zh-CN" sz="2000" dirty="0"/>
              <a:t>From the program's perspective, its address space starts at address 0 and grows to 16 KB.</a:t>
            </a:r>
          </a:p>
          <a:p>
            <a:r>
              <a:rPr lang="en-US" altLang="zh-CN" sz="2000" dirty="0"/>
              <a:t>When these instructions run, the following memory accesses take place:</a:t>
            </a:r>
          </a:p>
          <a:p>
            <a:pPr lvl="1"/>
            <a:r>
              <a:rPr lang="en-US" altLang="zh-CN" sz="1800" dirty="0"/>
              <a:t>Fetch instruction at address 128.</a:t>
            </a:r>
          </a:p>
          <a:p>
            <a:pPr lvl="1"/>
            <a:r>
              <a:rPr lang="en-US" altLang="zh-CN" sz="1800" dirty="0"/>
              <a:t>Execute this instruction (load from address 15 KB).</a:t>
            </a:r>
          </a:p>
          <a:p>
            <a:pPr lvl="1"/>
            <a:r>
              <a:rPr lang="en-US" altLang="zh-CN" sz="1800" dirty="0"/>
              <a:t>Fetch instruction at address 132 (no memory reference).</a:t>
            </a:r>
          </a:p>
          <a:p>
            <a:pPr lvl="1"/>
            <a:r>
              <a:rPr lang="en-US" altLang="zh-CN" sz="1800" dirty="0"/>
              <a:t>Fetch the instruction at address 135.</a:t>
            </a:r>
          </a:p>
          <a:p>
            <a:pPr lvl="1"/>
            <a:r>
              <a:rPr lang="en-US" altLang="zh-CN" sz="1800" dirty="0"/>
              <a:t>Execute this instruction (store to address 15 KB).</a:t>
            </a:r>
            <a:endParaRPr lang="zh-CN" altLang="en-US" sz="1800" dirty="0"/>
          </a:p>
        </p:txBody>
      </p:sp>
      <p:pic>
        <p:nvPicPr>
          <p:cNvPr id="9" name="图片 8">
            <a:extLst>
              <a:ext uri="{FF2B5EF4-FFF2-40B4-BE49-F238E27FC236}">
                <a16:creationId xmlns:a16="http://schemas.microsoft.com/office/drawing/2014/main" id="{E128A395-1B56-AD90-BB32-4B37EC863928}"/>
              </a:ext>
            </a:extLst>
          </p:cNvPr>
          <p:cNvPicPr>
            <a:picLocks noChangeAspect="1"/>
          </p:cNvPicPr>
          <p:nvPr/>
        </p:nvPicPr>
        <p:blipFill>
          <a:blip r:embed="rId2"/>
          <a:stretch>
            <a:fillRect/>
          </a:stretch>
        </p:blipFill>
        <p:spPr>
          <a:xfrm>
            <a:off x="7574146" y="519146"/>
            <a:ext cx="2390078" cy="5819707"/>
          </a:xfrm>
          <a:prstGeom prst="rect">
            <a:avLst/>
          </a:prstGeom>
        </p:spPr>
      </p:pic>
    </p:spTree>
    <p:extLst>
      <p:ext uri="{BB962C8B-B14F-4D97-AF65-F5344CB8AC3E}">
        <p14:creationId xmlns:p14="http://schemas.microsoft.com/office/powerpoint/2010/main" val="1418440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F5CA3-31B6-BDC0-FAF9-86A35EF82A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0BD2D15-D6E5-7A11-C9C6-EBF9E968F8F3}"/>
              </a:ext>
            </a:extLst>
          </p:cNvPr>
          <p:cNvSpPr>
            <a:spLocks noGrp="1"/>
          </p:cNvSpPr>
          <p:nvPr>
            <p:ph type="title"/>
          </p:nvPr>
        </p:nvSpPr>
        <p:spPr/>
        <p:txBody>
          <a:bodyPr/>
          <a:lstStyle/>
          <a:p>
            <a:r>
              <a:rPr lang="en-US" altLang="zh-CN" dirty="0"/>
              <a:t>Example</a:t>
            </a:r>
            <a:endParaRPr lang="zh-CN" altLang="en-US" dirty="0"/>
          </a:p>
        </p:txBody>
      </p:sp>
      <p:sp>
        <p:nvSpPr>
          <p:cNvPr id="3" name="日期占位符 2">
            <a:extLst>
              <a:ext uri="{FF2B5EF4-FFF2-40B4-BE49-F238E27FC236}">
                <a16:creationId xmlns:a16="http://schemas.microsoft.com/office/drawing/2014/main" id="{961C49AD-A9BA-E41E-5258-6B6CB422C095}"/>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5A8512E1-4837-46B8-AD2F-0F283B4FF07C}"/>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7DB2B26-5699-D458-395A-25CE58E097E8}"/>
              </a:ext>
            </a:extLst>
          </p:cNvPr>
          <p:cNvSpPr>
            <a:spLocks noGrp="1"/>
          </p:cNvSpPr>
          <p:nvPr>
            <p:ph type="sldNum" sz="quarter" idx="12"/>
          </p:nvPr>
        </p:nvSpPr>
        <p:spPr/>
        <p:txBody>
          <a:bodyPr/>
          <a:lstStyle/>
          <a:p>
            <a:fld id="{9146477A-3083-4652-9A53-6C94B28E95E9}" type="slidenum">
              <a:rPr lang="en-US" smtClean="0"/>
              <a:t>12</a:t>
            </a:fld>
            <a:endParaRPr lang="en-US"/>
          </a:p>
        </p:txBody>
      </p:sp>
      <p:sp>
        <p:nvSpPr>
          <p:cNvPr id="6" name="文本占位符 5">
            <a:extLst>
              <a:ext uri="{FF2B5EF4-FFF2-40B4-BE49-F238E27FC236}">
                <a16:creationId xmlns:a16="http://schemas.microsoft.com/office/drawing/2014/main" id="{2A37DCCB-B844-C8EA-E567-34B93F6CA1D3}"/>
              </a:ext>
            </a:extLst>
          </p:cNvPr>
          <p:cNvSpPr>
            <a:spLocks noGrp="1"/>
          </p:cNvSpPr>
          <p:nvPr>
            <p:ph type="body" idx="1"/>
          </p:nvPr>
        </p:nvSpPr>
        <p:spPr>
          <a:xfrm>
            <a:off x="838199" y="1825625"/>
            <a:ext cx="5781085" cy="4351338"/>
          </a:xfrm>
        </p:spPr>
        <p:txBody>
          <a:bodyPr>
            <a:normAutofit/>
          </a:bodyPr>
          <a:lstStyle/>
          <a:p>
            <a:pPr>
              <a:lnSpc>
                <a:spcPct val="100000"/>
              </a:lnSpc>
            </a:pPr>
            <a:r>
              <a:rPr lang="en-US" altLang="zh-CN" sz="2000" dirty="0"/>
              <a:t>The OS wants to place the process somewhere else in physical memory, not necessarily at address 0.</a:t>
            </a:r>
          </a:p>
          <a:p>
            <a:pPr>
              <a:lnSpc>
                <a:spcPct val="100000"/>
              </a:lnSpc>
            </a:pPr>
            <a:r>
              <a:rPr lang="en-US" altLang="zh-CN" sz="2000" dirty="0"/>
              <a:t>In this example, the OS uses the first slot for itself, and has relocated the process into the slot starting at physical address 32 KB.</a:t>
            </a:r>
          </a:p>
          <a:p>
            <a:pPr>
              <a:lnSpc>
                <a:spcPct val="100000"/>
              </a:lnSpc>
            </a:pPr>
            <a:r>
              <a:rPr lang="en-US" altLang="zh-CN" sz="2000" b="1" dirty="0"/>
              <a:t>The Problem: </a:t>
            </a:r>
            <a:r>
              <a:rPr lang="en-US" altLang="zh-CN" sz="2000" dirty="0"/>
              <a:t>How can we relocate this process in memory in a way that is transparent to the process? How can we provide the illusion of a virtual address space starting at 0?</a:t>
            </a:r>
            <a:endParaRPr lang="zh-CN" altLang="en-US" sz="2000" dirty="0"/>
          </a:p>
        </p:txBody>
      </p:sp>
      <p:pic>
        <p:nvPicPr>
          <p:cNvPr id="9" name="图片 8">
            <a:extLst>
              <a:ext uri="{FF2B5EF4-FFF2-40B4-BE49-F238E27FC236}">
                <a16:creationId xmlns:a16="http://schemas.microsoft.com/office/drawing/2014/main" id="{AC33E258-7B5D-0CA2-577E-74E490443FFA}"/>
              </a:ext>
            </a:extLst>
          </p:cNvPr>
          <p:cNvPicPr>
            <a:picLocks noChangeAspect="1"/>
          </p:cNvPicPr>
          <p:nvPr/>
        </p:nvPicPr>
        <p:blipFill>
          <a:blip r:embed="rId2"/>
          <a:stretch>
            <a:fillRect/>
          </a:stretch>
        </p:blipFill>
        <p:spPr>
          <a:xfrm>
            <a:off x="6881624" y="635224"/>
            <a:ext cx="3863963" cy="4994092"/>
          </a:xfrm>
          <a:prstGeom prst="rect">
            <a:avLst/>
          </a:prstGeom>
        </p:spPr>
      </p:pic>
    </p:spTree>
    <p:extLst>
      <p:ext uri="{BB962C8B-B14F-4D97-AF65-F5344CB8AC3E}">
        <p14:creationId xmlns:p14="http://schemas.microsoft.com/office/powerpoint/2010/main" val="3229451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01B8-95C5-74F2-1A8F-4A974BC1745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402EF7-973B-3912-8FC3-9DEA72CA53DD}"/>
              </a:ext>
            </a:extLst>
          </p:cNvPr>
          <p:cNvSpPr>
            <a:spLocks noGrp="1"/>
          </p:cNvSpPr>
          <p:nvPr>
            <p:ph type="title"/>
          </p:nvPr>
        </p:nvSpPr>
        <p:spPr/>
        <p:txBody>
          <a:bodyPr/>
          <a:lstStyle/>
          <a:p>
            <a:r>
              <a:rPr lang="en-US" altLang="zh-CN" dirty="0"/>
              <a:t>Address Translation</a:t>
            </a:r>
            <a:endParaRPr lang="zh-CN" altLang="en-US" dirty="0"/>
          </a:p>
        </p:txBody>
      </p:sp>
      <p:sp>
        <p:nvSpPr>
          <p:cNvPr id="3" name="日期占位符 2">
            <a:extLst>
              <a:ext uri="{FF2B5EF4-FFF2-40B4-BE49-F238E27FC236}">
                <a16:creationId xmlns:a16="http://schemas.microsoft.com/office/drawing/2014/main" id="{3355ECCF-53AE-BDB6-0893-825D6E5DAA7A}"/>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0B231D37-7677-1189-C482-17A062B9B800}"/>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FF3A7A3F-7045-E3E6-A461-55D472712EE0}"/>
              </a:ext>
            </a:extLst>
          </p:cNvPr>
          <p:cNvSpPr>
            <a:spLocks noGrp="1"/>
          </p:cNvSpPr>
          <p:nvPr>
            <p:ph type="sldNum" sz="quarter" idx="12"/>
          </p:nvPr>
        </p:nvSpPr>
        <p:spPr/>
        <p:txBody>
          <a:bodyPr/>
          <a:lstStyle/>
          <a:p>
            <a:fld id="{9146477A-3083-4652-9A53-6C94B28E95E9}" type="slidenum">
              <a:rPr lang="en-US" smtClean="0"/>
              <a:t>13</a:t>
            </a:fld>
            <a:endParaRPr lang="en-US"/>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28E0D272-FA77-BB41-D895-87FE19748A35}"/>
                  </a:ext>
                </a:extLst>
              </p:cNvPr>
              <p:cNvSpPr>
                <a:spLocks noGrp="1"/>
              </p:cNvSpPr>
              <p:nvPr>
                <p:ph type="body" idx="1"/>
              </p:nvPr>
            </p:nvSpPr>
            <p:spPr/>
            <p:txBody>
              <a:bodyPr>
                <a:normAutofit/>
              </a:bodyPr>
              <a:lstStyle/>
              <a:p>
                <a:pPr>
                  <a:lnSpc>
                    <a:spcPct val="100000"/>
                  </a:lnSpc>
                </a:pPr>
                <a:r>
                  <a:rPr lang="en-US" altLang="zh-CN" sz="2400" dirty="0"/>
                  <a:t>To implement this efficiently, we use </a:t>
                </a:r>
                <a:r>
                  <a:rPr lang="en-US" altLang="zh-CN" sz="2400" b="1" dirty="0"/>
                  <a:t>hardware-based</a:t>
                </a:r>
                <a:r>
                  <a:rPr lang="en-US" altLang="zh-CN" sz="2400" dirty="0"/>
                  <a:t> address translation, which is an addition to our general approach of Limited Direct Execution (LDE).</a:t>
                </a:r>
              </a:p>
              <a:p>
                <a:pPr>
                  <a:lnSpc>
                    <a:spcPct val="100000"/>
                  </a:lnSpc>
                </a:pPr>
                <a:r>
                  <a:rPr lang="en-US" altLang="zh-CN" sz="2400" dirty="0"/>
                  <a:t>The hardware transforms each memory access, changing</a:t>
                </a:r>
              </a:p>
              <a:p>
                <a:pPr marL="457200" lvl="1" indent="0">
                  <a:lnSpc>
                    <a:spcPct val="100000"/>
                  </a:lnSpc>
                  <a:buNone/>
                </a:pPr>
                <a:r>
                  <a:rPr lang="en-US" altLang="zh-CN" sz="2000" dirty="0"/>
                  <a:t>the </a:t>
                </a:r>
                <a:r>
                  <a:rPr lang="en-US" altLang="zh-CN" sz="2000" b="1" dirty="0"/>
                  <a:t>virtual address </a:t>
                </a:r>
                <a:r>
                  <a:rPr lang="en-US" altLang="zh-CN" sz="2000" dirty="0"/>
                  <a:t>provided by the instruction </a:t>
                </a:r>
              </a:p>
              <a:p>
                <a:pPr marL="457200" lvl="1" indent="0">
                  <a:lnSpc>
                    <a:spcPct val="100000"/>
                  </a:lnSpc>
                  <a:buNone/>
                </a:pP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t> a </a:t>
                </a:r>
                <a:r>
                  <a:rPr lang="en-US" altLang="zh-CN" sz="2000" b="1" dirty="0"/>
                  <a:t>physical address </a:t>
                </a:r>
                <a:r>
                  <a:rPr lang="en-US" altLang="zh-CN" sz="2000" dirty="0"/>
                  <a:t>where the desired information is actually located.</a:t>
                </a:r>
              </a:p>
              <a:p>
                <a:pPr>
                  <a:lnSpc>
                    <a:spcPct val="100000"/>
                  </a:lnSpc>
                </a:pPr>
                <a:r>
                  <a:rPr lang="en-US" altLang="zh-CN" sz="2400" dirty="0"/>
                  <a:t>The OS must get involved at key points to set up the hardware so that the correct translations take place.</a:t>
                </a:r>
                <a:endParaRPr lang="zh-CN" altLang="en-US" sz="2400" dirty="0"/>
              </a:p>
            </p:txBody>
          </p:sp>
        </mc:Choice>
        <mc:Fallback xmlns="">
          <p:sp>
            <p:nvSpPr>
              <p:cNvPr id="6" name="文本占位符 5">
                <a:extLst>
                  <a:ext uri="{FF2B5EF4-FFF2-40B4-BE49-F238E27FC236}">
                    <a16:creationId xmlns:a16="http://schemas.microsoft.com/office/drawing/2014/main" id="{28E0D272-FA77-BB41-D895-87FE19748A35}"/>
                  </a:ext>
                </a:extLst>
              </p:cNvPr>
              <p:cNvSpPr>
                <a:spLocks noGrp="1" noRot="1" noChangeAspect="1" noMove="1" noResize="1" noEditPoints="1" noAdjustHandles="1" noChangeArrowheads="1" noChangeShapeType="1" noTextEdit="1"/>
              </p:cNvSpPr>
              <p:nvPr>
                <p:ph type="body" idx="1"/>
              </p:nvPr>
            </p:nvSpPr>
            <p:spPr>
              <a:blipFill>
                <a:blip r:embed="rId2"/>
                <a:stretch>
                  <a:fillRect l="-812" t="-980" r="-754"/>
                </a:stretch>
              </a:blipFill>
            </p:spPr>
            <p:txBody>
              <a:bodyPr/>
              <a:lstStyle/>
              <a:p>
                <a:r>
                  <a:rPr lang="en-US">
                    <a:noFill/>
                  </a:rPr>
                  <a:t> </a:t>
                </a:r>
              </a:p>
            </p:txBody>
          </p:sp>
        </mc:Fallback>
      </mc:AlternateContent>
    </p:spTree>
    <p:extLst>
      <p:ext uri="{BB962C8B-B14F-4D97-AF65-F5344CB8AC3E}">
        <p14:creationId xmlns:p14="http://schemas.microsoft.com/office/powerpoint/2010/main" val="1198898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E117D-188B-145B-B58D-EB5A7429D0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FACF32-D551-2AC3-B352-CC7343691083}"/>
              </a:ext>
            </a:extLst>
          </p:cNvPr>
          <p:cNvSpPr>
            <a:spLocks noGrp="1"/>
          </p:cNvSpPr>
          <p:nvPr>
            <p:ph type="title"/>
          </p:nvPr>
        </p:nvSpPr>
        <p:spPr/>
        <p:txBody>
          <a:bodyPr>
            <a:normAutofit/>
          </a:bodyPr>
          <a:lstStyle/>
          <a:p>
            <a:r>
              <a:rPr lang="en-US" altLang="zh-CN" dirty="0"/>
              <a:t>Assumptions</a:t>
            </a:r>
            <a:endParaRPr lang="zh-CN" altLang="en-US" dirty="0"/>
          </a:p>
        </p:txBody>
      </p:sp>
      <p:sp>
        <p:nvSpPr>
          <p:cNvPr id="3" name="日期占位符 2">
            <a:extLst>
              <a:ext uri="{FF2B5EF4-FFF2-40B4-BE49-F238E27FC236}">
                <a16:creationId xmlns:a16="http://schemas.microsoft.com/office/drawing/2014/main" id="{0904895A-9CC9-AD67-39E1-6FED6B5F5F8A}"/>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F80838E8-D0DA-8F37-CD67-042C6A8B0C1C}"/>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0159D71D-9411-506A-1878-5DD373DC1973}"/>
              </a:ext>
            </a:extLst>
          </p:cNvPr>
          <p:cNvSpPr>
            <a:spLocks noGrp="1"/>
          </p:cNvSpPr>
          <p:nvPr>
            <p:ph type="sldNum" sz="quarter" idx="12"/>
          </p:nvPr>
        </p:nvSpPr>
        <p:spPr/>
        <p:txBody>
          <a:bodyPr/>
          <a:lstStyle/>
          <a:p>
            <a:fld id="{9146477A-3083-4652-9A53-6C94B28E95E9}" type="slidenum">
              <a:rPr lang="en-US" smtClean="0"/>
              <a:t>14</a:t>
            </a:fld>
            <a:endParaRPr lang="en-US"/>
          </a:p>
        </p:txBody>
      </p:sp>
      <p:sp>
        <p:nvSpPr>
          <p:cNvPr id="6" name="文本占位符 5">
            <a:extLst>
              <a:ext uri="{FF2B5EF4-FFF2-40B4-BE49-F238E27FC236}">
                <a16:creationId xmlns:a16="http://schemas.microsoft.com/office/drawing/2014/main" id="{92EEFB52-4B19-CE6B-50B6-9D72188B0107}"/>
              </a:ext>
            </a:extLst>
          </p:cNvPr>
          <p:cNvSpPr>
            <a:spLocks noGrp="1"/>
          </p:cNvSpPr>
          <p:nvPr>
            <p:ph type="body" idx="1"/>
          </p:nvPr>
        </p:nvSpPr>
        <p:spPr/>
        <p:txBody>
          <a:bodyPr>
            <a:normAutofit/>
          </a:bodyPr>
          <a:lstStyle/>
          <a:p>
            <a:pPr marL="0" indent="0">
              <a:lnSpc>
                <a:spcPct val="100000"/>
              </a:lnSpc>
              <a:buNone/>
            </a:pPr>
            <a:r>
              <a:rPr lang="en-US" altLang="zh-CN" dirty="0"/>
              <a:t>Before building a complex mechanism, we start with three simple assumptions about the user's address space:</a:t>
            </a:r>
          </a:p>
          <a:p>
            <a:pPr lvl="1">
              <a:lnSpc>
                <a:spcPct val="100000"/>
              </a:lnSpc>
            </a:pPr>
            <a:r>
              <a:rPr lang="en-US" altLang="zh-CN" dirty="0"/>
              <a:t>The user's address space must be placed contiguously in physical memory.</a:t>
            </a:r>
          </a:p>
          <a:p>
            <a:pPr lvl="1">
              <a:lnSpc>
                <a:spcPct val="100000"/>
              </a:lnSpc>
            </a:pPr>
            <a:r>
              <a:rPr lang="en-US" altLang="zh-CN" dirty="0"/>
              <a:t>The size of the address space is not too big (less than the size of physical memory).</a:t>
            </a:r>
          </a:p>
          <a:p>
            <a:pPr lvl="1">
              <a:lnSpc>
                <a:spcPct val="100000"/>
              </a:lnSpc>
            </a:pPr>
            <a:r>
              <a:rPr lang="en-US" altLang="zh-CN" dirty="0"/>
              <a:t>Each address space is exactly the same size.</a:t>
            </a:r>
            <a:endParaRPr lang="zh-CN" altLang="en-US" dirty="0"/>
          </a:p>
        </p:txBody>
      </p:sp>
    </p:spTree>
    <p:extLst>
      <p:ext uri="{BB962C8B-B14F-4D97-AF65-F5344CB8AC3E}">
        <p14:creationId xmlns:p14="http://schemas.microsoft.com/office/powerpoint/2010/main" val="1265350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308D7-75C1-FBFF-3503-BCC96A0DB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ED947FA-52B3-2D11-FEA9-6705007C2E8C}"/>
              </a:ext>
            </a:extLst>
          </p:cNvPr>
          <p:cNvSpPr>
            <a:spLocks noGrp="1"/>
          </p:cNvSpPr>
          <p:nvPr>
            <p:ph type="title"/>
          </p:nvPr>
        </p:nvSpPr>
        <p:spPr/>
        <p:txBody>
          <a:bodyPr>
            <a:normAutofit fontScale="90000"/>
          </a:bodyPr>
          <a:lstStyle/>
          <a:p>
            <a:r>
              <a:rPr lang="en-US" altLang="zh-CN" dirty="0"/>
              <a:t>Attempt #1: Dynamic Relocation</a:t>
            </a:r>
            <a:endParaRPr lang="zh-CN" altLang="en-US" dirty="0"/>
          </a:p>
        </p:txBody>
      </p:sp>
      <p:sp>
        <p:nvSpPr>
          <p:cNvPr id="3" name="日期占位符 2">
            <a:extLst>
              <a:ext uri="{FF2B5EF4-FFF2-40B4-BE49-F238E27FC236}">
                <a16:creationId xmlns:a16="http://schemas.microsoft.com/office/drawing/2014/main" id="{5A0B219E-6209-6560-2678-CF890C795EBE}"/>
              </a:ext>
            </a:extLst>
          </p:cNvPr>
          <p:cNvSpPr>
            <a:spLocks noGrp="1"/>
          </p:cNvSpPr>
          <p:nvPr>
            <p:ph type="dt" sz="half" idx="10"/>
          </p:nvPr>
        </p:nvSpPr>
        <p:spPr/>
        <p:txBody>
          <a:bodyPr/>
          <a:lstStyle/>
          <a:p>
            <a:fld id="{C779A912-BA0F-455A-9008-30C412343B55}" type="datetime1">
              <a:rPr lang="en-US" smtClean="0"/>
              <a:t>4/20/2026</a:t>
            </a:fld>
            <a:endParaRPr lang="en-US" dirty="0"/>
          </a:p>
        </p:txBody>
      </p:sp>
      <p:sp>
        <p:nvSpPr>
          <p:cNvPr id="4" name="页脚占位符 3">
            <a:extLst>
              <a:ext uri="{FF2B5EF4-FFF2-40B4-BE49-F238E27FC236}">
                <a16:creationId xmlns:a16="http://schemas.microsoft.com/office/drawing/2014/main" id="{88DC5E48-1F5B-2BA5-0EE6-F8864275337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9443D342-CD6F-6385-2451-D2C3ACBCC3D3}"/>
              </a:ext>
            </a:extLst>
          </p:cNvPr>
          <p:cNvSpPr>
            <a:spLocks noGrp="1"/>
          </p:cNvSpPr>
          <p:nvPr>
            <p:ph type="sldNum" sz="quarter" idx="12"/>
          </p:nvPr>
        </p:nvSpPr>
        <p:spPr/>
        <p:txBody>
          <a:bodyPr/>
          <a:lstStyle/>
          <a:p>
            <a:fld id="{9146477A-3083-4652-9A53-6C94B28E95E9}" type="slidenum">
              <a:rPr lang="en-US" smtClean="0"/>
              <a:t>15</a:t>
            </a:fld>
            <a:endParaRPr lang="en-US"/>
          </a:p>
        </p:txBody>
      </p:sp>
      <p:sp>
        <p:nvSpPr>
          <p:cNvPr id="6" name="文本占位符 5">
            <a:extLst>
              <a:ext uri="{FF2B5EF4-FFF2-40B4-BE49-F238E27FC236}">
                <a16:creationId xmlns:a16="http://schemas.microsoft.com/office/drawing/2014/main" id="{FB004B65-2068-661E-C469-FD91278026D9}"/>
              </a:ext>
            </a:extLst>
          </p:cNvPr>
          <p:cNvSpPr>
            <a:spLocks noGrp="1"/>
          </p:cNvSpPr>
          <p:nvPr>
            <p:ph type="body" idx="1"/>
          </p:nvPr>
        </p:nvSpPr>
        <p:spPr/>
        <p:txBody>
          <a:bodyPr/>
          <a:lstStyle/>
          <a:p>
            <a:r>
              <a:rPr lang="en-US" altLang="zh-CN" dirty="0"/>
              <a:t>Introduced in the late 1950s, this technique requires two hardware registers within each CPU: </a:t>
            </a:r>
          </a:p>
          <a:p>
            <a:pPr marL="914400" lvl="1" indent="-457200">
              <a:buFont typeface="+mj-lt"/>
              <a:buAutoNum type="arabicPeriod"/>
            </a:pPr>
            <a:r>
              <a:rPr lang="en-US" altLang="zh-CN" dirty="0"/>
              <a:t>a </a:t>
            </a:r>
            <a:r>
              <a:rPr lang="en-US" altLang="zh-CN" b="1" dirty="0"/>
              <a:t>base</a:t>
            </a:r>
            <a:r>
              <a:rPr lang="en-US" altLang="zh-CN" dirty="0"/>
              <a:t> register </a:t>
            </a:r>
          </a:p>
          <a:p>
            <a:pPr marL="914400" lvl="1" indent="-457200">
              <a:buFont typeface="+mj-lt"/>
              <a:buAutoNum type="arabicPeriod"/>
            </a:pPr>
            <a:r>
              <a:rPr lang="en-US" altLang="zh-CN" dirty="0"/>
              <a:t>a </a:t>
            </a:r>
            <a:r>
              <a:rPr lang="en-US" altLang="zh-CN" b="1" dirty="0"/>
              <a:t>bounds</a:t>
            </a:r>
            <a:r>
              <a:rPr lang="en-US" altLang="zh-CN" dirty="0"/>
              <a:t> (limit) register</a:t>
            </a:r>
          </a:p>
          <a:p>
            <a:r>
              <a:rPr lang="en-US" altLang="zh-CN" dirty="0"/>
              <a:t>When a program starts running, the OS decides where in physical memory it should be loaded and sets the base register to that value.</a:t>
            </a:r>
          </a:p>
          <a:p>
            <a:r>
              <a:rPr lang="en-US" altLang="zh-CN" b="1" dirty="0"/>
              <a:t>The Translation Formula:</a:t>
            </a:r>
            <a:r>
              <a:rPr lang="en-US" altLang="zh-CN" dirty="0"/>
              <a:t> physical address = virtual address + base.</a:t>
            </a:r>
          </a:p>
          <a:p>
            <a:endParaRPr lang="zh-CN" altLang="en-US" dirty="0"/>
          </a:p>
        </p:txBody>
      </p:sp>
    </p:spTree>
    <p:extLst>
      <p:ext uri="{BB962C8B-B14F-4D97-AF65-F5344CB8AC3E}">
        <p14:creationId xmlns:p14="http://schemas.microsoft.com/office/powerpoint/2010/main" val="493708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B0DC3-1034-9A87-1FFF-34ECEFE349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32C050E-8408-1FF5-AB8B-BCDA894714B2}"/>
              </a:ext>
            </a:extLst>
          </p:cNvPr>
          <p:cNvSpPr>
            <a:spLocks noGrp="1"/>
          </p:cNvSpPr>
          <p:nvPr>
            <p:ph type="title"/>
          </p:nvPr>
        </p:nvSpPr>
        <p:spPr>
          <a:xfrm>
            <a:off x="838200" y="365125"/>
            <a:ext cx="9738090" cy="1072515"/>
          </a:xfrm>
        </p:spPr>
        <p:txBody>
          <a:bodyPr>
            <a:normAutofit/>
          </a:bodyPr>
          <a:lstStyle/>
          <a:p>
            <a:r>
              <a:rPr lang="en-US" altLang="zh-CN" dirty="0"/>
              <a:t>Protection via the Bounds Register</a:t>
            </a:r>
            <a:endParaRPr lang="zh-CN" altLang="en-US" dirty="0"/>
          </a:p>
        </p:txBody>
      </p:sp>
      <p:sp>
        <p:nvSpPr>
          <p:cNvPr id="3" name="日期占位符 2">
            <a:extLst>
              <a:ext uri="{FF2B5EF4-FFF2-40B4-BE49-F238E27FC236}">
                <a16:creationId xmlns:a16="http://schemas.microsoft.com/office/drawing/2014/main" id="{1520CF0A-47AF-B4B2-7F21-64D7149CEE9A}"/>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EFF95C74-0555-14C5-4AC0-0A69B13B02F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FABE8F86-D96A-21EA-0858-977A3C6DD496}"/>
              </a:ext>
            </a:extLst>
          </p:cNvPr>
          <p:cNvSpPr>
            <a:spLocks noGrp="1"/>
          </p:cNvSpPr>
          <p:nvPr>
            <p:ph type="sldNum" sz="quarter" idx="12"/>
          </p:nvPr>
        </p:nvSpPr>
        <p:spPr/>
        <p:txBody>
          <a:bodyPr/>
          <a:lstStyle/>
          <a:p>
            <a:fld id="{9146477A-3083-4652-9A53-6C94B28E95E9}" type="slidenum">
              <a:rPr lang="en-US" smtClean="0"/>
              <a:t>16</a:t>
            </a:fld>
            <a:endParaRPr lang="en-US"/>
          </a:p>
        </p:txBody>
      </p:sp>
      <p:sp>
        <p:nvSpPr>
          <p:cNvPr id="6" name="文本占位符 5">
            <a:extLst>
              <a:ext uri="{FF2B5EF4-FFF2-40B4-BE49-F238E27FC236}">
                <a16:creationId xmlns:a16="http://schemas.microsoft.com/office/drawing/2014/main" id="{E87D9621-64A1-4043-6E01-02C7F7EC4D58}"/>
              </a:ext>
            </a:extLst>
          </p:cNvPr>
          <p:cNvSpPr>
            <a:spLocks noGrp="1"/>
          </p:cNvSpPr>
          <p:nvPr>
            <p:ph type="body" idx="1"/>
          </p:nvPr>
        </p:nvSpPr>
        <p:spPr>
          <a:xfrm>
            <a:off x="838200" y="1790754"/>
            <a:ext cx="10515600" cy="4351338"/>
          </a:xfrm>
        </p:spPr>
        <p:txBody>
          <a:bodyPr>
            <a:normAutofit/>
          </a:bodyPr>
          <a:lstStyle/>
          <a:p>
            <a:r>
              <a:rPr lang="en-US" altLang="zh-CN" b="1" dirty="0"/>
              <a:t>Bounds register: </a:t>
            </a:r>
            <a:r>
              <a:rPr lang="en-US" altLang="zh-CN" dirty="0"/>
              <a:t>help with protection. The processor will first check that the memory reference is within bounds to make sure it is legal.</a:t>
            </a:r>
          </a:p>
          <a:p>
            <a:endParaRPr lang="en-US" altLang="zh-CN" dirty="0"/>
          </a:p>
          <a:p>
            <a:r>
              <a:rPr lang="en-US" altLang="zh-CN" dirty="0"/>
              <a:t>If a process generates a virtual address that is greater than (or equal to) the bounds, or one that is negative, the CPU will raise an exception.</a:t>
            </a:r>
          </a:p>
          <a:p>
            <a:r>
              <a:rPr lang="en-US" altLang="zh-CN" dirty="0"/>
              <a:t>The </a:t>
            </a:r>
            <a:r>
              <a:rPr lang="en-US" altLang="zh-CN" b="1" dirty="0"/>
              <a:t>OS exception handler </a:t>
            </a:r>
            <a:r>
              <a:rPr lang="en-US" altLang="zh-CN" dirty="0"/>
              <a:t>will then likely terminate the misbehaving process.</a:t>
            </a:r>
          </a:p>
          <a:p>
            <a:endParaRPr lang="zh-CN" altLang="en-US" dirty="0"/>
          </a:p>
        </p:txBody>
      </p:sp>
    </p:spTree>
    <p:extLst>
      <p:ext uri="{BB962C8B-B14F-4D97-AF65-F5344CB8AC3E}">
        <p14:creationId xmlns:p14="http://schemas.microsoft.com/office/powerpoint/2010/main" val="94972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85D08-07E5-F2CE-4C90-ED4E8E8A70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D95062-46E0-2C7A-790F-1F96B5CE52C3}"/>
              </a:ext>
            </a:extLst>
          </p:cNvPr>
          <p:cNvSpPr>
            <a:spLocks noGrp="1"/>
          </p:cNvSpPr>
          <p:nvPr>
            <p:ph type="title"/>
          </p:nvPr>
        </p:nvSpPr>
        <p:spPr/>
        <p:txBody>
          <a:bodyPr/>
          <a:lstStyle/>
          <a:p>
            <a:r>
              <a:rPr lang="en-US" altLang="zh-CN" dirty="0"/>
              <a:t>Address Translation Example</a:t>
            </a:r>
            <a:endParaRPr lang="zh-CN" altLang="en-US" dirty="0"/>
          </a:p>
        </p:txBody>
      </p:sp>
      <p:sp>
        <p:nvSpPr>
          <p:cNvPr id="3" name="日期占位符 2">
            <a:extLst>
              <a:ext uri="{FF2B5EF4-FFF2-40B4-BE49-F238E27FC236}">
                <a16:creationId xmlns:a16="http://schemas.microsoft.com/office/drawing/2014/main" id="{DBC7CF71-F5FD-075B-7C17-729959623103}"/>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B67C4670-E1B1-681F-95C0-3544B56B4F76}"/>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E5DD3D6F-4E74-B0DB-A952-471C3590D474}"/>
              </a:ext>
            </a:extLst>
          </p:cNvPr>
          <p:cNvSpPr>
            <a:spLocks noGrp="1"/>
          </p:cNvSpPr>
          <p:nvPr>
            <p:ph type="sldNum" sz="quarter" idx="12"/>
          </p:nvPr>
        </p:nvSpPr>
        <p:spPr/>
        <p:txBody>
          <a:bodyPr/>
          <a:lstStyle/>
          <a:p>
            <a:fld id="{9146477A-3083-4652-9A53-6C94B28E95E9}" type="slidenum">
              <a:rPr lang="en-US" smtClean="0"/>
              <a:t>17</a:t>
            </a:fld>
            <a:endParaRPr lang="en-US"/>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05D5BC6C-ABA7-919D-8195-8DB25117B48D}"/>
                  </a:ext>
                </a:extLst>
              </p:cNvPr>
              <p:cNvSpPr>
                <a:spLocks noGrp="1"/>
              </p:cNvSpPr>
              <p:nvPr>
                <p:ph type="body" idx="1"/>
              </p:nvPr>
            </p:nvSpPr>
            <p:spPr/>
            <p:txBody>
              <a:bodyPr/>
              <a:lstStyle/>
              <a:p>
                <a:pPr>
                  <a:lnSpc>
                    <a:spcPct val="100000"/>
                  </a:lnSpc>
                </a:pPr>
                <a:r>
                  <a:rPr lang="en-US" altLang="zh-CN" sz="2400" b="1" dirty="0"/>
                  <a:t>Scenario</a:t>
                </a:r>
                <a:r>
                  <a:rPr lang="en-US" altLang="zh-CN" sz="2400" dirty="0"/>
                  <a:t>: A process with an address space of 4 KB is loaded at physical address 16 KB.</a:t>
                </a:r>
              </a:p>
              <a:p>
                <a:pPr>
                  <a:lnSpc>
                    <a:spcPct val="100000"/>
                  </a:lnSpc>
                </a:pPr>
                <a:r>
                  <a:rPr lang="en-US" altLang="zh-CN" sz="2400" dirty="0"/>
                  <a:t>Base Register: 16 KB.</a:t>
                </a:r>
              </a:p>
              <a:p>
                <a:pPr>
                  <a:lnSpc>
                    <a:spcPct val="100000"/>
                  </a:lnSpc>
                </a:pPr>
                <a:r>
                  <a:rPr lang="en-US" altLang="zh-CN" sz="2400" dirty="0"/>
                  <a:t>Bounds Register: 4 KB.</a:t>
                </a:r>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0 → ?.</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1 </m:t>
                    </m:r>
                    <m:r>
                      <a:rPr lang="en-US" altLang="zh-CN" i="1" dirty="0">
                        <a:latin typeface="Cambria Math" panose="02040503050406030204" pitchFamily="18" charset="0"/>
                      </a:rPr>
                      <m:t>𝐾𝐵</m:t>
                    </m:r>
                    <m:r>
                      <a:rPr lang="en-US" altLang="zh-CN" i="1" dirty="0">
                        <a:latin typeface="Cambria Math" panose="02040503050406030204" pitchFamily="18" charset="0"/>
                      </a:rPr>
                      <m:t>→ ?.</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3000→ ?.</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4400→ ?.</m:t>
                    </m:r>
                  </m:oMath>
                </a14:m>
                <a:endParaRPr lang="en-US" altLang="zh-CN" dirty="0"/>
              </a:p>
              <a:p>
                <a:endParaRPr lang="zh-CN" altLang="en-US" dirty="0"/>
              </a:p>
            </p:txBody>
          </p:sp>
        </mc:Choice>
        <mc:Fallback xmlns="">
          <p:sp>
            <p:nvSpPr>
              <p:cNvPr id="6" name="文本占位符 5">
                <a:extLst>
                  <a:ext uri="{FF2B5EF4-FFF2-40B4-BE49-F238E27FC236}">
                    <a16:creationId xmlns:a16="http://schemas.microsoft.com/office/drawing/2014/main" id="{05D5BC6C-ABA7-919D-8195-8DB25117B48D}"/>
                  </a:ext>
                </a:extLst>
              </p:cNvPr>
              <p:cNvSpPr>
                <a:spLocks noGrp="1" noRot="1" noChangeAspect="1" noMove="1" noResize="1" noEditPoints="1" noAdjustHandles="1" noChangeArrowheads="1" noChangeShapeType="1" noTextEdit="1"/>
              </p:cNvSpPr>
              <p:nvPr>
                <p:ph type="body" idx="1"/>
              </p:nvPr>
            </p:nvSpPr>
            <p:spPr>
              <a:blipFill>
                <a:blip r:embed="rId2"/>
                <a:stretch>
                  <a:fillRect l="-812" t="-980"/>
                </a:stretch>
              </a:blipFill>
            </p:spPr>
            <p:txBody>
              <a:bodyPr/>
              <a:lstStyle/>
              <a:p>
                <a:r>
                  <a:rPr lang="en-US">
                    <a:noFill/>
                  </a:rPr>
                  <a:t> </a:t>
                </a:r>
              </a:p>
            </p:txBody>
          </p:sp>
        </mc:Fallback>
      </mc:AlternateContent>
    </p:spTree>
    <p:extLst>
      <p:ext uri="{BB962C8B-B14F-4D97-AF65-F5344CB8AC3E}">
        <p14:creationId xmlns:p14="http://schemas.microsoft.com/office/powerpoint/2010/main" val="3377463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85D08-07E5-F2CE-4C90-ED4E8E8A700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D95062-46E0-2C7A-790F-1F96B5CE52C3}"/>
              </a:ext>
            </a:extLst>
          </p:cNvPr>
          <p:cNvSpPr>
            <a:spLocks noGrp="1"/>
          </p:cNvSpPr>
          <p:nvPr>
            <p:ph type="title"/>
          </p:nvPr>
        </p:nvSpPr>
        <p:spPr/>
        <p:txBody>
          <a:bodyPr/>
          <a:lstStyle/>
          <a:p>
            <a:r>
              <a:rPr lang="en-US" altLang="zh-CN" dirty="0"/>
              <a:t>Address Translation Example</a:t>
            </a:r>
            <a:endParaRPr lang="zh-CN" altLang="en-US" dirty="0"/>
          </a:p>
        </p:txBody>
      </p:sp>
      <p:sp>
        <p:nvSpPr>
          <p:cNvPr id="3" name="日期占位符 2">
            <a:extLst>
              <a:ext uri="{FF2B5EF4-FFF2-40B4-BE49-F238E27FC236}">
                <a16:creationId xmlns:a16="http://schemas.microsoft.com/office/drawing/2014/main" id="{DBC7CF71-F5FD-075B-7C17-729959623103}"/>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B67C4670-E1B1-681F-95C0-3544B56B4F76}"/>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E5DD3D6F-4E74-B0DB-A952-471C3590D474}"/>
              </a:ext>
            </a:extLst>
          </p:cNvPr>
          <p:cNvSpPr>
            <a:spLocks noGrp="1"/>
          </p:cNvSpPr>
          <p:nvPr>
            <p:ph type="sldNum" sz="quarter" idx="12"/>
          </p:nvPr>
        </p:nvSpPr>
        <p:spPr/>
        <p:txBody>
          <a:bodyPr/>
          <a:lstStyle/>
          <a:p>
            <a:fld id="{9146477A-3083-4652-9A53-6C94B28E95E9}" type="slidenum">
              <a:rPr lang="en-US" smtClean="0"/>
              <a:t>18</a:t>
            </a:fld>
            <a:endParaRPr lang="en-US"/>
          </a:p>
        </p:txBody>
      </p:sp>
      <mc:AlternateContent xmlns:mc="http://schemas.openxmlformats.org/markup-compatibility/2006" xmlns:a14="http://schemas.microsoft.com/office/drawing/2010/main">
        <mc:Choice Requires="a14">
          <p:sp>
            <p:nvSpPr>
              <p:cNvPr id="6" name="文本占位符 5">
                <a:extLst>
                  <a:ext uri="{FF2B5EF4-FFF2-40B4-BE49-F238E27FC236}">
                    <a16:creationId xmlns:a16="http://schemas.microsoft.com/office/drawing/2014/main" id="{05D5BC6C-ABA7-919D-8195-8DB25117B48D}"/>
                  </a:ext>
                </a:extLst>
              </p:cNvPr>
              <p:cNvSpPr>
                <a:spLocks noGrp="1"/>
              </p:cNvSpPr>
              <p:nvPr>
                <p:ph type="body" idx="1"/>
              </p:nvPr>
            </p:nvSpPr>
            <p:spPr/>
            <p:txBody>
              <a:bodyPr/>
              <a:lstStyle/>
              <a:p>
                <a:pPr>
                  <a:lnSpc>
                    <a:spcPct val="100000"/>
                  </a:lnSpc>
                </a:pPr>
                <a:r>
                  <a:rPr lang="en-US" altLang="zh-CN" sz="2400" b="1" dirty="0"/>
                  <a:t>Scenario</a:t>
                </a:r>
                <a:r>
                  <a:rPr lang="en-US" altLang="zh-CN" sz="2400" dirty="0"/>
                  <a:t>: A process with an address space of 4 KB is loaded at physical address 16 KB.</a:t>
                </a:r>
              </a:p>
              <a:p>
                <a:pPr>
                  <a:lnSpc>
                    <a:spcPct val="100000"/>
                  </a:lnSpc>
                </a:pPr>
                <a:r>
                  <a:rPr lang="en-US" altLang="zh-CN" sz="2400" dirty="0"/>
                  <a:t>Base Register: 16 KB.</a:t>
                </a:r>
              </a:p>
              <a:p>
                <a:pPr>
                  <a:lnSpc>
                    <a:spcPct val="100000"/>
                  </a:lnSpc>
                </a:pPr>
                <a:r>
                  <a:rPr lang="en-US" altLang="zh-CN" sz="2400" dirty="0"/>
                  <a:t>Bounds Register: 4 KB.</a:t>
                </a:r>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0 →</m:t>
                    </m:r>
                    <m:r>
                      <a:rPr lang="en-US" altLang="zh-CN" i="1" dirty="0">
                        <a:latin typeface="Cambria Math" panose="02040503050406030204" pitchFamily="18" charset="0"/>
                      </a:rPr>
                      <m:t>𝑃h𝑦𝑠𝑖𝑐𝑎𝑙</m:t>
                    </m:r>
                    <m:r>
                      <a:rPr lang="en-US" altLang="zh-CN" i="1" dirty="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16 </m:t>
                    </m:r>
                    <m:r>
                      <a:rPr lang="en-US" altLang="zh-CN" i="1" dirty="0">
                        <a:latin typeface="Cambria Math" panose="02040503050406030204" pitchFamily="18" charset="0"/>
                      </a:rPr>
                      <m:t>𝐾𝐵</m:t>
                    </m:r>
                    <m:r>
                      <a:rPr lang="en-US" altLang="zh-CN" i="1" dirty="0" smtClean="0">
                        <a:latin typeface="Cambria Math" panose="02040503050406030204" pitchFamily="18" charset="0"/>
                      </a:rPr>
                      <m:t>.</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1 </m:t>
                    </m:r>
                    <m:r>
                      <a:rPr lang="en-US" altLang="zh-CN" i="1" dirty="0">
                        <a:latin typeface="Cambria Math" panose="02040503050406030204" pitchFamily="18" charset="0"/>
                      </a:rPr>
                      <m:t>𝐾𝐵</m:t>
                    </m:r>
                    <m:r>
                      <a:rPr lang="en-US" altLang="zh-CN" i="1" dirty="0">
                        <a:latin typeface="Cambria Math" panose="02040503050406030204" pitchFamily="18" charset="0"/>
                      </a:rPr>
                      <m:t>→</m:t>
                    </m:r>
                    <m:r>
                      <a:rPr lang="en-US" altLang="zh-CN" i="1" dirty="0">
                        <a:latin typeface="Cambria Math" panose="02040503050406030204" pitchFamily="18" charset="0"/>
                      </a:rPr>
                      <m:t>𝑃h𝑦𝑠𝑖𝑐𝑎𝑙</m:t>
                    </m:r>
                    <m:r>
                      <a:rPr lang="en-US" altLang="zh-CN" i="1" dirty="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17 </m:t>
                    </m:r>
                    <m:r>
                      <a:rPr lang="en-US" altLang="zh-CN" i="1" dirty="0">
                        <a:latin typeface="Cambria Math" panose="02040503050406030204" pitchFamily="18" charset="0"/>
                      </a:rPr>
                      <m:t>𝐾𝐵</m:t>
                    </m:r>
                    <m:r>
                      <a:rPr lang="en-US" altLang="zh-CN" i="1" dirty="0" smtClean="0">
                        <a:latin typeface="Cambria Math" panose="02040503050406030204" pitchFamily="18" charset="0"/>
                      </a:rPr>
                      <m:t>.</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3000→</m:t>
                    </m:r>
                    <m:r>
                      <a:rPr lang="en-US" altLang="zh-CN" i="1" dirty="0">
                        <a:latin typeface="Cambria Math" panose="02040503050406030204" pitchFamily="18" charset="0"/>
                      </a:rPr>
                      <m:t>𝑃h𝑦𝑠𝑖𝑐𝑎𝑙</m:t>
                    </m:r>
                    <m:r>
                      <a:rPr lang="en-US" altLang="zh-CN" i="1" dirty="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19384.</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4400→</m:t>
                    </m:r>
                    <m:r>
                      <a:rPr lang="en-US" altLang="zh-CN" i="1" dirty="0">
                        <a:latin typeface="Cambria Math" panose="02040503050406030204" pitchFamily="18" charset="0"/>
                      </a:rPr>
                      <m:t>𝐹𝑎𝑢𝑙𝑡</m:t>
                    </m:r>
                    <m:r>
                      <a:rPr lang="en-US" altLang="zh-CN" i="1" dirty="0">
                        <a:latin typeface="Cambria Math" panose="02040503050406030204" pitchFamily="18" charset="0"/>
                      </a:rPr>
                      <m:t> (</m:t>
                    </m:r>
                    <m:r>
                      <a:rPr lang="en-US" altLang="zh-CN" i="1" dirty="0">
                        <a:latin typeface="Cambria Math" panose="02040503050406030204" pitchFamily="18" charset="0"/>
                      </a:rPr>
                      <m:t>𝑂𝑢𝑡</m:t>
                    </m:r>
                    <m:r>
                      <a:rPr lang="en-US" altLang="zh-CN" i="1" dirty="0">
                        <a:latin typeface="Cambria Math" panose="02040503050406030204" pitchFamily="18" charset="0"/>
                      </a:rPr>
                      <m:t> </m:t>
                    </m:r>
                    <m:r>
                      <a:rPr lang="en-US" altLang="zh-CN" i="1" dirty="0">
                        <a:latin typeface="Cambria Math" panose="02040503050406030204" pitchFamily="18" charset="0"/>
                      </a:rPr>
                      <m:t>𝑜𝑓</m:t>
                    </m:r>
                    <m:r>
                      <a:rPr lang="en-US" altLang="zh-CN" i="1" dirty="0">
                        <a:latin typeface="Cambria Math" panose="02040503050406030204" pitchFamily="18" charset="0"/>
                      </a:rPr>
                      <m:t> </m:t>
                    </m:r>
                    <m:r>
                      <a:rPr lang="en-US" altLang="zh-CN" i="1" dirty="0">
                        <a:latin typeface="Cambria Math" panose="02040503050406030204" pitchFamily="18" charset="0"/>
                      </a:rPr>
                      <m:t>𝑏𝑜𝑢𝑛𝑑𝑠</m:t>
                    </m:r>
                    <m:r>
                      <a:rPr lang="en-US" altLang="zh-CN" i="1" dirty="0">
                        <a:latin typeface="Cambria Math" panose="02040503050406030204" pitchFamily="18" charset="0"/>
                      </a:rPr>
                      <m:t>).</m:t>
                    </m:r>
                  </m:oMath>
                </a14:m>
                <a:endParaRPr lang="en-US" altLang="zh-CN" dirty="0"/>
              </a:p>
              <a:p>
                <a:endParaRPr lang="zh-CN" altLang="en-US" dirty="0"/>
              </a:p>
            </p:txBody>
          </p:sp>
        </mc:Choice>
        <mc:Fallback xmlns="">
          <p:sp>
            <p:nvSpPr>
              <p:cNvPr id="6" name="文本占位符 5">
                <a:extLst>
                  <a:ext uri="{FF2B5EF4-FFF2-40B4-BE49-F238E27FC236}">
                    <a16:creationId xmlns:a16="http://schemas.microsoft.com/office/drawing/2014/main" id="{05D5BC6C-ABA7-919D-8195-8DB25117B48D}"/>
                  </a:ext>
                </a:extLst>
              </p:cNvPr>
              <p:cNvSpPr>
                <a:spLocks noGrp="1" noRot="1" noChangeAspect="1" noMove="1" noResize="1" noEditPoints="1" noAdjustHandles="1" noChangeArrowheads="1" noChangeShapeType="1" noTextEdit="1"/>
              </p:cNvSpPr>
              <p:nvPr>
                <p:ph type="body" idx="1"/>
              </p:nvPr>
            </p:nvSpPr>
            <p:spPr>
              <a:blipFill>
                <a:blip r:embed="rId2"/>
                <a:stretch>
                  <a:fillRect l="-812" t="-9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0538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A228-8190-849E-7793-53892880FD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4F373B9-C087-F0A8-B857-3704FECECAB2}"/>
              </a:ext>
            </a:extLst>
          </p:cNvPr>
          <p:cNvSpPr>
            <a:spLocks noGrp="1"/>
          </p:cNvSpPr>
          <p:nvPr>
            <p:ph type="title"/>
          </p:nvPr>
        </p:nvSpPr>
        <p:spPr/>
        <p:txBody>
          <a:bodyPr/>
          <a:lstStyle/>
          <a:p>
            <a:r>
              <a:rPr lang="en-US" altLang="zh-CN" dirty="0"/>
              <a:t>Hardware Support</a:t>
            </a:r>
            <a:endParaRPr lang="zh-CN" altLang="en-US" dirty="0"/>
          </a:p>
        </p:txBody>
      </p:sp>
      <p:sp>
        <p:nvSpPr>
          <p:cNvPr id="3" name="日期占位符 2">
            <a:extLst>
              <a:ext uri="{FF2B5EF4-FFF2-40B4-BE49-F238E27FC236}">
                <a16:creationId xmlns:a16="http://schemas.microsoft.com/office/drawing/2014/main" id="{D44E1AFA-2F6E-D94B-7FD0-B0543DF5DBD7}"/>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CB7F482C-0AFD-C6FE-6CC3-346D3A4D36A3}"/>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6B64E02-EFE1-7E84-2A1C-CD22E370C1B9}"/>
              </a:ext>
            </a:extLst>
          </p:cNvPr>
          <p:cNvSpPr>
            <a:spLocks noGrp="1"/>
          </p:cNvSpPr>
          <p:nvPr>
            <p:ph type="sldNum" sz="quarter" idx="12"/>
          </p:nvPr>
        </p:nvSpPr>
        <p:spPr/>
        <p:txBody>
          <a:bodyPr/>
          <a:lstStyle/>
          <a:p>
            <a:fld id="{9146477A-3083-4652-9A53-6C94B28E95E9}" type="slidenum">
              <a:rPr lang="en-US" smtClean="0"/>
              <a:t>19</a:t>
            </a:fld>
            <a:endParaRPr lang="en-US" dirty="0"/>
          </a:p>
        </p:txBody>
      </p:sp>
      <p:sp>
        <p:nvSpPr>
          <p:cNvPr id="6" name="文本占位符 5">
            <a:extLst>
              <a:ext uri="{FF2B5EF4-FFF2-40B4-BE49-F238E27FC236}">
                <a16:creationId xmlns:a16="http://schemas.microsoft.com/office/drawing/2014/main" id="{08A37E02-E11A-24CF-8608-A3916A482AF4}"/>
              </a:ext>
            </a:extLst>
          </p:cNvPr>
          <p:cNvSpPr>
            <a:spLocks noGrp="1"/>
          </p:cNvSpPr>
          <p:nvPr>
            <p:ph type="body" idx="1"/>
          </p:nvPr>
        </p:nvSpPr>
        <p:spPr/>
        <p:txBody>
          <a:bodyPr>
            <a:normAutofit/>
          </a:bodyPr>
          <a:lstStyle/>
          <a:p>
            <a:pPr>
              <a:lnSpc>
                <a:spcPct val="100000"/>
              </a:lnSpc>
            </a:pPr>
            <a:r>
              <a:rPr lang="en-US" altLang="zh-CN" b="1" dirty="0"/>
              <a:t>Privileged Mode</a:t>
            </a:r>
            <a:r>
              <a:rPr lang="en-US" altLang="zh-CN" dirty="0"/>
              <a:t>: A kernel mode to prevent user processes from executing privileged operations.</a:t>
            </a:r>
          </a:p>
          <a:p>
            <a:pPr>
              <a:lnSpc>
                <a:spcPct val="100000"/>
              </a:lnSpc>
            </a:pPr>
            <a:r>
              <a:rPr lang="en-US" altLang="zh-CN" b="1" dirty="0"/>
              <a:t>Base/Bounds Registers</a:t>
            </a:r>
            <a:r>
              <a:rPr lang="en-US" altLang="zh-CN" dirty="0"/>
              <a:t>: One pair per CPU, located in the Memory Management Unit (MMU).</a:t>
            </a:r>
          </a:p>
          <a:p>
            <a:pPr>
              <a:lnSpc>
                <a:spcPct val="100000"/>
              </a:lnSpc>
            </a:pPr>
            <a:r>
              <a:rPr lang="en-US" altLang="zh-CN" b="1" dirty="0"/>
              <a:t>Translation Circuitry</a:t>
            </a:r>
            <a:r>
              <a:rPr lang="en-US" altLang="zh-CN" dirty="0"/>
              <a:t>: Hardware to translate virtual addresses and check limits efficiently on every memory access.</a:t>
            </a:r>
          </a:p>
          <a:p>
            <a:pPr>
              <a:lnSpc>
                <a:spcPct val="100000"/>
              </a:lnSpc>
            </a:pPr>
            <a:r>
              <a:rPr lang="en-US" altLang="zh-CN" b="1" dirty="0"/>
              <a:t>Exceptions</a:t>
            </a:r>
            <a:r>
              <a:rPr lang="en-US" altLang="zh-CN" dirty="0"/>
              <a:t>: Ability to raise exceptions for out-of-bounds access or attempts to modify privileged registers.</a:t>
            </a:r>
            <a:endParaRPr lang="zh-CN" altLang="en-US" dirty="0"/>
          </a:p>
        </p:txBody>
      </p:sp>
    </p:spTree>
    <p:extLst>
      <p:ext uri="{BB962C8B-B14F-4D97-AF65-F5344CB8AC3E}">
        <p14:creationId xmlns:p14="http://schemas.microsoft.com/office/powerpoint/2010/main" val="2764289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5554D-0833-3D90-CB8A-9B64F138F3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5A686B-0103-2DC2-2308-850FD8FBFB59}"/>
              </a:ext>
            </a:extLst>
          </p:cNvPr>
          <p:cNvSpPr>
            <a:spLocks noGrp="1"/>
          </p:cNvSpPr>
          <p:nvPr>
            <p:ph type="title"/>
          </p:nvPr>
        </p:nvSpPr>
        <p:spPr>
          <a:xfrm>
            <a:off x="838200" y="365125"/>
            <a:ext cx="9454869" cy="1072515"/>
          </a:xfrm>
        </p:spPr>
        <p:txBody>
          <a:bodyPr>
            <a:normAutofit/>
          </a:bodyPr>
          <a:lstStyle/>
          <a:p>
            <a:r>
              <a:rPr lang="en-US" altLang="zh-CN" dirty="0"/>
              <a:t>Operating System Responsibilities</a:t>
            </a:r>
            <a:endParaRPr lang="zh-CN" altLang="en-US" dirty="0"/>
          </a:p>
        </p:txBody>
      </p:sp>
      <p:sp>
        <p:nvSpPr>
          <p:cNvPr id="3" name="日期占位符 2">
            <a:extLst>
              <a:ext uri="{FF2B5EF4-FFF2-40B4-BE49-F238E27FC236}">
                <a16:creationId xmlns:a16="http://schemas.microsoft.com/office/drawing/2014/main" id="{738B86A2-C45D-BADE-F96F-A0A27E350D8E}"/>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453DFEA1-1FAC-5820-9A1F-7A427CC4A932}"/>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0CF64C8C-C8C8-4664-D073-3395AF0C53B4}"/>
              </a:ext>
            </a:extLst>
          </p:cNvPr>
          <p:cNvSpPr>
            <a:spLocks noGrp="1"/>
          </p:cNvSpPr>
          <p:nvPr>
            <p:ph type="sldNum" sz="quarter" idx="12"/>
          </p:nvPr>
        </p:nvSpPr>
        <p:spPr/>
        <p:txBody>
          <a:bodyPr/>
          <a:lstStyle/>
          <a:p>
            <a:fld id="{9146477A-3083-4652-9A53-6C94B28E95E9}" type="slidenum">
              <a:rPr lang="en-US" smtClean="0"/>
              <a:t>20</a:t>
            </a:fld>
            <a:endParaRPr lang="en-US"/>
          </a:p>
        </p:txBody>
      </p:sp>
      <p:sp>
        <p:nvSpPr>
          <p:cNvPr id="6" name="文本占位符 5">
            <a:extLst>
              <a:ext uri="{FF2B5EF4-FFF2-40B4-BE49-F238E27FC236}">
                <a16:creationId xmlns:a16="http://schemas.microsoft.com/office/drawing/2014/main" id="{D29A3354-B4BD-4877-019C-51D8704281D5}"/>
              </a:ext>
            </a:extLst>
          </p:cNvPr>
          <p:cNvSpPr>
            <a:spLocks noGrp="1"/>
          </p:cNvSpPr>
          <p:nvPr>
            <p:ph type="body" idx="1"/>
          </p:nvPr>
        </p:nvSpPr>
        <p:spPr/>
        <p:txBody>
          <a:bodyPr>
            <a:normAutofit/>
          </a:bodyPr>
          <a:lstStyle/>
          <a:p>
            <a:pPr marL="0" indent="0">
              <a:buNone/>
            </a:pPr>
            <a:r>
              <a:rPr lang="en-US" altLang="zh-CN" b="1" dirty="0"/>
              <a:t>Memory Management:</a:t>
            </a:r>
          </a:p>
          <a:p>
            <a:pPr lvl="1"/>
            <a:r>
              <a:rPr lang="en-US" altLang="zh-CN" dirty="0"/>
              <a:t>When a process is created, the OS searches a data structure (often called a free list) to find room for the new address space and marks it used.</a:t>
            </a:r>
          </a:p>
          <a:p>
            <a:pPr lvl="1"/>
            <a:r>
              <a:rPr lang="en-US" altLang="zh-CN" dirty="0"/>
              <a:t>Upon termination of a process, the OS puts its memory back on the free list and cleans up associated data structures.</a:t>
            </a:r>
          </a:p>
          <a:p>
            <a:endParaRPr lang="en-US" altLang="zh-CN" dirty="0"/>
          </a:p>
          <a:p>
            <a:pPr marL="0" indent="0">
              <a:buNone/>
            </a:pPr>
            <a:r>
              <a:rPr lang="en-US" altLang="zh-CN" b="1" dirty="0"/>
              <a:t>Exception Handling</a:t>
            </a:r>
            <a:r>
              <a:rPr lang="en-US" altLang="zh-CN" dirty="0"/>
              <a:t>: The OS must install handlers at boot time to take action (usually termination) when a process tries to access memory outside its bounds.</a:t>
            </a:r>
            <a:endParaRPr lang="zh-CN" altLang="en-US" dirty="0"/>
          </a:p>
        </p:txBody>
      </p:sp>
    </p:spTree>
    <p:extLst>
      <p:ext uri="{BB962C8B-B14F-4D97-AF65-F5344CB8AC3E}">
        <p14:creationId xmlns:p14="http://schemas.microsoft.com/office/powerpoint/2010/main" val="823264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4A8C0-9307-5D9E-AF9E-5B096185C151}"/>
            </a:ext>
          </a:extLst>
        </p:cNvPr>
        <p:cNvGrpSpPr/>
        <p:nvPr/>
      </p:nvGrpSpPr>
      <p:grpSpPr>
        <a:xfrm>
          <a:off x="0" y="0"/>
          <a:ext cx="0" cy="0"/>
          <a:chOff x="0" y="0"/>
          <a:chExt cx="0" cy="0"/>
        </a:xfrm>
      </p:grpSpPr>
      <p:sp>
        <p:nvSpPr>
          <p:cNvPr id="3" name="日期占位符 2">
            <a:extLst>
              <a:ext uri="{FF2B5EF4-FFF2-40B4-BE49-F238E27FC236}">
                <a16:creationId xmlns:a16="http://schemas.microsoft.com/office/drawing/2014/main" id="{F4F9B264-22A8-8107-4BE0-4C29E5E8E90D}"/>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AFEF6129-0CD6-31C7-2149-DD1C15DC77A4}"/>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2CBBAF15-56B8-070F-37C3-4BFAF0CDED06}"/>
              </a:ext>
            </a:extLst>
          </p:cNvPr>
          <p:cNvSpPr>
            <a:spLocks noGrp="1"/>
          </p:cNvSpPr>
          <p:nvPr>
            <p:ph type="sldNum" sz="quarter" idx="12"/>
          </p:nvPr>
        </p:nvSpPr>
        <p:spPr/>
        <p:txBody>
          <a:bodyPr/>
          <a:lstStyle/>
          <a:p>
            <a:fld id="{9146477A-3083-4652-9A53-6C94B28E95E9}" type="slidenum">
              <a:rPr lang="en-US" smtClean="0"/>
              <a:t>21</a:t>
            </a:fld>
            <a:endParaRPr lang="en-US"/>
          </a:p>
        </p:txBody>
      </p:sp>
      <p:sp>
        <p:nvSpPr>
          <p:cNvPr id="6" name="文本占位符 5">
            <a:extLst>
              <a:ext uri="{FF2B5EF4-FFF2-40B4-BE49-F238E27FC236}">
                <a16:creationId xmlns:a16="http://schemas.microsoft.com/office/drawing/2014/main" id="{0F7494E5-9B5D-0E42-CD58-35520DE61FAD}"/>
              </a:ext>
            </a:extLst>
          </p:cNvPr>
          <p:cNvSpPr>
            <a:spLocks noGrp="1"/>
          </p:cNvSpPr>
          <p:nvPr>
            <p:ph type="body" idx="1"/>
          </p:nvPr>
        </p:nvSpPr>
        <p:spPr/>
        <p:txBody>
          <a:bodyPr>
            <a:normAutofit/>
          </a:bodyPr>
          <a:lstStyle/>
          <a:p>
            <a:pPr marL="0" indent="0">
              <a:lnSpc>
                <a:spcPct val="100000"/>
              </a:lnSpc>
              <a:buNone/>
            </a:pPr>
            <a:r>
              <a:rPr lang="en-US" altLang="zh-CN" b="1" dirty="0"/>
              <a:t>Context Switching</a:t>
            </a:r>
            <a:r>
              <a:rPr lang="en-US" altLang="zh-CN" dirty="0"/>
              <a:t>: There is only one base and bounds register pair on each CPU.</a:t>
            </a:r>
          </a:p>
          <a:p>
            <a:pPr lvl="1">
              <a:lnSpc>
                <a:spcPct val="100000"/>
              </a:lnSpc>
            </a:pPr>
            <a:r>
              <a:rPr lang="en-US" altLang="zh-CN" dirty="0"/>
              <a:t>When switching, the OS must save the base/bounds values to a per-process structure (</a:t>
            </a:r>
            <a:r>
              <a:rPr lang="en-US" dirty="0"/>
              <a:t>Process Control Block (</a:t>
            </a:r>
            <a:r>
              <a:rPr lang="en-US" altLang="zh-CN" dirty="0"/>
              <a:t>PCB)).</a:t>
            </a:r>
          </a:p>
          <a:p>
            <a:pPr lvl="1">
              <a:lnSpc>
                <a:spcPct val="100000"/>
              </a:lnSpc>
            </a:pPr>
            <a:r>
              <a:rPr lang="en-US" altLang="zh-CN" dirty="0"/>
              <a:t>When resuming, it must set the CPU registers to the correct values for the new process.</a:t>
            </a:r>
          </a:p>
          <a:p>
            <a:pPr marL="0" indent="0">
              <a:lnSpc>
                <a:spcPct val="100000"/>
              </a:lnSpc>
              <a:buNone/>
            </a:pPr>
            <a:r>
              <a:rPr lang="en-US" altLang="zh-CN" b="1" dirty="0"/>
              <a:t>Relocation</a:t>
            </a:r>
            <a:r>
              <a:rPr lang="en-US" altLang="zh-CN" dirty="0"/>
              <a:t>: When a process is stopped, the OS can copy its address space to a new location, update the saved base register, and resume it without the program noticing.</a:t>
            </a:r>
            <a:endParaRPr lang="zh-CN" altLang="en-US" dirty="0"/>
          </a:p>
        </p:txBody>
      </p:sp>
      <p:sp>
        <p:nvSpPr>
          <p:cNvPr id="7" name="标题 1">
            <a:extLst>
              <a:ext uri="{FF2B5EF4-FFF2-40B4-BE49-F238E27FC236}">
                <a16:creationId xmlns:a16="http://schemas.microsoft.com/office/drawing/2014/main" id="{AFB0104F-8ED8-B29F-A12A-158D0B8CEFAD}"/>
              </a:ext>
            </a:extLst>
          </p:cNvPr>
          <p:cNvSpPr txBox="1">
            <a:spLocks/>
          </p:cNvSpPr>
          <p:nvPr/>
        </p:nvSpPr>
        <p:spPr>
          <a:xfrm>
            <a:off x="838200" y="365125"/>
            <a:ext cx="9454869" cy="10725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r>
              <a:rPr lang="en-US" altLang="zh-CN"/>
              <a:t>Operating System Responsibilities</a:t>
            </a:r>
            <a:endParaRPr lang="zh-CN" altLang="en-US" dirty="0"/>
          </a:p>
        </p:txBody>
      </p:sp>
    </p:spTree>
    <p:extLst>
      <p:ext uri="{BB962C8B-B14F-4D97-AF65-F5344CB8AC3E}">
        <p14:creationId xmlns:p14="http://schemas.microsoft.com/office/powerpoint/2010/main" val="2040600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F1F32-AEAF-C894-4EF0-BD9BECB9AFB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BAAEE39-18E6-6A24-4A0F-6E461D312443}"/>
              </a:ext>
            </a:extLst>
          </p:cNvPr>
          <p:cNvSpPr>
            <a:spLocks noGrp="1"/>
          </p:cNvSpPr>
          <p:nvPr>
            <p:ph type="title"/>
          </p:nvPr>
        </p:nvSpPr>
        <p:spPr/>
        <p:txBody>
          <a:bodyPr/>
          <a:lstStyle/>
          <a:p>
            <a:r>
              <a:rPr lang="en-US" altLang="zh-CN" dirty="0"/>
              <a:t>Problems </a:t>
            </a:r>
            <a:endParaRPr lang="zh-CN" altLang="en-US" dirty="0"/>
          </a:p>
        </p:txBody>
      </p:sp>
      <p:sp>
        <p:nvSpPr>
          <p:cNvPr id="3" name="日期占位符 2">
            <a:extLst>
              <a:ext uri="{FF2B5EF4-FFF2-40B4-BE49-F238E27FC236}">
                <a16:creationId xmlns:a16="http://schemas.microsoft.com/office/drawing/2014/main" id="{82FA20ED-CC09-08BA-B52B-6C3C4CA2F3A6}"/>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1B568534-E2CE-DFDF-0574-F262500955F0}"/>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9E1D2E00-C8EF-FB07-F4EE-FCCAC7986A74}"/>
              </a:ext>
            </a:extLst>
          </p:cNvPr>
          <p:cNvSpPr>
            <a:spLocks noGrp="1"/>
          </p:cNvSpPr>
          <p:nvPr>
            <p:ph type="sldNum" sz="quarter" idx="12"/>
          </p:nvPr>
        </p:nvSpPr>
        <p:spPr/>
        <p:txBody>
          <a:bodyPr/>
          <a:lstStyle/>
          <a:p>
            <a:fld id="{9146477A-3083-4652-9A53-6C94B28E95E9}" type="slidenum">
              <a:rPr lang="en-US" smtClean="0"/>
              <a:t>22</a:t>
            </a:fld>
            <a:endParaRPr lang="en-US"/>
          </a:p>
        </p:txBody>
      </p:sp>
      <p:sp>
        <p:nvSpPr>
          <p:cNvPr id="6" name="文本占位符 5">
            <a:extLst>
              <a:ext uri="{FF2B5EF4-FFF2-40B4-BE49-F238E27FC236}">
                <a16:creationId xmlns:a16="http://schemas.microsoft.com/office/drawing/2014/main" id="{80F43E5B-FF04-EE8F-DCBE-02E7399FB206}"/>
              </a:ext>
            </a:extLst>
          </p:cNvPr>
          <p:cNvSpPr>
            <a:spLocks noGrp="1"/>
          </p:cNvSpPr>
          <p:nvPr>
            <p:ph type="body" idx="1"/>
          </p:nvPr>
        </p:nvSpPr>
        <p:spPr/>
        <p:txBody>
          <a:bodyPr>
            <a:normAutofit/>
          </a:bodyPr>
          <a:lstStyle/>
          <a:p>
            <a:pPr marL="0" indent="0">
              <a:lnSpc>
                <a:spcPct val="100000"/>
              </a:lnSpc>
              <a:buNone/>
            </a:pPr>
            <a:r>
              <a:rPr lang="en-US" altLang="zh-CN" dirty="0"/>
              <a:t>While Base-and-Bounds is efficient and provides protection, it has significant inefficiencies.</a:t>
            </a:r>
          </a:p>
          <a:p>
            <a:pPr>
              <a:lnSpc>
                <a:spcPct val="100000"/>
              </a:lnSpc>
            </a:pPr>
            <a:r>
              <a:rPr lang="en-US" altLang="zh-CN" dirty="0"/>
              <a:t>The relocated process uses a </a:t>
            </a:r>
            <a:r>
              <a:rPr lang="en-US" altLang="zh-CN" b="1" dirty="0"/>
              <a:t>fixed-size slot </a:t>
            </a:r>
            <a:r>
              <a:rPr lang="en-US" altLang="zh-CN" dirty="0"/>
              <a:t>of physical memory. Because the stack and heap are not too big, all of the space between the two is simply wasted.</a:t>
            </a:r>
          </a:p>
          <a:p>
            <a:pPr>
              <a:lnSpc>
                <a:spcPct val="100000"/>
              </a:lnSpc>
            </a:pPr>
            <a:r>
              <a:rPr lang="en-US" altLang="zh-CN" dirty="0"/>
              <a:t>This type of waste is called </a:t>
            </a:r>
            <a:r>
              <a:rPr lang="en-US" altLang="zh-CN" b="1" dirty="0"/>
              <a:t>Internal Fragmentation</a:t>
            </a:r>
            <a:r>
              <a:rPr lang="en-US" altLang="zh-CN" dirty="0"/>
              <a:t>: the space inside the allocated unit is not all used (i.e., is fragmented) and thus wasted.</a:t>
            </a:r>
            <a:endParaRPr lang="zh-CN" altLang="en-US" dirty="0"/>
          </a:p>
        </p:txBody>
      </p:sp>
    </p:spTree>
    <p:extLst>
      <p:ext uri="{BB962C8B-B14F-4D97-AF65-F5344CB8AC3E}">
        <p14:creationId xmlns:p14="http://schemas.microsoft.com/office/powerpoint/2010/main" val="14004585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479A5-2EF5-4CEE-9185-C4C7E90A5B04}"/>
              </a:ext>
            </a:extLst>
          </p:cNvPr>
          <p:cNvSpPr>
            <a:spLocks noGrp="1"/>
          </p:cNvSpPr>
          <p:nvPr>
            <p:ph type="title"/>
          </p:nvPr>
        </p:nvSpPr>
        <p:spPr/>
        <p:txBody>
          <a:bodyPr/>
          <a:lstStyle/>
          <a:p>
            <a:r>
              <a:rPr lang="en-US" altLang="zh-CN" dirty="0"/>
              <a:t>Break</a:t>
            </a:r>
            <a:endParaRPr lang="en-US" dirty="0"/>
          </a:p>
        </p:txBody>
      </p:sp>
      <p:sp>
        <p:nvSpPr>
          <p:cNvPr id="3" name="Date Placeholder 2">
            <a:extLst>
              <a:ext uri="{FF2B5EF4-FFF2-40B4-BE49-F238E27FC236}">
                <a16:creationId xmlns:a16="http://schemas.microsoft.com/office/drawing/2014/main" id="{3E31050E-C6C1-4C28-93CC-44441D03E6ED}"/>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Footer Placeholder 3">
            <a:extLst>
              <a:ext uri="{FF2B5EF4-FFF2-40B4-BE49-F238E27FC236}">
                <a16:creationId xmlns:a16="http://schemas.microsoft.com/office/drawing/2014/main" id="{8471EB62-8069-4657-BFA0-9363577E4321}"/>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Slide Number Placeholder 4">
            <a:extLst>
              <a:ext uri="{FF2B5EF4-FFF2-40B4-BE49-F238E27FC236}">
                <a16:creationId xmlns:a16="http://schemas.microsoft.com/office/drawing/2014/main" id="{B0E481A4-19F4-4980-8B4A-5D2722C51A0E}"/>
              </a:ext>
            </a:extLst>
          </p:cNvPr>
          <p:cNvSpPr>
            <a:spLocks noGrp="1"/>
          </p:cNvSpPr>
          <p:nvPr>
            <p:ph type="sldNum" sz="quarter" idx="12"/>
          </p:nvPr>
        </p:nvSpPr>
        <p:spPr/>
        <p:txBody>
          <a:bodyPr/>
          <a:lstStyle/>
          <a:p>
            <a:fld id="{9146477A-3083-4652-9A53-6C94B28E95E9}" type="slidenum">
              <a:rPr lang="en-US" smtClean="0"/>
              <a:t>23</a:t>
            </a:fld>
            <a:endParaRPr lang="en-US"/>
          </a:p>
        </p:txBody>
      </p:sp>
      <p:sp>
        <p:nvSpPr>
          <p:cNvPr id="6" name="Text Placeholder 5">
            <a:extLst>
              <a:ext uri="{FF2B5EF4-FFF2-40B4-BE49-F238E27FC236}">
                <a16:creationId xmlns:a16="http://schemas.microsoft.com/office/drawing/2014/main" id="{4A1B7FCD-BCD0-44A9-B708-9F88D401D19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92884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0AB8-736F-8935-9F51-86687C727F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575411-4B60-B506-56B6-431318C6CDBC}"/>
              </a:ext>
            </a:extLst>
          </p:cNvPr>
          <p:cNvSpPr>
            <a:spLocks noGrp="1"/>
          </p:cNvSpPr>
          <p:nvPr>
            <p:ph type="title"/>
          </p:nvPr>
        </p:nvSpPr>
        <p:spPr>
          <a:xfrm>
            <a:off x="838200" y="365125"/>
            <a:ext cx="10223612" cy="1072515"/>
          </a:xfrm>
        </p:spPr>
        <p:txBody>
          <a:bodyPr>
            <a:normAutofit fontScale="90000"/>
          </a:bodyPr>
          <a:lstStyle/>
          <a:p>
            <a:r>
              <a:rPr lang="en-US" altLang="zh-CN" dirty="0"/>
              <a:t>How To Support A Large Address Space?</a:t>
            </a:r>
            <a:endParaRPr lang="zh-CN" altLang="en-US" dirty="0"/>
          </a:p>
        </p:txBody>
      </p:sp>
      <p:sp>
        <p:nvSpPr>
          <p:cNvPr id="3" name="日期占位符 2">
            <a:extLst>
              <a:ext uri="{FF2B5EF4-FFF2-40B4-BE49-F238E27FC236}">
                <a16:creationId xmlns:a16="http://schemas.microsoft.com/office/drawing/2014/main" id="{A0E8578D-3C2E-922F-DB56-D40103905AF8}"/>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95570E02-7297-C7CB-4994-1701D3EEE868}"/>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AF85DC22-7D05-F69C-F3FD-42900CBC80F9}"/>
              </a:ext>
            </a:extLst>
          </p:cNvPr>
          <p:cNvSpPr>
            <a:spLocks noGrp="1"/>
          </p:cNvSpPr>
          <p:nvPr>
            <p:ph type="sldNum" sz="quarter" idx="12"/>
          </p:nvPr>
        </p:nvSpPr>
        <p:spPr/>
        <p:txBody>
          <a:bodyPr/>
          <a:lstStyle/>
          <a:p>
            <a:fld id="{9146477A-3083-4652-9A53-6C94B28E95E9}" type="slidenum">
              <a:rPr lang="en-US" smtClean="0"/>
              <a:t>24</a:t>
            </a:fld>
            <a:endParaRPr lang="en-US"/>
          </a:p>
        </p:txBody>
      </p:sp>
      <p:sp>
        <p:nvSpPr>
          <p:cNvPr id="6" name="文本占位符 5">
            <a:extLst>
              <a:ext uri="{FF2B5EF4-FFF2-40B4-BE49-F238E27FC236}">
                <a16:creationId xmlns:a16="http://schemas.microsoft.com/office/drawing/2014/main" id="{B50F334A-7EB1-9BFE-8F50-4CF4A0BC307B}"/>
              </a:ext>
            </a:extLst>
          </p:cNvPr>
          <p:cNvSpPr>
            <a:spLocks noGrp="1"/>
          </p:cNvSpPr>
          <p:nvPr>
            <p:ph type="body" idx="1"/>
          </p:nvPr>
        </p:nvSpPr>
        <p:spPr/>
        <p:txBody>
          <a:bodyPr>
            <a:normAutofit fontScale="92500"/>
          </a:bodyPr>
          <a:lstStyle/>
          <a:p>
            <a:r>
              <a:rPr lang="en-US" altLang="zh-CN" dirty="0"/>
              <a:t>The simple approach of using a single base and bounds register pair makes it quite hard to run a program when the entire address space doesn't fit into memory.</a:t>
            </a:r>
          </a:p>
          <a:p>
            <a:endParaRPr lang="en-US" altLang="zh-CN" dirty="0"/>
          </a:p>
          <a:p>
            <a:r>
              <a:rPr lang="en-US" altLang="zh-CN" dirty="0"/>
              <a:t>Imagine a 32-bit address space (4 GB in size); a typical program will only use megabytes of memory, but still would demand that the entire 4 GB address space be resident in physical memory.</a:t>
            </a:r>
          </a:p>
          <a:p>
            <a:endParaRPr lang="en-US" altLang="zh-CN" dirty="0"/>
          </a:p>
          <a:p>
            <a:r>
              <a:rPr lang="en-US" altLang="zh-CN" dirty="0"/>
              <a:t>How do we support a large address space with (potentially) a lot of free space between the stack and the heap?</a:t>
            </a:r>
            <a:endParaRPr lang="zh-CN" altLang="en-US" dirty="0"/>
          </a:p>
        </p:txBody>
      </p:sp>
    </p:spTree>
    <p:extLst>
      <p:ext uri="{BB962C8B-B14F-4D97-AF65-F5344CB8AC3E}">
        <p14:creationId xmlns:p14="http://schemas.microsoft.com/office/powerpoint/2010/main" val="838840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C4797-4A6C-47C5-0CA0-E6404AC7974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EF1115-05EE-EA28-F0DB-78FAC4362F4F}"/>
              </a:ext>
            </a:extLst>
          </p:cNvPr>
          <p:cNvSpPr>
            <a:spLocks noGrp="1"/>
          </p:cNvSpPr>
          <p:nvPr>
            <p:ph type="title"/>
          </p:nvPr>
        </p:nvSpPr>
        <p:spPr/>
        <p:txBody>
          <a:bodyPr/>
          <a:lstStyle/>
          <a:p>
            <a:r>
              <a:rPr lang="en-US" altLang="zh-CN" dirty="0"/>
              <a:t>The Solution: Segmentation</a:t>
            </a:r>
            <a:endParaRPr lang="zh-CN" altLang="en-US" dirty="0"/>
          </a:p>
        </p:txBody>
      </p:sp>
      <p:sp>
        <p:nvSpPr>
          <p:cNvPr id="3" name="日期占位符 2">
            <a:extLst>
              <a:ext uri="{FF2B5EF4-FFF2-40B4-BE49-F238E27FC236}">
                <a16:creationId xmlns:a16="http://schemas.microsoft.com/office/drawing/2014/main" id="{FD04478D-248D-45D8-0249-030D1F318B89}"/>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C6BAEF79-87D9-878C-B4D6-7E0582F6C165}"/>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72305A7F-FB6A-171C-9571-F4B1E9C1B851}"/>
              </a:ext>
            </a:extLst>
          </p:cNvPr>
          <p:cNvSpPr>
            <a:spLocks noGrp="1"/>
          </p:cNvSpPr>
          <p:nvPr>
            <p:ph type="sldNum" sz="quarter" idx="12"/>
          </p:nvPr>
        </p:nvSpPr>
        <p:spPr/>
        <p:txBody>
          <a:bodyPr/>
          <a:lstStyle/>
          <a:p>
            <a:fld id="{9146477A-3083-4652-9A53-6C94B28E95E9}" type="slidenum">
              <a:rPr lang="en-US" smtClean="0"/>
              <a:t>25</a:t>
            </a:fld>
            <a:endParaRPr lang="en-US"/>
          </a:p>
        </p:txBody>
      </p:sp>
      <p:sp>
        <p:nvSpPr>
          <p:cNvPr id="6" name="文本占位符 5">
            <a:extLst>
              <a:ext uri="{FF2B5EF4-FFF2-40B4-BE49-F238E27FC236}">
                <a16:creationId xmlns:a16="http://schemas.microsoft.com/office/drawing/2014/main" id="{133C3D37-915D-046C-537C-818EB0ACD8FA}"/>
              </a:ext>
            </a:extLst>
          </p:cNvPr>
          <p:cNvSpPr>
            <a:spLocks noGrp="1"/>
          </p:cNvSpPr>
          <p:nvPr>
            <p:ph type="body" idx="1"/>
          </p:nvPr>
        </p:nvSpPr>
        <p:spPr/>
        <p:txBody>
          <a:bodyPr>
            <a:normAutofit/>
          </a:bodyPr>
          <a:lstStyle/>
          <a:p>
            <a:pPr>
              <a:lnSpc>
                <a:spcPct val="100000"/>
              </a:lnSpc>
            </a:pPr>
            <a:r>
              <a:rPr lang="en-US" altLang="zh-CN" sz="2400" dirty="0"/>
              <a:t>To solve this problem, an idea from the early 1960s was born: </a:t>
            </a:r>
            <a:r>
              <a:rPr lang="en-US" altLang="zh-CN" sz="2400" b="1" dirty="0"/>
              <a:t>Segmentation</a:t>
            </a:r>
            <a:r>
              <a:rPr lang="en-US" altLang="zh-CN" sz="2400" dirty="0"/>
              <a:t>.</a:t>
            </a:r>
          </a:p>
          <a:p>
            <a:pPr>
              <a:lnSpc>
                <a:spcPct val="100000"/>
              </a:lnSpc>
            </a:pPr>
            <a:r>
              <a:rPr lang="en-US" altLang="zh-CN" sz="2400" dirty="0"/>
              <a:t>Instead of having just one base and bounds pair in our MMU, why not have a base and bounds pair </a:t>
            </a:r>
            <a:r>
              <a:rPr lang="en-US" altLang="zh-CN" sz="2400" b="1" dirty="0"/>
              <a:t>per logical segment</a:t>
            </a:r>
            <a:r>
              <a:rPr lang="en-US" altLang="zh-CN" sz="2400" dirty="0"/>
              <a:t> of the address space?</a:t>
            </a:r>
          </a:p>
          <a:p>
            <a:pPr>
              <a:lnSpc>
                <a:spcPct val="100000"/>
              </a:lnSpc>
            </a:pPr>
            <a:r>
              <a:rPr lang="en-US" altLang="zh-CN" sz="2400" dirty="0"/>
              <a:t>A segment is just a contiguous portion of the address space of a particular length.</a:t>
            </a:r>
          </a:p>
          <a:p>
            <a:pPr>
              <a:lnSpc>
                <a:spcPct val="100000"/>
              </a:lnSpc>
            </a:pPr>
            <a:r>
              <a:rPr lang="en-US" altLang="zh-CN" sz="2400" dirty="0"/>
              <a:t>In our canonical address space, we have three logically-different segments: </a:t>
            </a:r>
            <a:r>
              <a:rPr lang="en-US" altLang="zh-CN" sz="2400" b="1" dirty="0"/>
              <a:t>code, stack, </a:t>
            </a:r>
            <a:r>
              <a:rPr lang="en-US" altLang="zh-CN" sz="2400" dirty="0"/>
              <a:t>and </a:t>
            </a:r>
            <a:r>
              <a:rPr lang="en-US" altLang="zh-CN" sz="2400" b="1" dirty="0"/>
              <a:t>heap</a:t>
            </a:r>
            <a:r>
              <a:rPr lang="en-US" altLang="zh-CN" sz="2400" dirty="0"/>
              <a:t>.</a:t>
            </a:r>
            <a:endParaRPr lang="zh-CN" altLang="en-US" sz="2400" dirty="0"/>
          </a:p>
        </p:txBody>
      </p:sp>
    </p:spTree>
    <p:extLst>
      <p:ext uri="{BB962C8B-B14F-4D97-AF65-F5344CB8AC3E}">
        <p14:creationId xmlns:p14="http://schemas.microsoft.com/office/powerpoint/2010/main" val="2024779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0D20D-8A5D-2387-48F3-3259460F4B6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E65937-888B-E63D-C153-9617E127FCFB}"/>
              </a:ext>
            </a:extLst>
          </p:cNvPr>
          <p:cNvSpPr>
            <a:spLocks noGrp="1"/>
          </p:cNvSpPr>
          <p:nvPr>
            <p:ph type="title"/>
          </p:nvPr>
        </p:nvSpPr>
        <p:spPr>
          <a:xfrm>
            <a:off x="838200" y="365125"/>
            <a:ext cx="10235750" cy="1072515"/>
          </a:xfrm>
        </p:spPr>
        <p:txBody>
          <a:bodyPr>
            <a:normAutofit fontScale="90000"/>
          </a:bodyPr>
          <a:lstStyle/>
          <a:p>
            <a:r>
              <a:rPr lang="en-US" altLang="zh-CN" dirty="0"/>
              <a:t>Placing Segments In Physical Memory</a:t>
            </a:r>
            <a:endParaRPr lang="zh-CN" altLang="en-US" dirty="0"/>
          </a:p>
        </p:txBody>
      </p:sp>
      <p:sp>
        <p:nvSpPr>
          <p:cNvPr id="3" name="日期占位符 2">
            <a:extLst>
              <a:ext uri="{FF2B5EF4-FFF2-40B4-BE49-F238E27FC236}">
                <a16:creationId xmlns:a16="http://schemas.microsoft.com/office/drawing/2014/main" id="{98DFE101-0A75-8B69-D083-D9B309C159F9}"/>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8CD5CEF9-9A91-129A-51EA-96120BA4434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110087C-3842-7DF9-49C2-BF670C126015}"/>
              </a:ext>
            </a:extLst>
          </p:cNvPr>
          <p:cNvSpPr>
            <a:spLocks noGrp="1"/>
          </p:cNvSpPr>
          <p:nvPr>
            <p:ph type="sldNum" sz="quarter" idx="12"/>
          </p:nvPr>
        </p:nvSpPr>
        <p:spPr/>
        <p:txBody>
          <a:bodyPr/>
          <a:lstStyle/>
          <a:p>
            <a:fld id="{9146477A-3083-4652-9A53-6C94B28E95E9}" type="slidenum">
              <a:rPr lang="en-US" smtClean="0"/>
              <a:t>26</a:t>
            </a:fld>
            <a:endParaRPr lang="en-US"/>
          </a:p>
        </p:txBody>
      </p:sp>
      <p:sp>
        <p:nvSpPr>
          <p:cNvPr id="6" name="文本占位符 5">
            <a:extLst>
              <a:ext uri="{FF2B5EF4-FFF2-40B4-BE49-F238E27FC236}">
                <a16:creationId xmlns:a16="http://schemas.microsoft.com/office/drawing/2014/main" id="{C6E18E9F-D4B9-181D-9F4E-EC9E9CAE2220}"/>
              </a:ext>
            </a:extLst>
          </p:cNvPr>
          <p:cNvSpPr>
            <a:spLocks noGrp="1"/>
          </p:cNvSpPr>
          <p:nvPr>
            <p:ph type="body" idx="1"/>
          </p:nvPr>
        </p:nvSpPr>
        <p:spPr>
          <a:xfrm>
            <a:off x="838200" y="1825625"/>
            <a:ext cx="5415366" cy="4351338"/>
          </a:xfrm>
        </p:spPr>
        <p:txBody>
          <a:bodyPr>
            <a:normAutofit/>
          </a:bodyPr>
          <a:lstStyle/>
          <a:p>
            <a:r>
              <a:rPr lang="en-US" altLang="zh-CN" sz="2400" dirty="0"/>
              <a:t>Segmentation allows the OS to place each one of those segments in </a:t>
            </a:r>
            <a:r>
              <a:rPr lang="en-US" altLang="zh-CN" sz="2400" b="1" dirty="0"/>
              <a:t>different parts of physical memory</a:t>
            </a:r>
            <a:r>
              <a:rPr lang="en-US" altLang="zh-CN" sz="2400" dirty="0"/>
              <a:t>.</a:t>
            </a:r>
          </a:p>
          <a:p>
            <a:r>
              <a:rPr lang="en-US" altLang="zh-CN" sz="2400" dirty="0"/>
              <a:t>Only used memory is allocated space in physical memory.</a:t>
            </a:r>
          </a:p>
          <a:p>
            <a:r>
              <a:rPr lang="en-US" altLang="zh-CN" sz="2400" dirty="0"/>
              <a:t>Thus, large address spaces with large amounts of unused virtual space (sparse address spaces) can be accommodated, entirely avoiding the waste of internal fragmentation.</a:t>
            </a:r>
            <a:endParaRPr lang="zh-CN" altLang="en-US" sz="2400" dirty="0"/>
          </a:p>
        </p:txBody>
      </p:sp>
      <p:pic>
        <p:nvPicPr>
          <p:cNvPr id="8" name="图片 7">
            <a:extLst>
              <a:ext uri="{FF2B5EF4-FFF2-40B4-BE49-F238E27FC236}">
                <a16:creationId xmlns:a16="http://schemas.microsoft.com/office/drawing/2014/main" id="{F407C594-0B7D-9289-7D23-665A63EFF3A4}"/>
              </a:ext>
            </a:extLst>
          </p:cNvPr>
          <p:cNvPicPr>
            <a:picLocks noChangeAspect="1"/>
          </p:cNvPicPr>
          <p:nvPr/>
        </p:nvPicPr>
        <p:blipFill>
          <a:blip r:embed="rId2"/>
          <a:stretch>
            <a:fillRect/>
          </a:stretch>
        </p:blipFill>
        <p:spPr>
          <a:xfrm>
            <a:off x="6192452" y="1257447"/>
            <a:ext cx="2400595" cy="5169137"/>
          </a:xfrm>
          <a:prstGeom prst="rect">
            <a:avLst/>
          </a:prstGeom>
        </p:spPr>
      </p:pic>
      <p:pic>
        <p:nvPicPr>
          <p:cNvPr id="10" name="图片 9">
            <a:extLst>
              <a:ext uri="{FF2B5EF4-FFF2-40B4-BE49-F238E27FC236}">
                <a16:creationId xmlns:a16="http://schemas.microsoft.com/office/drawing/2014/main" id="{ACB60158-0469-B050-F3E3-2AF78C219A6F}"/>
              </a:ext>
            </a:extLst>
          </p:cNvPr>
          <p:cNvPicPr>
            <a:picLocks noChangeAspect="1"/>
          </p:cNvPicPr>
          <p:nvPr/>
        </p:nvPicPr>
        <p:blipFill>
          <a:blip r:embed="rId3"/>
          <a:stretch>
            <a:fillRect/>
          </a:stretch>
        </p:blipFill>
        <p:spPr>
          <a:xfrm>
            <a:off x="8864572" y="2223646"/>
            <a:ext cx="2339527" cy="3346698"/>
          </a:xfrm>
          <a:prstGeom prst="rect">
            <a:avLst/>
          </a:prstGeom>
        </p:spPr>
      </p:pic>
    </p:spTree>
    <p:extLst>
      <p:ext uri="{BB962C8B-B14F-4D97-AF65-F5344CB8AC3E}">
        <p14:creationId xmlns:p14="http://schemas.microsoft.com/office/powerpoint/2010/main" val="4245903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4D29BF-E393-616A-3C09-27A610D2BE8B}"/>
              </a:ext>
            </a:extLst>
          </p:cNvPr>
          <p:cNvSpPr>
            <a:spLocks noGrp="1"/>
          </p:cNvSpPr>
          <p:nvPr>
            <p:ph type="title"/>
          </p:nvPr>
        </p:nvSpPr>
        <p:spPr/>
        <p:txBody>
          <a:bodyPr/>
          <a:lstStyle/>
          <a:p>
            <a:r>
              <a:rPr lang="en-US" altLang="zh-CN" dirty="0"/>
              <a:t>Hardware Support</a:t>
            </a:r>
            <a:endParaRPr lang="zh-CN" altLang="en-US" dirty="0"/>
          </a:p>
        </p:txBody>
      </p:sp>
      <p:sp>
        <p:nvSpPr>
          <p:cNvPr id="3" name="日期占位符 2">
            <a:extLst>
              <a:ext uri="{FF2B5EF4-FFF2-40B4-BE49-F238E27FC236}">
                <a16:creationId xmlns:a16="http://schemas.microsoft.com/office/drawing/2014/main" id="{8BDCF533-3570-00DF-D121-B6608948D6C2}"/>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242361ED-B24B-4025-D63C-0AA7253E2E29}"/>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19D4AF79-3526-D14C-A841-78E63E440ED3}"/>
              </a:ext>
            </a:extLst>
          </p:cNvPr>
          <p:cNvSpPr>
            <a:spLocks noGrp="1"/>
          </p:cNvSpPr>
          <p:nvPr>
            <p:ph type="sldNum" sz="quarter" idx="12"/>
          </p:nvPr>
        </p:nvSpPr>
        <p:spPr/>
        <p:txBody>
          <a:bodyPr/>
          <a:lstStyle/>
          <a:p>
            <a:fld id="{9146477A-3083-4652-9A53-6C94B28E95E9}" type="slidenum">
              <a:rPr lang="en-US" smtClean="0"/>
              <a:t>27</a:t>
            </a:fld>
            <a:endParaRPr lang="en-US"/>
          </a:p>
        </p:txBody>
      </p:sp>
      <p:sp>
        <p:nvSpPr>
          <p:cNvPr id="6" name="文本占位符 5">
            <a:extLst>
              <a:ext uri="{FF2B5EF4-FFF2-40B4-BE49-F238E27FC236}">
                <a16:creationId xmlns:a16="http://schemas.microsoft.com/office/drawing/2014/main" id="{6D444FF4-4B55-1313-2AD8-B62230565AF3}"/>
              </a:ext>
            </a:extLst>
          </p:cNvPr>
          <p:cNvSpPr>
            <a:spLocks noGrp="1"/>
          </p:cNvSpPr>
          <p:nvPr>
            <p:ph type="body" idx="1"/>
          </p:nvPr>
        </p:nvSpPr>
        <p:spPr>
          <a:xfrm>
            <a:off x="838200" y="1756843"/>
            <a:ext cx="6185687" cy="4351338"/>
          </a:xfrm>
        </p:spPr>
        <p:txBody>
          <a:bodyPr>
            <a:normAutofit/>
          </a:bodyPr>
          <a:lstStyle/>
          <a:p>
            <a:pPr>
              <a:lnSpc>
                <a:spcPct val="100000"/>
              </a:lnSpc>
            </a:pPr>
            <a:r>
              <a:rPr lang="en-US" altLang="zh-CN" sz="2400" dirty="0"/>
              <a:t>The hardware structure in our MMU required to support segmentation is a set of </a:t>
            </a:r>
            <a:r>
              <a:rPr lang="en-US" altLang="zh-CN" sz="2400" b="1" dirty="0"/>
              <a:t>three base and bounds register pairs</a:t>
            </a:r>
            <a:r>
              <a:rPr lang="en-US" altLang="zh-CN" sz="2400" dirty="0"/>
              <a:t>.</a:t>
            </a:r>
          </a:p>
          <a:p>
            <a:pPr>
              <a:lnSpc>
                <a:spcPct val="100000"/>
              </a:lnSpc>
            </a:pPr>
            <a:r>
              <a:rPr lang="en-US" altLang="zh-CN" sz="2400" dirty="0"/>
              <a:t>Each bounds (size) register holds the exact size of a segment.</a:t>
            </a:r>
          </a:p>
          <a:p>
            <a:pPr>
              <a:lnSpc>
                <a:spcPct val="100000"/>
              </a:lnSpc>
            </a:pPr>
            <a:r>
              <a:rPr lang="en-US" altLang="zh-CN" sz="2400" dirty="0"/>
              <a:t>It tells the hardware exactly how many bytes are valid in this segment, enabling the hardware to determine when a program makes an illegal access outside of those bounds.</a:t>
            </a:r>
            <a:endParaRPr lang="zh-CN" altLang="en-US" sz="2400" dirty="0"/>
          </a:p>
        </p:txBody>
      </p:sp>
      <p:pic>
        <p:nvPicPr>
          <p:cNvPr id="9" name="图片 8">
            <a:extLst>
              <a:ext uri="{FF2B5EF4-FFF2-40B4-BE49-F238E27FC236}">
                <a16:creationId xmlns:a16="http://schemas.microsoft.com/office/drawing/2014/main" id="{35001E87-CE4C-8267-8472-BE5DB09CA4C8}"/>
              </a:ext>
            </a:extLst>
          </p:cNvPr>
          <p:cNvPicPr>
            <a:picLocks noChangeAspect="1"/>
          </p:cNvPicPr>
          <p:nvPr/>
        </p:nvPicPr>
        <p:blipFill>
          <a:blip r:embed="rId2"/>
          <a:stretch>
            <a:fillRect/>
          </a:stretch>
        </p:blipFill>
        <p:spPr>
          <a:xfrm>
            <a:off x="7114956" y="2055660"/>
            <a:ext cx="4709294" cy="1748998"/>
          </a:xfrm>
          <a:prstGeom prst="rect">
            <a:avLst/>
          </a:prstGeom>
        </p:spPr>
      </p:pic>
    </p:spTree>
    <p:extLst>
      <p:ext uri="{BB962C8B-B14F-4D97-AF65-F5344CB8AC3E}">
        <p14:creationId xmlns:p14="http://schemas.microsoft.com/office/powerpoint/2010/main" val="1800582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66330-C972-4925-96FD-28D3667C8DDB}"/>
              </a:ext>
            </a:extLst>
          </p:cNvPr>
          <p:cNvSpPr>
            <a:spLocks noGrp="1"/>
          </p:cNvSpPr>
          <p:nvPr>
            <p:ph type="title"/>
          </p:nvPr>
        </p:nvSpPr>
        <p:spPr/>
        <p:txBody>
          <a:bodyPr/>
          <a:lstStyle/>
          <a:p>
            <a:r>
              <a:rPr lang="en-US" dirty="0"/>
              <a:t>Example</a:t>
            </a:r>
          </a:p>
        </p:txBody>
      </p:sp>
      <p:sp>
        <p:nvSpPr>
          <p:cNvPr id="3" name="Date Placeholder 2">
            <a:extLst>
              <a:ext uri="{FF2B5EF4-FFF2-40B4-BE49-F238E27FC236}">
                <a16:creationId xmlns:a16="http://schemas.microsoft.com/office/drawing/2014/main" id="{F5EF319A-E432-46AC-B57B-24A630C476FF}"/>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Footer Placeholder 3">
            <a:extLst>
              <a:ext uri="{FF2B5EF4-FFF2-40B4-BE49-F238E27FC236}">
                <a16:creationId xmlns:a16="http://schemas.microsoft.com/office/drawing/2014/main" id="{FF55959D-026B-47DF-9C63-AD803F2B4716}"/>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Slide Number Placeholder 4">
            <a:extLst>
              <a:ext uri="{FF2B5EF4-FFF2-40B4-BE49-F238E27FC236}">
                <a16:creationId xmlns:a16="http://schemas.microsoft.com/office/drawing/2014/main" id="{87646C2D-79F1-42B1-86CB-2BD3B0AE2757}"/>
              </a:ext>
            </a:extLst>
          </p:cNvPr>
          <p:cNvSpPr>
            <a:spLocks noGrp="1"/>
          </p:cNvSpPr>
          <p:nvPr>
            <p:ph type="sldNum" sz="quarter" idx="12"/>
          </p:nvPr>
        </p:nvSpPr>
        <p:spPr/>
        <p:txBody>
          <a:bodyPr/>
          <a:lstStyle/>
          <a:p>
            <a:fld id="{9146477A-3083-4652-9A53-6C94B28E95E9}" type="slidenum">
              <a:rPr lang="en-US" smtClean="0"/>
              <a:t>28</a:t>
            </a:fld>
            <a:endParaRPr lang="en-US"/>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48D3E62A-F876-4543-A26B-CB870CB2F4CF}"/>
                  </a:ext>
                </a:extLst>
              </p:cNvPr>
              <p:cNvSpPr>
                <a:spLocks noGrp="1"/>
              </p:cNvSpPr>
              <p:nvPr>
                <p:ph type="body" idx="1"/>
              </p:nvPr>
            </p:nvSpPr>
            <p:spPr>
              <a:xfrm>
                <a:off x="803329" y="2110541"/>
                <a:ext cx="10515600" cy="4351338"/>
              </a:xfrm>
            </p:spPr>
            <p:txBody>
              <a:bodyPr/>
              <a:lstStyle/>
              <a:p>
                <a:r>
                  <a:rPr lang="en-US" dirty="0"/>
                  <a:t>Compute</a:t>
                </a:r>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100 →</m:t>
                    </m:r>
                    <m:r>
                      <a:rPr lang="en-US" altLang="zh-CN" i="1" dirty="0">
                        <a:latin typeface="Cambria Math" panose="02040503050406030204" pitchFamily="18" charset="0"/>
                      </a:rPr>
                      <m:t>𝑃h𝑦𝑠𝑖𝑐𝑎𝑙</m:t>
                    </m:r>
                    <m:r>
                      <a:rPr lang="en-US" altLang="zh-CN" i="1" dirty="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m:t>
                    </m:r>
                  </m:oMath>
                </a14:m>
                <a:endParaRPr lang="en-US" altLang="zh-CN" dirty="0"/>
              </a:p>
              <a:p>
                <a:pPr lvl="1">
                  <a:lnSpc>
                    <a:spcPct val="100000"/>
                  </a:lnSpc>
                </a:pPr>
                <a14:m>
                  <m:oMath xmlns:m="http://schemas.openxmlformats.org/officeDocument/2006/math">
                    <m:r>
                      <a:rPr lang="en-US" altLang="zh-CN" i="1" dirty="0" smtClean="0">
                        <a:latin typeface="Cambria Math" panose="02040503050406030204" pitchFamily="18" charset="0"/>
                      </a:rPr>
                      <m:t>𝑉𝑖𝑟𝑡𝑢𝑎𝑙</m:t>
                    </m:r>
                    <m:r>
                      <a:rPr lang="en-US" altLang="zh-CN" i="1" dirty="0" smtClean="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i="1" dirty="0">
                        <a:latin typeface="Cambria Math" panose="02040503050406030204" pitchFamily="18" charset="0"/>
                      </a:rPr>
                      <m:t> 4200→</m:t>
                    </m:r>
                    <m:r>
                      <a:rPr lang="en-US" altLang="zh-CN" i="1" dirty="0">
                        <a:latin typeface="Cambria Math" panose="02040503050406030204" pitchFamily="18" charset="0"/>
                      </a:rPr>
                      <m:t>𝑃h𝑦𝑠𝑖𝑐𝑎𝑙</m:t>
                    </m:r>
                    <m:r>
                      <a:rPr lang="en-US" altLang="zh-CN" i="1" dirty="0">
                        <a:latin typeface="Cambria Math" panose="02040503050406030204" pitchFamily="18" charset="0"/>
                      </a:rPr>
                      <m:t> </m:t>
                    </m:r>
                    <m:r>
                      <a:rPr lang="en-US" altLang="zh-CN" i="1" dirty="0">
                        <a:latin typeface="Cambria Math" panose="02040503050406030204" pitchFamily="18" charset="0"/>
                      </a:rPr>
                      <m:t>𝐴𝑑𝑑𝑟𝑒𝑠𝑠</m:t>
                    </m:r>
                    <m:r>
                      <a:rPr lang="en-US" altLang="zh-CN" b="0" i="1" dirty="0" smtClean="0">
                        <a:latin typeface="Cambria Math" panose="02040503050406030204" pitchFamily="18" charset="0"/>
                      </a:rPr>
                      <m:t> ?</m:t>
                    </m:r>
                    <m:r>
                      <a:rPr lang="en-US" altLang="zh-CN" i="1" dirty="0" smtClean="0">
                        <a:latin typeface="Cambria Math" panose="02040503050406030204" pitchFamily="18" charset="0"/>
                      </a:rPr>
                      <m:t>.</m:t>
                    </m:r>
                  </m:oMath>
                </a14:m>
                <a:endParaRPr lang="en-US" altLang="zh-CN" dirty="0"/>
              </a:p>
              <a:p>
                <a:endParaRPr lang="en-US" dirty="0"/>
              </a:p>
            </p:txBody>
          </p:sp>
        </mc:Choice>
        <mc:Fallback xmlns="">
          <p:sp>
            <p:nvSpPr>
              <p:cNvPr id="6" name="Text Placeholder 5">
                <a:extLst>
                  <a:ext uri="{FF2B5EF4-FFF2-40B4-BE49-F238E27FC236}">
                    <a16:creationId xmlns:a16="http://schemas.microsoft.com/office/drawing/2014/main" id="{48D3E62A-F876-4543-A26B-CB870CB2F4CF}"/>
                  </a:ext>
                </a:extLst>
              </p:cNvPr>
              <p:cNvSpPr>
                <a:spLocks noGrp="1" noRot="1" noChangeAspect="1" noMove="1" noResize="1" noEditPoints="1" noAdjustHandles="1" noChangeArrowheads="1" noChangeShapeType="1" noTextEdit="1"/>
              </p:cNvSpPr>
              <p:nvPr>
                <p:ph type="body" idx="1"/>
              </p:nvPr>
            </p:nvSpPr>
            <p:spPr>
              <a:xfrm>
                <a:off x="803329" y="2110541"/>
                <a:ext cx="10515600" cy="4351338"/>
              </a:xfrm>
              <a:blipFill>
                <a:blip r:embed="rId2"/>
                <a:stretch>
                  <a:fillRect l="-1043" t="-2381"/>
                </a:stretch>
              </a:blipFill>
            </p:spPr>
            <p:txBody>
              <a:bodyPr/>
              <a:lstStyle/>
              <a:p>
                <a:r>
                  <a:rPr lang="en-US">
                    <a:noFill/>
                  </a:rPr>
                  <a:t> </a:t>
                </a:r>
              </a:p>
            </p:txBody>
          </p:sp>
        </mc:Fallback>
      </mc:AlternateContent>
      <p:pic>
        <p:nvPicPr>
          <p:cNvPr id="7" name="图片 8">
            <a:extLst>
              <a:ext uri="{FF2B5EF4-FFF2-40B4-BE49-F238E27FC236}">
                <a16:creationId xmlns:a16="http://schemas.microsoft.com/office/drawing/2014/main" id="{3294D2E0-EA4B-4717-813C-0FF8A0A8AEEC}"/>
              </a:ext>
            </a:extLst>
          </p:cNvPr>
          <p:cNvPicPr>
            <a:picLocks noChangeAspect="1"/>
          </p:cNvPicPr>
          <p:nvPr/>
        </p:nvPicPr>
        <p:blipFill>
          <a:blip r:embed="rId3"/>
          <a:stretch>
            <a:fillRect/>
          </a:stretch>
        </p:blipFill>
        <p:spPr>
          <a:xfrm>
            <a:off x="2114306" y="3759254"/>
            <a:ext cx="4709294" cy="1748998"/>
          </a:xfrm>
          <a:prstGeom prst="rect">
            <a:avLst/>
          </a:prstGeom>
        </p:spPr>
      </p:pic>
      <p:pic>
        <p:nvPicPr>
          <p:cNvPr id="8" name="图片 7">
            <a:extLst>
              <a:ext uri="{FF2B5EF4-FFF2-40B4-BE49-F238E27FC236}">
                <a16:creationId xmlns:a16="http://schemas.microsoft.com/office/drawing/2014/main" id="{5D0C3A91-D907-421F-BF7B-1E1F0F21F70D}"/>
              </a:ext>
            </a:extLst>
          </p:cNvPr>
          <p:cNvPicPr>
            <a:picLocks noChangeAspect="1"/>
          </p:cNvPicPr>
          <p:nvPr/>
        </p:nvPicPr>
        <p:blipFill>
          <a:blip r:embed="rId4"/>
          <a:stretch>
            <a:fillRect/>
          </a:stretch>
        </p:blipFill>
        <p:spPr>
          <a:xfrm>
            <a:off x="7843160" y="1174685"/>
            <a:ext cx="2400595" cy="5169137"/>
          </a:xfrm>
          <a:prstGeom prst="rect">
            <a:avLst/>
          </a:prstGeom>
        </p:spPr>
      </p:pic>
    </p:spTree>
    <p:extLst>
      <p:ext uri="{BB962C8B-B14F-4D97-AF65-F5344CB8AC3E}">
        <p14:creationId xmlns:p14="http://schemas.microsoft.com/office/powerpoint/2010/main" val="2420355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48074-7695-62B6-AF92-CFF6939462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67A604-8250-07DE-A20A-11CCE662075A}"/>
              </a:ext>
            </a:extLst>
          </p:cNvPr>
          <p:cNvSpPr>
            <a:spLocks noGrp="1"/>
          </p:cNvSpPr>
          <p:nvPr>
            <p:ph type="title"/>
          </p:nvPr>
        </p:nvSpPr>
        <p:spPr/>
        <p:txBody>
          <a:bodyPr/>
          <a:lstStyle/>
          <a:p>
            <a:r>
              <a:rPr lang="en-US" altLang="zh-CN" dirty="0"/>
              <a:t>Example </a:t>
            </a:r>
            <a:endParaRPr lang="zh-CN" altLang="en-US" dirty="0"/>
          </a:p>
        </p:txBody>
      </p:sp>
      <p:sp>
        <p:nvSpPr>
          <p:cNvPr id="3" name="日期占位符 2">
            <a:extLst>
              <a:ext uri="{FF2B5EF4-FFF2-40B4-BE49-F238E27FC236}">
                <a16:creationId xmlns:a16="http://schemas.microsoft.com/office/drawing/2014/main" id="{AAFB8C52-3D39-6DCB-9605-85D0B221BA26}"/>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CADD5A73-49CA-1FCA-08C2-CA3B7AD0C022}"/>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D0E98C8-7149-CA3D-FFD2-309DF115BF73}"/>
              </a:ext>
            </a:extLst>
          </p:cNvPr>
          <p:cNvSpPr>
            <a:spLocks noGrp="1"/>
          </p:cNvSpPr>
          <p:nvPr>
            <p:ph type="sldNum" sz="quarter" idx="12"/>
          </p:nvPr>
        </p:nvSpPr>
        <p:spPr/>
        <p:txBody>
          <a:bodyPr/>
          <a:lstStyle/>
          <a:p>
            <a:fld id="{9146477A-3083-4652-9A53-6C94B28E95E9}" type="slidenum">
              <a:rPr lang="en-US" smtClean="0"/>
              <a:t>29</a:t>
            </a:fld>
            <a:endParaRPr lang="en-US"/>
          </a:p>
        </p:txBody>
      </p:sp>
      <p:sp>
        <p:nvSpPr>
          <p:cNvPr id="6" name="文本占位符 5">
            <a:extLst>
              <a:ext uri="{FF2B5EF4-FFF2-40B4-BE49-F238E27FC236}">
                <a16:creationId xmlns:a16="http://schemas.microsoft.com/office/drawing/2014/main" id="{EBB23B12-264E-FF4A-3511-7AA5A832F906}"/>
              </a:ext>
            </a:extLst>
          </p:cNvPr>
          <p:cNvSpPr>
            <a:spLocks noGrp="1"/>
          </p:cNvSpPr>
          <p:nvPr>
            <p:ph type="body" idx="1"/>
          </p:nvPr>
        </p:nvSpPr>
        <p:spPr/>
        <p:txBody>
          <a:bodyPr>
            <a:normAutofit/>
          </a:bodyPr>
          <a:lstStyle/>
          <a:p>
            <a:pPr>
              <a:lnSpc>
                <a:spcPct val="100000"/>
              </a:lnSpc>
            </a:pPr>
            <a:r>
              <a:rPr lang="en-US" altLang="zh-CN" sz="2400" dirty="0"/>
              <a:t>Assume a reference is made to virtual address 100 (which is in the code segment).</a:t>
            </a:r>
          </a:p>
          <a:p>
            <a:pPr>
              <a:lnSpc>
                <a:spcPct val="100000"/>
              </a:lnSpc>
            </a:pPr>
            <a:r>
              <a:rPr lang="en-US" altLang="zh-CN" sz="2400" dirty="0"/>
              <a:t>Hardware retrieves the Base (32KB) and Bounds (2KB) for the Code Segment.</a:t>
            </a:r>
          </a:p>
          <a:p>
            <a:pPr>
              <a:lnSpc>
                <a:spcPct val="100000"/>
              </a:lnSpc>
            </a:pPr>
            <a:r>
              <a:rPr lang="en-US" altLang="zh-CN" sz="2400" dirty="0"/>
              <a:t>The hardware adds the base value to the offset: 100 + 32KB = 32868.</a:t>
            </a:r>
          </a:p>
          <a:p>
            <a:pPr>
              <a:lnSpc>
                <a:spcPct val="100000"/>
              </a:lnSpc>
            </a:pPr>
            <a:r>
              <a:rPr lang="en-US" altLang="zh-CN" sz="2400" dirty="0"/>
              <a:t>It checks that the address is within bounds (100 is less than 2KB) and issues the reference to physical memory address 32868.</a:t>
            </a:r>
            <a:endParaRPr lang="zh-CN" altLang="en-US" sz="2400" dirty="0"/>
          </a:p>
        </p:txBody>
      </p:sp>
    </p:spTree>
    <p:extLst>
      <p:ext uri="{BB962C8B-B14F-4D97-AF65-F5344CB8AC3E}">
        <p14:creationId xmlns:p14="http://schemas.microsoft.com/office/powerpoint/2010/main" val="15173311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B3840-2168-6423-1EDB-91F1235A9D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79910E-DC68-6161-CFC1-3E917EBECF3F}"/>
              </a:ext>
            </a:extLst>
          </p:cNvPr>
          <p:cNvSpPr>
            <a:spLocks noGrp="1"/>
          </p:cNvSpPr>
          <p:nvPr>
            <p:ph type="title"/>
          </p:nvPr>
        </p:nvSpPr>
        <p:spPr/>
        <p:txBody>
          <a:bodyPr/>
          <a:lstStyle/>
          <a:p>
            <a:r>
              <a:rPr lang="en-US" altLang="zh-CN" dirty="0"/>
              <a:t>Example</a:t>
            </a:r>
            <a:endParaRPr lang="zh-CN" altLang="en-US" dirty="0"/>
          </a:p>
        </p:txBody>
      </p:sp>
      <p:sp>
        <p:nvSpPr>
          <p:cNvPr id="3" name="日期占位符 2">
            <a:extLst>
              <a:ext uri="{FF2B5EF4-FFF2-40B4-BE49-F238E27FC236}">
                <a16:creationId xmlns:a16="http://schemas.microsoft.com/office/drawing/2014/main" id="{3FEAC042-776E-1232-3301-C1C08D853ACC}"/>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72DD71C9-EB0B-556B-F5EE-A75C82145E15}"/>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1A614CB4-DAF4-EF0D-6E33-7A88D1C12BE5}"/>
              </a:ext>
            </a:extLst>
          </p:cNvPr>
          <p:cNvSpPr>
            <a:spLocks noGrp="1"/>
          </p:cNvSpPr>
          <p:nvPr>
            <p:ph type="sldNum" sz="quarter" idx="12"/>
          </p:nvPr>
        </p:nvSpPr>
        <p:spPr/>
        <p:txBody>
          <a:bodyPr/>
          <a:lstStyle/>
          <a:p>
            <a:fld id="{9146477A-3083-4652-9A53-6C94B28E95E9}" type="slidenum">
              <a:rPr lang="en-US" smtClean="0"/>
              <a:t>30</a:t>
            </a:fld>
            <a:endParaRPr lang="en-US"/>
          </a:p>
        </p:txBody>
      </p:sp>
      <p:sp>
        <p:nvSpPr>
          <p:cNvPr id="6" name="文本占位符 5">
            <a:extLst>
              <a:ext uri="{FF2B5EF4-FFF2-40B4-BE49-F238E27FC236}">
                <a16:creationId xmlns:a16="http://schemas.microsoft.com/office/drawing/2014/main" id="{4EF746BC-4AE9-C6D8-0071-C75B139181FF}"/>
              </a:ext>
            </a:extLst>
          </p:cNvPr>
          <p:cNvSpPr>
            <a:spLocks noGrp="1"/>
          </p:cNvSpPr>
          <p:nvPr>
            <p:ph type="body" idx="1"/>
          </p:nvPr>
        </p:nvSpPr>
        <p:spPr/>
        <p:txBody>
          <a:bodyPr>
            <a:normAutofit/>
          </a:bodyPr>
          <a:lstStyle/>
          <a:p>
            <a:pPr>
              <a:lnSpc>
                <a:spcPct val="100000"/>
              </a:lnSpc>
            </a:pPr>
            <a:r>
              <a:rPr lang="en-US" altLang="zh-CN" sz="2400" dirty="0"/>
              <a:t>Now consider virtual address 4200 (in the heap segment).</a:t>
            </a:r>
          </a:p>
          <a:p>
            <a:pPr>
              <a:lnSpc>
                <a:spcPct val="100000"/>
              </a:lnSpc>
            </a:pPr>
            <a:r>
              <a:rPr lang="en-US" altLang="zh-CN" sz="2400" dirty="0"/>
              <a:t>If we just add 4200 to the heap base (34KB), we get 39016, which is incorrect.</a:t>
            </a:r>
          </a:p>
          <a:p>
            <a:pPr>
              <a:lnSpc>
                <a:spcPct val="100000"/>
              </a:lnSpc>
            </a:pPr>
            <a:r>
              <a:rPr lang="en-US" altLang="zh-CN" sz="2400" dirty="0"/>
              <a:t>We must first extract the offset into the heap. Because the heap starts at virtual address 4KB (4096), the offset is 4200 - 4096 = 104.</a:t>
            </a:r>
          </a:p>
          <a:p>
            <a:pPr>
              <a:lnSpc>
                <a:spcPct val="100000"/>
              </a:lnSpc>
            </a:pPr>
            <a:r>
              <a:rPr lang="en-US" altLang="zh-CN" sz="2400" dirty="0"/>
              <a:t>We add this offset (104) to the base register (34KB) to get the correct physical address: 34920.</a:t>
            </a:r>
            <a:endParaRPr lang="zh-CN" altLang="en-US" sz="2400" dirty="0"/>
          </a:p>
        </p:txBody>
      </p:sp>
    </p:spTree>
    <p:extLst>
      <p:ext uri="{BB962C8B-B14F-4D97-AF65-F5344CB8AC3E}">
        <p14:creationId xmlns:p14="http://schemas.microsoft.com/office/powerpoint/2010/main" val="2072194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7657B-7210-92E7-2142-C1B574D9B88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0A598B-8EA1-7230-FBC9-F541520B8603}"/>
              </a:ext>
            </a:extLst>
          </p:cNvPr>
          <p:cNvSpPr>
            <a:spLocks noGrp="1"/>
          </p:cNvSpPr>
          <p:nvPr>
            <p:ph type="title"/>
          </p:nvPr>
        </p:nvSpPr>
        <p:spPr/>
        <p:txBody>
          <a:bodyPr/>
          <a:lstStyle/>
          <a:p>
            <a:r>
              <a:rPr lang="en-US" altLang="zh-CN" dirty="0"/>
              <a:t>Segmentation Fault</a:t>
            </a:r>
            <a:endParaRPr lang="zh-CN" altLang="en-US" dirty="0"/>
          </a:p>
        </p:txBody>
      </p:sp>
      <p:sp>
        <p:nvSpPr>
          <p:cNvPr id="3" name="日期占位符 2">
            <a:extLst>
              <a:ext uri="{FF2B5EF4-FFF2-40B4-BE49-F238E27FC236}">
                <a16:creationId xmlns:a16="http://schemas.microsoft.com/office/drawing/2014/main" id="{B68E30A0-C1A1-FAC6-3876-9AF134174759}"/>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0CBC6E76-B545-7A59-7FA0-6FF280A9FF9A}"/>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020AB194-B582-A754-4A40-4023E4F63816}"/>
              </a:ext>
            </a:extLst>
          </p:cNvPr>
          <p:cNvSpPr>
            <a:spLocks noGrp="1"/>
          </p:cNvSpPr>
          <p:nvPr>
            <p:ph type="sldNum" sz="quarter" idx="12"/>
          </p:nvPr>
        </p:nvSpPr>
        <p:spPr/>
        <p:txBody>
          <a:bodyPr/>
          <a:lstStyle/>
          <a:p>
            <a:fld id="{9146477A-3083-4652-9A53-6C94B28E95E9}" type="slidenum">
              <a:rPr lang="en-US" smtClean="0"/>
              <a:t>31</a:t>
            </a:fld>
            <a:endParaRPr lang="en-US"/>
          </a:p>
        </p:txBody>
      </p:sp>
      <p:sp>
        <p:nvSpPr>
          <p:cNvPr id="6" name="文本占位符 5">
            <a:extLst>
              <a:ext uri="{FF2B5EF4-FFF2-40B4-BE49-F238E27FC236}">
                <a16:creationId xmlns:a16="http://schemas.microsoft.com/office/drawing/2014/main" id="{633A5BC7-DE76-7D44-2EB4-7504E14FEF8E}"/>
              </a:ext>
            </a:extLst>
          </p:cNvPr>
          <p:cNvSpPr>
            <a:spLocks noGrp="1"/>
          </p:cNvSpPr>
          <p:nvPr>
            <p:ph type="body" idx="1"/>
          </p:nvPr>
        </p:nvSpPr>
        <p:spPr/>
        <p:txBody>
          <a:bodyPr>
            <a:normAutofit/>
          </a:bodyPr>
          <a:lstStyle/>
          <a:p>
            <a:pPr>
              <a:lnSpc>
                <a:spcPct val="100000"/>
              </a:lnSpc>
            </a:pPr>
            <a:r>
              <a:rPr lang="en-US" altLang="zh-CN" sz="2400" dirty="0"/>
              <a:t>What if we tried to refer to an illegal address (e.g., virtual address 7KB), which is in the free space beyond the end of the heap?</a:t>
            </a:r>
          </a:p>
          <a:p>
            <a:pPr>
              <a:lnSpc>
                <a:spcPct val="100000"/>
              </a:lnSpc>
            </a:pPr>
            <a:r>
              <a:rPr lang="en-US" altLang="zh-CN" sz="2400" dirty="0"/>
              <a:t>The hardware detects that the offset is greater than the bounds of the heap segment.</a:t>
            </a:r>
          </a:p>
          <a:p>
            <a:pPr>
              <a:lnSpc>
                <a:spcPct val="100000"/>
              </a:lnSpc>
            </a:pPr>
            <a:r>
              <a:rPr lang="en-US" altLang="zh-CN" sz="2400" dirty="0"/>
              <a:t>The hardware traps into the OS, likely leading to the termination of the offending process.</a:t>
            </a:r>
          </a:p>
          <a:p>
            <a:pPr>
              <a:lnSpc>
                <a:spcPct val="100000"/>
              </a:lnSpc>
            </a:pPr>
            <a:r>
              <a:rPr lang="en-US" altLang="zh-CN" sz="2400" dirty="0"/>
              <a:t>This is the origin of the famous error all C programmers dread: the segmentation violation or segmentation fault.</a:t>
            </a:r>
            <a:endParaRPr lang="zh-CN" altLang="en-US" sz="2400" dirty="0"/>
          </a:p>
        </p:txBody>
      </p:sp>
    </p:spTree>
    <p:extLst>
      <p:ext uri="{BB962C8B-B14F-4D97-AF65-F5344CB8AC3E}">
        <p14:creationId xmlns:p14="http://schemas.microsoft.com/office/powerpoint/2010/main" val="12880322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3F231-AB70-B08E-0C62-E5587834A4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C6D0DE-9444-B8A1-EE9B-21744622B6D4}"/>
              </a:ext>
            </a:extLst>
          </p:cNvPr>
          <p:cNvSpPr>
            <a:spLocks noGrp="1"/>
          </p:cNvSpPr>
          <p:nvPr>
            <p:ph type="title"/>
          </p:nvPr>
        </p:nvSpPr>
        <p:spPr>
          <a:xfrm>
            <a:off x="838200" y="365125"/>
            <a:ext cx="9831149" cy="1072515"/>
          </a:xfrm>
        </p:spPr>
        <p:txBody>
          <a:bodyPr>
            <a:normAutofit fontScale="90000"/>
          </a:bodyPr>
          <a:lstStyle/>
          <a:p>
            <a:r>
              <a:rPr lang="en-US" altLang="zh-CN" dirty="0"/>
              <a:t>Which Segment Are We Referring To?</a:t>
            </a:r>
            <a:endParaRPr lang="zh-CN" altLang="en-US" dirty="0"/>
          </a:p>
        </p:txBody>
      </p:sp>
      <p:sp>
        <p:nvSpPr>
          <p:cNvPr id="3" name="日期占位符 2">
            <a:extLst>
              <a:ext uri="{FF2B5EF4-FFF2-40B4-BE49-F238E27FC236}">
                <a16:creationId xmlns:a16="http://schemas.microsoft.com/office/drawing/2014/main" id="{EFC986BC-6B04-EDC7-68F7-5DD98FE99BA7}"/>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338D4BE2-8F1E-8ACB-60F6-860CF8D1F9BB}"/>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39DB77C0-A5A5-A7CB-791E-93DF04BA2D9A}"/>
              </a:ext>
            </a:extLst>
          </p:cNvPr>
          <p:cNvSpPr>
            <a:spLocks noGrp="1"/>
          </p:cNvSpPr>
          <p:nvPr>
            <p:ph type="sldNum" sz="quarter" idx="12"/>
          </p:nvPr>
        </p:nvSpPr>
        <p:spPr/>
        <p:txBody>
          <a:bodyPr/>
          <a:lstStyle/>
          <a:p>
            <a:fld id="{9146477A-3083-4652-9A53-6C94B28E95E9}" type="slidenum">
              <a:rPr lang="en-US" smtClean="0"/>
              <a:t>32</a:t>
            </a:fld>
            <a:endParaRPr lang="en-US"/>
          </a:p>
        </p:txBody>
      </p:sp>
      <p:sp>
        <p:nvSpPr>
          <p:cNvPr id="6" name="文本占位符 5">
            <a:extLst>
              <a:ext uri="{FF2B5EF4-FFF2-40B4-BE49-F238E27FC236}">
                <a16:creationId xmlns:a16="http://schemas.microsoft.com/office/drawing/2014/main" id="{F1AD2665-A41E-7D40-EDEC-C8E34278B020}"/>
              </a:ext>
            </a:extLst>
          </p:cNvPr>
          <p:cNvSpPr>
            <a:spLocks noGrp="1"/>
          </p:cNvSpPr>
          <p:nvPr>
            <p:ph type="body" idx="1"/>
          </p:nvPr>
        </p:nvSpPr>
        <p:spPr/>
        <p:txBody>
          <a:bodyPr>
            <a:normAutofit/>
          </a:bodyPr>
          <a:lstStyle/>
          <a:p>
            <a:pPr marL="0" indent="0">
              <a:buNone/>
            </a:pPr>
            <a:r>
              <a:rPr lang="en-US" altLang="zh-CN" sz="2400" dirty="0"/>
              <a:t>How does the hardware know which segment a virtual address refers to?</a:t>
            </a:r>
          </a:p>
          <a:p>
            <a:r>
              <a:rPr lang="en-US" altLang="zh-CN" sz="2400" b="1" dirty="0"/>
              <a:t>Explicit Approach: </a:t>
            </a:r>
            <a:r>
              <a:rPr lang="en-US" altLang="zh-CN" sz="2400" dirty="0"/>
              <a:t>Chop up the address space into segments based on the top few bits of the virtual address.</a:t>
            </a:r>
          </a:p>
          <a:p>
            <a:r>
              <a:rPr lang="en-US" altLang="zh-CN" sz="2400" dirty="0"/>
              <a:t>In our example with 3 segments, we need 2 bits. A 14-bit virtual address is split:</a:t>
            </a:r>
          </a:p>
          <a:p>
            <a:pPr lvl="1"/>
            <a:r>
              <a:rPr lang="en-US" altLang="zh-CN" sz="2000" dirty="0"/>
              <a:t>Top 2 bits (Bits 13-12): Segment Selector (00=Code, 01=Heap, 11=Stack).</a:t>
            </a:r>
          </a:p>
          <a:p>
            <a:pPr lvl="1"/>
            <a:r>
              <a:rPr lang="en-US" altLang="zh-CN" sz="2000" dirty="0"/>
              <a:t>Bottom 12 bits (Bits 11-0): Offset into the segment.</a:t>
            </a:r>
            <a:endParaRPr lang="zh-CN" altLang="en-US" sz="2000" dirty="0"/>
          </a:p>
        </p:txBody>
      </p:sp>
      <p:pic>
        <p:nvPicPr>
          <p:cNvPr id="9" name="图片 8">
            <a:extLst>
              <a:ext uri="{FF2B5EF4-FFF2-40B4-BE49-F238E27FC236}">
                <a16:creationId xmlns:a16="http://schemas.microsoft.com/office/drawing/2014/main" id="{E4DE73A0-6AFD-538C-CDF1-87ED091FED24}"/>
              </a:ext>
            </a:extLst>
          </p:cNvPr>
          <p:cNvPicPr>
            <a:picLocks noChangeAspect="1"/>
          </p:cNvPicPr>
          <p:nvPr/>
        </p:nvPicPr>
        <p:blipFill>
          <a:blip r:embed="rId2"/>
          <a:stretch>
            <a:fillRect/>
          </a:stretch>
        </p:blipFill>
        <p:spPr>
          <a:xfrm>
            <a:off x="1282862" y="4737053"/>
            <a:ext cx="5610843" cy="1258460"/>
          </a:xfrm>
          <a:prstGeom prst="rect">
            <a:avLst/>
          </a:prstGeom>
        </p:spPr>
      </p:pic>
    </p:spTree>
    <p:extLst>
      <p:ext uri="{BB962C8B-B14F-4D97-AF65-F5344CB8AC3E}">
        <p14:creationId xmlns:p14="http://schemas.microsoft.com/office/powerpoint/2010/main" val="1162286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F495C-81E4-4A94-8931-AC0E7A3F7A9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210332-4BA8-1233-2438-B25CF1E25A56}"/>
              </a:ext>
            </a:extLst>
          </p:cNvPr>
          <p:cNvSpPr>
            <a:spLocks noGrp="1"/>
          </p:cNvSpPr>
          <p:nvPr>
            <p:ph type="title"/>
          </p:nvPr>
        </p:nvSpPr>
        <p:spPr/>
        <p:txBody>
          <a:bodyPr/>
          <a:lstStyle/>
          <a:p>
            <a:r>
              <a:rPr lang="en-US" altLang="zh-CN" dirty="0"/>
              <a:t>What About The Stack?</a:t>
            </a:r>
            <a:endParaRPr lang="zh-CN" altLang="en-US" dirty="0"/>
          </a:p>
        </p:txBody>
      </p:sp>
      <p:sp>
        <p:nvSpPr>
          <p:cNvPr id="3" name="日期占位符 2">
            <a:extLst>
              <a:ext uri="{FF2B5EF4-FFF2-40B4-BE49-F238E27FC236}">
                <a16:creationId xmlns:a16="http://schemas.microsoft.com/office/drawing/2014/main" id="{B29339BD-0153-FC8E-06A9-33170C018AD1}"/>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28FB0731-9D1E-6EF7-E533-F6C644DD04A5}"/>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1E0E534F-CFF1-9381-4B92-49F36CA84A6E}"/>
              </a:ext>
            </a:extLst>
          </p:cNvPr>
          <p:cNvSpPr>
            <a:spLocks noGrp="1"/>
          </p:cNvSpPr>
          <p:nvPr>
            <p:ph type="sldNum" sz="quarter" idx="12"/>
          </p:nvPr>
        </p:nvSpPr>
        <p:spPr/>
        <p:txBody>
          <a:bodyPr/>
          <a:lstStyle/>
          <a:p>
            <a:fld id="{9146477A-3083-4652-9A53-6C94B28E95E9}" type="slidenum">
              <a:rPr lang="en-US" smtClean="0"/>
              <a:t>33</a:t>
            </a:fld>
            <a:endParaRPr lang="en-US"/>
          </a:p>
        </p:txBody>
      </p:sp>
      <p:sp>
        <p:nvSpPr>
          <p:cNvPr id="6" name="文本占位符 5">
            <a:extLst>
              <a:ext uri="{FF2B5EF4-FFF2-40B4-BE49-F238E27FC236}">
                <a16:creationId xmlns:a16="http://schemas.microsoft.com/office/drawing/2014/main" id="{D81B5A9B-5233-6A98-B0FC-BE20A44367BF}"/>
              </a:ext>
            </a:extLst>
          </p:cNvPr>
          <p:cNvSpPr>
            <a:spLocks noGrp="1"/>
          </p:cNvSpPr>
          <p:nvPr>
            <p:ph type="body" idx="1"/>
          </p:nvPr>
        </p:nvSpPr>
        <p:spPr/>
        <p:txBody>
          <a:bodyPr>
            <a:normAutofit/>
          </a:bodyPr>
          <a:lstStyle/>
          <a:p>
            <a:pPr>
              <a:lnSpc>
                <a:spcPct val="100000"/>
              </a:lnSpc>
            </a:pPr>
            <a:r>
              <a:rPr lang="en-US" altLang="zh-CN" sz="2400" dirty="0"/>
              <a:t>Thus far, we've ignored the stack. The stack has a critical difference: it </a:t>
            </a:r>
            <a:r>
              <a:rPr lang="en-US" altLang="zh-CN" sz="2400" b="1" dirty="0"/>
              <a:t>grows backwards </a:t>
            </a:r>
            <a:r>
              <a:rPr lang="en-US" altLang="zh-CN" sz="2400" dirty="0"/>
              <a:t>(towards lower addresses).</a:t>
            </a:r>
          </a:p>
          <a:p>
            <a:pPr>
              <a:lnSpc>
                <a:spcPct val="100000"/>
              </a:lnSpc>
            </a:pPr>
            <a:r>
              <a:rPr lang="en-US" altLang="zh-CN" sz="2400" dirty="0"/>
              <a:t>We need a little extra hardware support. Instead of just base and bounds, the hardware needs to know which way the segment grows.</a:t>
            </a:r>
          </a:p>
          <a:p>
            <a:pPr>
              <a:lnSpc>
                <a:spcPct val="100000"/>
              </a:lnSpc>
            </a:pPr>
            <a:r>
              <a:rPr lang="en-US" altLang="zh-CN" sz="2400" dirty="0"/>
              <a:t>We add a </a:t>
            </a:r>
            <a:r>
              <a:rPr lang="en-US" altLang="zh-CN" sz="2400" dirty="0">
                <a:highlight>
                  <a:srgbClr val="C0C0C0"/>
                </a:highlight>
              </a:rPr>
              <a:t>Grows Positive?</a:t>
            </a:r>
            <a:r>
              <a:rPr lang="en-US" altLang="zh-CN" sz="2400" dirty="0"/>
              <a:t> bit (1 for positive growth, 0 for negative growth) to the segment registers.</a:t>
            </a:r>
            <a:endParaRPr lang="zh-CN" altLang="en-US" sz="2400" dirty="0"/>
          </a:p>
        </p:txBody>
      </p:sp>
    </p:spTree>
    <p:extLst>
      <p:ext uri="{BB962C8B-B14F-4D97-AF65-F5344CB8AC3E}">
        <p14:creationId xmlns:p14="http://schemas.microsoft.com/office/powerpoint/2010/main" val="370725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E2960-5265-05E0-ED79-EACBB2040F7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A8387C4-CECC-C765-96F2-EE8373D6C06B}"/>
              </a:ext>
            </a:extLst>
          </p:cNvPr>
          <p:cNvSpPr>
            <a:spLocks noGrp="1"/>
          </p:cNvSpPr>
          <p:nvPr>
            <p:ph type="title"/>
          </p:nvPr>
        </p:nvSpPr>
        <p:spPr/>
        <p:txBody>
          <a:bodyPr/>
          <a:lstStyle/>
          <a:p>
            <a:r>
              <a:rPr lang="en-US" altLang="zh-CN" dirty="0"/>
              <a:t>Hardware Support</a:t>
            </a:r>
            <a:endParaRPr lang="zh-CN" altLang="en-US" dirty="0"/>
          </a:p>
        </p:txBody>
      </p:sp>
      <p:sp>
        <p:nvSpPr>
          <p:cNvPr id="3" name="日期占位符 2">
            <a:extLst>
              <a:ext uri="{FF2B5EF4-FFF2-40B4-BE49-F238E27FC236}">
                <a16:creationId xmlns:a16="http://schemas.microsoft.com/office/drawing/2014/main" id="{B0DB544D-8F59-E01C-39EC-DEAD6A68A80E}"/>
              </a:ext>
            </a:extLst>
          </p:cNvPr>
          <p:cNvSpPr>
            <a:spLocks noGrp="1"/>
          </p:cNvSpPr>
          <p:nvPr>
            <p:ph type="dt" sz="half" idx="10"/>
          </p:nvPr>
        </p:nvSpPr>
        <p:spPr>
          <a:xfrm>
            <a:off x="838200" y="6356349"/>
            <a:ext cx="2743200" cy="365125"/>
          </a:xfrm>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00E9F5BA-9F25-8F81-54EC-6325A5B35DF0}"/>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7B85E63D-7D7A-B787-CC4F-B9FED5BC2B5A}"/>
              </a:ext>
            </a:extLst>
          </p:cNvPr>
          <p:cNvSpPr>
            <a:spLocks noGrp="1"/>
          </p:cNvSpPr>
          <p:nvPr>
            <p:ph type="sldNum" sz="quarter" idx="12"/>
          </p:nvPr>
        </p:nvSpPr>
        <p:spPr/>
        <p:txBody>
          <a:bodyPr/>
          <a:lstStyle/>
          <a:p>
            <a:fld id="{9146477A-3083-4652-9A53-6C94B28E95E9}" type="slidenum">
              <a:rPr lang="en-US" smtClean="0"/>
              <a:t>34</a:t>
            </a:fld>
            <a:endParaRPr lang="en-US"/>
          </a:p>
        </p:txBody>
      </p:sp>
      <p:sp>
        <p:nvSpPr>
          <p:cNvPr id="6" name="文本占位符 5">
            <a:extLst>
              <a:ext uri="{FF2B5EF4-FFF2-40B4-BE49-F238E27FC236}">
                <a16:creationId xmlns:a16="http://schemas.microsoft.com/office/drawing/2014/main" id="{ED304230-4977-AB2D-91E6-358C551C9DE2}"/>
              </a:ext>
            </a:extLst>
          </p:cNvPr>
          <p:cNvSpPr>
            <a:spLocks noGrp="1"/>
          </p:cNvSpPr>
          <p:nvPr>
            <p:ph type="body" idx="1"/>
          </p:nvPr>
        </p:nvSpPr>
        <p:spPr>
          <a:xfrm>
            <a:off x="739389" y="1682266"/>
            <a:ext cx="8305166" cy="4351338"/>
          </a:xfrm>
        </p:spPr>
        <p:txBody>
          <a:bodyPr>
            <a:normAutofit/>
          </a:bodyPr>
          <a:lstStyle/>
          <a:p>
            <a:r>
              <a:rPr lang="en-US" altLang="zh-CN" sz="2400" dirty="0"/>
              <a:t>To translate a stack virtual address (e.g., 15KB), the hardware sees the top two bits (11) and identifies the stack segment.</a:t>
            </a:r>
          </a:p>
          <a:p>
            <a:r>
              <a:rPr lang="en-US" altLang="zh-CN" sz="2400" dirty="0"/>
              <a:t>It calculates the offset (3KB). Since the stack grows negatively, we subtract the maximum segment size (4KB) from 3KB to get a negative offset: -1KB.</a:t>
            </a:r>
          </a:p>
          <a:p>
            <a:r>
              <a:rPr lang="en-US" altLang="zh-CN" sz="2400" dirty="0"/>
              <a:t>Add the negative offset (-1KB) to the Base (28KB) to arrive at the correct physical address: 27KB.</a:t>
            </a:r>
            <a:endParaRPr lang="zh-CN" altLang="en-US" sz="2400" dirty="0"/>
          </a:p>
        </p:txBody>
      </p:sp>
      <p:pic>
        <p:nvPicPr>
          <p:cNvPr id="8" name="图片 7">
            <a:extLst>
              <a:ext uri="{FF2B5EF4-FFF2-40B4-BE49-F238E27FC236}">
                <a16:creationId xmlns:a16="http://schemas.microsoft.com/office/drawing/2014/main" id="{CAA2B4AF-EC2A-CDD3-E9BA-215311D8A7D7}"/>
              </a:ext>
            </a:extLst>
          </p:cNvPr>
          <p:cNvPicPr>
            <a:picLocks noChangeAspect="1"/>
          </p:cNvPicPr>
          <p:nvPr/>
        </p:nvPicPr>
        <p:blipFill>
          <a:blip r:embed="rId2"/>
          <a:stretch>
            <a:fillRect/>
          </a:stretch>
        </p:blipFill>
        <p:spPr>
          <a:xfrm>
            <a:off x="577096" y="4915834"/>
            <a:ext cx="4998865" cy="943413"/>
          </a:xfrm>
          <a:prstGeom prst="rect">
            <a:avLst/>
          </a:prstGeom>
        </p:spPr>
      </p:pic>
      <p:pic>
        <p:nvPicPr>
          <p:cNvPr id="9" name="图片 7">
            <a:extLst>
              <a:ext uri="{FF2B5EF4-FFF2-40B4-BE49-F238E27FC236}">
                <a16:creationId xmlns:a16="http://schemas.microsoft.com/office/drawing/2014/main" id="{956CDD40-7E15-4FD5-A1D0-55E060133932}"/>
              </a:ext>
            </a:extLst>
          </p:cNvPr>
          <p:cNvPicPr>
            <a:picLocks noChangeAspect="1"/>
          </p:cNvPicPr>
          <p:nvPr/>
        </p:nvPicPr>
        <p:blipFill>
          <a:blip r:embed="rId3"/>
          <a:stretch>
            <a:fillRect/>
          </a:stretch>
        </p:blipFill>
        <p:spPr>
          <a:xfrm>
            <a:off x="9239198" y="608309"/>
            <a:ext cx="1845328" cy="3973496"/>
          </a:xfrm>
          <a:prstGeom prst="rect">
            <a:avLst/>
          </a:prstGeom>
        </p:spPr>
      </p:pic>
      <p:pic>
        <p:nvPicPr>
          <p:cNvPr id="10" name="图片 8">
            <a:extLst>
              <a:ext uri="{FF2B5EF4-FFF2-40B4-BE49-F238E27FC236}">
                <a16:creationId xmlns:a16="http://schemas.microsoft.com/office/drawing/2014/main" id="{91D54783-D4EC-474E-B6CC-AE3658ED4641}"/>
              </a:ext>
            </a:extLst>
          </p:cNvPr>
          <p:cNvPicPr>
            <a:picLocks noChangeAspect="1"/>
          </p:cNvPicPr>
          <p:nvPr/>
        </p:nvPicPr>
        <p:blipFill>
          <a:blip r:embed="rId4"/>
          <a:stretch>
            <a:fillRect/>
          </a:stretch>
        </p:blipFill>
        <p:spPr>
          <a:xfrm>
            <a:off x="5774714" y="4826431"/>
            <a:ext cx="5610843" cy="1258460"/>
          </a:xfrm>
          <a:prstGeom prst="rect">
            <a:avLst/>
          </a:prstGeom>
        </p:spPr>
      </p:pic>
    </p:spTree>
    <p:extLst>
      <p:ext uri="{BB962C8B-B14F-4D97-AF65-F5344CB8AC3E}">
        <p14:creationId xmlns:p14="http://schemas.microsoft.com/office/powerpoint/2010/main" val="206978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2997-DDAC-EEAA-EE8C-3B21E7A588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204BE8F-CB00-3625-3C03-FED8AB919423}"/>
              </a:ext>
            </a:extLst>
          </p:cNvPr>
          <p:cNvSpPr>
            <a:spLocks noGrp="1"/>
          </p:cNvSpPr>
          <p:nvPr>
            <p:ph type="title"/>
          </p:nvPr>
        </p:nvSpPr>
        <p:spPr/>
        <p:txBody>
          <a:bodyPr/>
          <a:lstStyle/>
          <a:p>
            <a:r>
              <a:rPr lang="en-US" altLang="zh-CN" dirty="0"/>
              <a:t>Support for Sharing</a:t>
            </a:r>
            <a:endParaRPr lang="zh-CN" altLang="en-US" dirty="0"/>
          </a:p>
        </p:txBody>
      </p:sp>
      <p:sp>
        <p:nvSpPr>
          <p:cNvPr id="3" name="日期占位符 2">
            <a:extLst>
              <a:ext uri="{FF2B5EF4-FFF2-40B4-BE49-F238E27FC236}">
                <a16:creationId xmlns:a16="http://schemas.microsoft.com/office/drawing/2014/main" id="{CC8C5896-02DA-8A4E-F1A5-91B3A9329F71}"/>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BF78229C-7114-7A55-BD71-883265CE9954}"/>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B1279F58-84C6-8778-D880-0E9A1DDA7F88}"/>
              </a:ext>
            </a:extLst>
          </p:cNvPr>
          <p:cNvSpPr>
            <a:spLocks noGrp="1"/>
          </p:cNvSpPr>
          <p:nvPr>
            <p:ph type="sldNum" sz="quarter" idx="12"/>
          </p:nvPr>
        </p:nvSpPr>
        <p:spPr/>
        <p:txBody>
          <a:bodyPr/>
          <a:lstStyle/>
          <a:p>
            <a:fld id="{9146477A-3083-4652-9A53-6C94B28E95E9}" type="slidenum">
              <a:rPr lang="en-US" smtClean="0"/>
              <a:t>35</a:t>
            </a:fld>
            <a:endParaRPr lang="en-US"/>
          </a:p>
        </p:txBody>
      </p:sp>
      <p:sp>
        <p:nvSpPr>
          <p:cNvPr id="6" name="文本占位符 5">
            <a:extLst>
              <a:ext uri="{FF2B5EF4-FFF2-40B4-BE49-F238E27FC236}">
                <a16:creationId xmlns:a16="http://schemas.microsoft.com/office/drawing/2014/main" id="{22591CC8-5EC0-E9C7-B132-5F402664ACEE}"/>
              </a:ext>
            </a:extLst>
          </p:cNvPr>
          <p:cNvSpPr>
            <a:spLocks noGrp="1"/>
          </p:cNvSpPr>
          <p:nvPr>
            <p:ph type="body" idx="1"/>
          </p:nvPr>
        </p:nvSpPr>
        <p:spPr/>
        <p:txBody>
          <a:bodyPr>
            <a:normAutofit/>
          </a:bodyPr>
          <a:lstStyle/>
          <a:p>
            <a:r>
              <a:rPr lang="en-US" altLang="zh-CN" sz="2400" dirty="0"/>
              <a:t>To save memory, it is useful to share certain memory segments between address spaces (e.g., code sharing).</a:t>
            </a:r>
          </a:p>
          <a:p>
            <a:r>
              <a:rPr lang="en-US" altLang="zh-CN" sz="2400" dirty="0"/>
              <a:t>We need more hardware support: Protection bits.</a:t>
            </a:r>
          </a:p>
          <a:p>
            <a:r>
              <a:rPr lang="en-US" altLang="zh-CN" sz="2400" dirty="0"/>
              <a:t>These bits indicate whether a program can read, write, or execute a segment.</a:t>
            </a:r>
          </a:p>
          <a:p>
            <a:r>
              <a:rPr lang="en-US" altLang="zh-CN" sz="2400" dirty="0"/>
              <a:t>By setting a code segment to read-only, the same physical segment can be safely mapped into multiple virtual address spaces without harming isolation.</a:t>
            </a:r>
            <a:endParaRPr lang="zh-CN" altLang="en-US" sz="2400" dirty="0"/>
          </a:p>
        </p:txBody>
      </p:sp>
      <p:pic>
        <p:nvPicPr>
          <p:cNvPr id="11" name="图片 10">
            <a:extLst>
              <a:ext uri="{FF2B5EF4-FFF2-40B4-BE49-F238E27FC236}">
                <a16:creationId xmlns:a16="http://schemas.microsoft.com/office/drawing/2014/main" id="{D3304F83-FF1E-8CBF-E3D4-D943B778A5DA}"/>
              </a:ext>
            </a:extLst>
          </p:cNvPr>
          <p:cNvPicPr>
            <a:picLocks noChangeAspect="1"/>
          </p:cNvPicPr>
          <p:nvPr/>
        </p:nvPicPr>
        <p:blipFill>
          <a:blip r:embed="rId2"/>
          <a:stretch>
            <a:fillRect/>
          </a:stretch>
        </p:blipFill>
        <p:spPr>
          <a:xfrm>
            <a:off x="2670371" y="4738684"/>
            <a:ext cx="7073788" cy="1485758"/>
          </a:xfrm>
          <a:prstGeom prst="rect">
            <a:avLst/>
          </a:prstGeom>
        </p:spPr>
      </p:pic>
    </p:spTree>
    <p:extLst>
      <p:ext uri="{BB962C8B-B14F-4D97-AF65-F5344CB8AC3E}">
        <p14:creationId xmlns:p14="http://schemas.microsoft.com/office/powerpoint/2010/main" val="3101138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DA4E8-0D85-2B38-1DC1-BD952A5754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CF2D69-8853-EB9E-CFA7-9C6A15B065B6}"/>
              </a:ext>
            </a:extLst>
          </p:cNvPr>
          <p:cNvSpPr>
            <a:spLocks noGrp="1"/>
          </p:cNvSpPr>
          <p:nvPr>
            <p:ph type="title"/>
          </p:nvPr>
        </p:nvSpPr>
        <p:spPr>
          <a:xfrm>
            <a:off x="838200" y="365125"/>
            <a:ext cx="11607350" cy="1072515"/>
          </a:xfrm>
        </p:spPr>
        <p:txBody>
          <a:bodyPr>
            <a:normAutofit/>
          </a:bodyPr>
          <a:lstStyle/>
          <a:p>
            <a:r>
              <a:rPr lang="en-US" altLang="zh-CN" dirty="0"/>
              <a:t>Fine-grained vs. Coarse-grained</a:t>
            </a:r>
            <a:endParaRPr lang="zh-CN" altLang="en-US" dirty="0"/>
          </a:p>
        </p:txBody>
      </p:sp>
      <p:sp>
        <p:nvSpPr>
          <p:cNvPr id="3" name="日期占位符 2">
            <a:extLst>
              <a:ext uri="{FF2B5EF4-FFF2-40B4-BE49-F238E27FC236}">
                <a16:creationId xmlns:a16="http://schemas.microsoft.com/office/drawing/2014/main" id="{DE3D3047-71CB-A4EB-FCD2-49D1AA8E39B8}"/>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367C137E-92BA-A5A1-6ABF-551488AFE034}"/>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AE4228CA-FF91-03F3-5ED7-8CAA0232AE23}"/>
              </a:ext>
            </a:extLst>
          </p:cNvPr>
          <p:cNvSpPr>
            <a:spLocks noGrp="1"/>
          </p:cNvSpPr>
          <p:nvPr>
            <p:ph type="sldNum" sz="quarter" idx="12"/>
          </p:nvPr>
        </p:nvSpPr>
        <p:spPr/>
        <p:txBody>
          <a:bodyPr/>
          <a:lstStyle/>
          <a:p>
            <a:fld id="{9146477A-3083-4652-9A53-6C94B28E95E9}" type="slidenum">
              <a:rPr lang="en-US" smtClean="0"/>
              <a:t>36</a:t>
            </a:fld>
            <a:endParaRPr lang="en-US"/>
          </a:p>
        </p:txBody>
      </p:sp>
      <p:sp>
        <p:nvSpPr>
          <p:cNvPr id="6" name="文本占位符 5">
            <a:extLst>
              <a:ext uri="{FF2B5EF4-FFF2-40B4-BE49-F238E27FC236}">
                <a16:creationId xmlns:a16="http://schemas.microsoft.com/office/drawing/2014/main" id="{54390075-0206-E760-09F5-A5350EF4F88A}"/>
              </a:ext>
            </a:extLst>
          </p:cNvPr>
          <p:cNvSpPr>
            <a:spLocks noGrp="1"/>
          </p:cNvSpPr>
          <p:nvPr>
            <p:ph type="body" idx="1"/>
          </p:nvPr>
        </p:nvSpPr>
        <p:spPr/>
        <p:txBody>
          <a:bodyPr/>
          <a:lstStyle/>
          <a:p>
            <a:r>
              <a:rPr lang="en-US" altLang="zh-CN" b="1" dirty="0"/>
              <a:t>Coarse-grained: </a:t>
            </a:r>
            <a:r>
              <a:rPr lang="en-US" altLang="zh-CN" dirty="0"/>
              <a:t>Systems with just a few large segments (code, stack, heap), like our examples so far.</a:t>
            </a:r>
          </a:p>
          <a:p>
            <a:r>
              <a:rPr lang="en-US" altLang="zh-CN" b="1" dirty="0"/>
              <a:t>Fine-grained: </a:t>
            </a:r>
            <a:r>
              <a:rPr lang="en-US" altLang="zh-CN" dirty="0"/>
              <a:t>Systems that allow address spaces to consist of a large number of smaller segments (thousands of segments).</a:t>
            </a:r>
          </a:p>
          <a:p>
            <a:r>
              <a:rPr lang="en-US" altLang="zh-CN" dirty="0"/>
              <a:t>Supporting fine-grained segmentation requires a segment table stored in memory, allowing the OS to utilize main memory more effectively.</a:t>
            </a:r>
            <a:endParaRPr lang="zh-CN" altLang="en-US" dirty="0"/>
          </a:p>
        </p:txBody>
      </p:sp>
    </p:spTree>
    <p:extLst>
      <p:ext uri="{BB962C8B-B14F-4D97-AF65-F5344CB8AC3E}">
        <p14:creationId xmlns:p14="http://schemas.microsoft.com/office/powerpoint/2010/main" val="2418570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35D6C-D73D-FE85-6794-F3E741E5E1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8BF7A08-ABE7-3B18-C2CE-FA8D0D53CA82}"/>
              </a:ext>
            </a:extLst>
          </p:cNvPr>
          <p:cNvSpPr>
            <a:spLocks noGrp="1"/>
          </p:cNvSpPr>
          <p:nvPr>
            <p:ph type="title"/>
          </p:nvPr>
        </p:nvSpPr>
        <p:spPr>
          <a:xfrm>
            <a:off x="838200" y="365125"/>
            <a:ext cx="10312625" cy="1072515"/>
          </a:xfrm>
        </p:spPr>
        <p:txBody>
          <a:bodyPr>
            <a:normAutofit fontScale="90000"/>
          </a:bodyPr>
          <a:lstStyle/>
          <a:p>
            <a:r>
              <a:rPr lang="en-US" altLang="zh-CN" dirty="0"/>
              <a:t>Context Switches and Segment Growth</a:t>
            </a:r>
            <a:endParaRPr lang="zh-CN" altLang="en-US" dirty="0"/>
          </a:p>
        </p:txBody>
      </p:sp>
      <p:sp>
        <p:nvSpPr>
          <p:cNvPr id="3" name="日期占位符 2">
            <a:extLst>
              <a:ext uri="{FF2B5EF4-FFF2-40B4-BE49-F238E27FC236}">
                <a16:creationId xmlns:a16="http://schemas.microsoft.com/office/drawing/2014/main" id="{ABA92942-E541-42D3-DB4B-17DC1FF1B032}"/>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C3E6D19A-8832-A90C-602D-9EAC9CE10A9F}"/>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B3745593-7B3F-6C88-A180-4F2992F33CA5}"/>
              </a:ext>
            </a:extLst>
          </p:cNvPr>
          <p:cNvSpPr>
            <a:spLocks noGrp="1"/>
          </p:cNvSpPr>
          <p:nvPr>
            <p:ph type="sldNum" sz="quarter" idx="12"/>
          </p:nvPr>
        </p:nvSpPr>
        <p:spPr/>
        <p:txBody>
          <a:bodyPr/>
          <a:lstStyle/>
          <a:p>
            <a:fld id="{9146477A-3083-4652-9A53-6C94B28E95E9}" type="slidenum">
              <a:rPr lang="en-US" smtClean="0"/>
              <a:t>37</a:t>
            </a:fld>
            <a:endParaRPr lang="en-US"/>
          </a:p>
        </p:txBody>
      </p:sp>
      <p:sp>
        <p:nvSpPr>
          <p:cNvPr id="6" name="文本占位符 5">
            <a:extLst>
              <a:ext uri="{FF2B5EF4-FFF2-40B4-BE49-F238E27FC236}">
                <a16:creationId xmlns:a16="http://schemas.microsoft.com/office/drawing/2014/main" id="{668A2A23-1C3F-081E-581E-B855A01F62A0}"/>
              </a:ext>
            </a:extLst>
          </p:cNvPr>
          <p:cNvSpPr>
            <a:spLocks noGrp="1"/>
          </p:cNvSpPr>
          <p:nvPr>
            <p:ph type="body" idx="1"/>
          </p:nvPr>
        </p:nvSpPr>
        <p:spPr/>
        <p:txBody>
          <a:bodyPr>
            <a:normAutofit/>
          </a:bodyPr>
          <a:lstStyle/>
          <a:p>
            <a:pPr marL="0" indent="0">
              <a:buNone/>
            </a:pPr>
            <a:r>
              <a:rPr lang="en-US" altLang="zh-CN" dirty="0"/>
              <a:t>Segmentation raises new issues for the Operating System:</a:t>
            </a:r>
          </a:p>
          <a:p>
            <a:pPr lvl="1"/>
            <a:r>
              <a:rPr lang="en-US" altLang="zh-CN" b="1" dirty="0"/>
              <a:t>Context Switch: </a:t>
            </a:r>
            <a:r>
              <a:rPr lang="en-US" altLang="zh-CN" dirty="0"/>
              <a:t>The OS must save and restore the multiple segment registers (base, bounds, protection bits) for each process during a switch.</a:t>
            </a:r>
          </a:p>
          <a:p>
            <a:pPr lvl="1"/>
            <a:r>
              <a:rPr lang="en-US" altLang="zh-CN" b="1" dirty="0"/>
              <a:t>Segment Growth: </a:t>
            </a:r>
            <a:r>
              <a:rPr lang="en-US" altLang="zh-CN" dirty="0"/>
              <a:t>When a program calls malloc() and the heap segment needs to grow, the OS must allocate more physical memory, update the segment size register, and inform the library of success (or reject it if memory is full).</a:t>
            </a:r>
            <a:endParaRPr lang="zh-CN" altLang="en-US" dirty="0"/>
          </a:p>
        </p:txBody>
      </p:sp>
    </p:spTree>
    <p:extLst>
      <p:ext uri="{BB962C8B-B14F-4D97-AF65-F5344CB8AC3E}">
        <p14:creationId xmlns:p14="http://schemas.microsoft.com/office/powerpoint/2010/main" val="3904114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6E4F1-84CA-B58D-6F01-4F4F370C687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4D6F94-1749-A41D-511F-BF13A6F34747}"/>
              </a:ext>
            </a:extLst>
          </p:cNvPr>
          <p:cNvSpPr>
            <a:spLocks noGrp="1"/>
          </p:cNvSpPr>
          <p:nvPr>
            <p:ph type="title"/>
          </p:nvPr>
        </p:nvSpPr>
        <p:spPr/>
        <p:txBody>
          <a:bodyPr/>
          <a:lstStyle/>
          <a:p>
            <a:r>
              <a:rPr lang="en-US" altLang="zh-CN" dirty="0"/>
              <a:t>Managing Free Space</a:t>
            </a:r>
            <a:endParaRPr lang="zh-CN" altLang="en-US" dirty="0"/>
          </a:p>
        </p:txBody>
      </p:sp>
      <p:sp>
        <p:nvSpPr>
          <p:cNvPr id="3" name="日期占位符 2">
            <a:extLst>
              <a:ext uri="{FF2B5EF4-FFF2-40B4-BE49-F238E27FC236}">
                <a16:creationId xmlns:a16="http://schemas.microsoft.com/office/drawing/2014/main" id="{D44694CE-4E86-0725-0BEB-D92125D1476B}"/>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8FE38D37-0743-8D60-4218-10C5C4DF2062}"/>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8EDA1B2F-1CBD-2AFF-BF71-09C420FD7FE8}"/>
              </a:ext>
            </a:extLst>
          </p:cNvPr>
          <p:cNvSpPr>
            <a:spLocks noGrp="1"/>
          </p:cNvSpPr>
          <p:nvPr>
            <p:ph type="sldNum" sz="quarter" idx="12"/>
          </p:nvPr>
        </p:nvSpPr>
        <p:spPr/>
        <p:txBody>
          <a:bodyPr/>
          <a:lstStyle/>
          <a:p>
            <a:fld id="{9146477A-3083-4652-9A53-6C94B28E95E9}" type="slidenum">
              <a:rPr lang="en-US" smtClean="0"/>
              <a:t>38</a:t>
            </a:fld>
            <a:endParaRPr lang="en-US"/>
          </a:p>
        </p:txBody>
      </p:sp>
      <p:sp>
        <p:nvSpPr>
          <p:cNvPr id="6" name="文本占位符 5">
            <a:extLst>
              <a:ext uri="{FF2B5EF4-FFF2-40B4-BE49-F238E27FC236}">
                <a16:creationId xmlns:a16="http://schemas.microsoft.com/office/drawing/2014/main" id="{7AEBFB04-A2D8-DD8E-0B51-00833718F909}"/>
              </a:ext>
            </a:extLst>
          </p:cNvPr>
          <p:cNvSpPr>
            <a:spLocks noGrp="1"/>
          </p:cNvSpPr>
          <p:nvPr>
            <p:ph type="body" idx="1"/>
          </p:nvPr>
        </p:nvSpPr>
        <p:spPr/>
        <p:txBody>
          <a:bodyPr/>
          <a:lstStyle/>
          <a:p>
            <a:r>
              <a:rPr lang="en-US" altLang="zh-CN" dirty="0"/>
              <a:t>When segments are different sizes, physical memory quickly becomes full of little holes of free space.</a:t>
            </a:r>
          </a:p>
          <a:p>
            <a:r>
              <a:rPr lang="en-US" altLang="zh-CN" dirty="0"/>
              <a:t>This makes it difficult to allocate new segments or grow existing ones, even if there is enough total free memory.</a:t>
            </a:r>
          </a:p>
          <a:p>
            <a:r>
              <a:rPr lang="en-US" altLang="zh-CN" dirty="0"/>
              <a:t>We call this fundamental new problem </a:t>
            </a:r>
            <a:r>
              <a:rPr lang="en-US" altLang="zh-CN" b="1" dirty="0"/>
              <a:t>External Fragmentation</a:t>
            </a:r>
            <a:r>
              <a:rPr lang="en-US" altLang="zh-CN" dirty="0"/>
              <a:t>.</a:t>
            </a:r>
            <a:endParaRPr lang="zh-CN" altLang="en-US" dirty="0"/>
          </a:p>
        </p:txBody>
      </p:sp>
    </p:spTree>
    <p:extLst>
      <p:ext uri="{BB962C8B-B14F-4D97-AF65-F5344CB8AC3E}">
        <p14:creationId xmlns:p14="http://schemas.microsoft.com/office/powerpoint/2010/main" val="2693952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D895B-6B51-F495-569A-D7E4F2763E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06C30A-4D26-C611-13C1-51D55094E799}"/>
              </a:ext>
            </a:extLst>
          </p:cNvPr>
          <p:cNvSpPr>
            <a:spLocks noGrp="1"/>
          </p:cNvSpPr>
          <p:nvPr>
            <p:ph type="title"/>
          </p:nvPr>
        </p:nvSpPr>
        <p:spPr>
          <a:xfrm>
            <a:off x="838200" y="365125"/>
            <a:ext cx="9594850" cy="1072515"/>
          </a:xfrm>
        </p:spPr>
        <p:txBody>
          <a:bodyPr>
            <a:normAutofit/>
          </a:bodyPr>
          <a:lstStyle/>
          <a:p>
            <a:r>
              <a:rPr lang="en-US" altLang="zh-CN" dirty="0"/>
              <a:t>Attempting to Solve Fragmentation</a:t>
            </a:r>
            <a:endParaRPr lang="zh-CN" altLang="en-US" dirty="0"/>
          </a:p>
        </p:txBody>
      </p:sp>
      <p:sp>
        <p:nvSpPr>
          <p:cNvPr id="3" name="日期占位符 2">
            <a:extLst>
              <a:ext uri="{FF2B5EF4-FFF2-40B4-BE49-F238E27FC236}">
                <a16:creationId xmlns:a16="http://schemas.microsoft.com/office/drawing/2014/main" id="{6EA431AD-768A-9142-7966-A3D912551211}"/>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48A2C6DF-FDDD-FED3-3AA1-4E264A32B0D6}"/>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9D51A64C-5440-4495-BEF1-86D873F3576B}"/>
              </a:ext>
            </a:extLst>
          </p:cNvPr>
          <p:cNvSpPr>
            <a:spLocks noGrp="1"/>
          </p:cNvSpPr>
          <p:nvPr>
            <p:ph type="sldNum" sz="quarter" idx="12"/>
          </p:nvPr>
        </p:nvSpPr>
        <p:spPr/>
        <p:txBody>
          <a:bodyPr/>
          <a:lstStyle/>
          <a:p>
            <a:fld id="{9146477A-3083-4652-9A53-6C94B28E95E9}" type="slidenum">
              <a:rPr lang="en-US" smtClean="0"/>
              <a:t>39</a:t>
            </a:fld>
            <a:endParaRPr lang="en-US"/>
          </a:p>
        </p:txBody>
      </p:sp>
      <p:sp>
        <p:nvSpPr>
          <p:cNvPr id="6" name="文本占位符 5">
            <a:extLst>
              <a:ext uri="{FF2B5EF4-FFF2-40B4-BE49-F238E27FC236}">
                <a16:creationId xmlns:a16="http://schemas.microsoft.com/office/drawing/2014/main" id="{F01F4876-9692-0187-BB0F-5D42F683604B}"/>
              </a:ext>
            </a:extLst>
          </p:cNvPr>
          <p:cNvSpPr>
            <a:spLocks noGrp="1"/>
          </p:cNvSpPr>
          <p:nvPr>
            <p:ph type="body" idx="1"/>
          </p:nvPr>
        </p:nvSpPr>
        <p:spPr/>
        <p:txBody>
          <a:bodyPr>
            <a:normAutofit/>
          </a:bodyPr>
          <a:lstStyle/>
          <a:p>
            <a:r>
              <a:rPr lang="en-US" altLang="zh-CN" b="1" dirty="0"/>
              <a:t>Compaction</a:t>
            </a:r>
            <a:r>
              <a:rPr lang="en-US" altLang="zh-CN" dirty="0"/>
              <a:t>: The OS stops running processes, copies their data to one contiguous region, and updates segment registers. However, this is extremely expensive and memory-intensive.</a:t>
            </a:r>
          </a:p>
          <a:p>
            <a:r>
              <a:rPr lang="en-US" altLang="zh-CN" dirty="0"/>
              <a:t>Free-list Algorithms: The OS can use algorithms like best-fit, worst-fit, first-fit, or buddy algorithm to try to keep large extents of memory available.</a:t>
            </a:r>
          </a:p>
          <a:p>
            <a:r>
              <a:rPr lang="en-US" altLang="zh-CN" dirty="0"/>
              <a:t>No matter how smart the algorithm, external fragmentation will still exist.</a:t>
            </a:r>
            <a:endParaRPr lang="zh-CN" altLang="en-US" dirty="0"/>
          </a:p>
        </p:txBody>
      </p:sp>
    </p:spTree>
    <p:extLst>
      <p:ext uri="{BB962C8B-B14F-4D97-AF65-F5344CB8AC3E}">
        <p14:creationId xmlns:p14="http://schemas.microsoft.com/office/powerpoint/2010/main" val="383251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23BF-D81C-4F48-AA12-CE37813334AC}"/>
              </a:ext>
            </a:extLst>
          </p:cNvPr>
          <p:cNvSpPr>
            <a:spLocks noGrp="1"/>
          </p:cNvSpPr>
          <p:nvPr>
            <p:ph type="title"/>
          </p:nvPr>
        </p:nvSpPr>
        <p:spPr/>
        <p:txBody>
          <a:bodyPr/>
          <a:lstStyle/>
          <a:p>
            <a:r>
              <a:rPr lang="en-US" dirty="0"/>
              <a:t>Summary</a:t>
            </a:r>
          </a:p>
        </p:txBody>
      </p:sp>
      <p:sp>
        <p:nvSpPr>
          <p:cNvPr id="3" name="Date Placeholder 2">
            <a:extLst>
              <a:ext uri="{FF2B5EF4-FFF2-40B4-BE49-F238E27FC236}">
                <a16:creationId xmlns:a16="http://schemas.microsoft.com/office/drawing/2014/main" id="{2DD109C9-8DD1-4A7C-A3AE-5C6D3DA430C3}"/>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Footer Placeholder 3">
            <a:extLst>
              <a:ext uri="{FF2B5EF4-FFF2-40B4-BE49-F238E27FC236}">
                <a16:creationId xmlns:a16="http://schemas.microsoft.com/office/drawing/2014/main" id="{5B2631FC-D770-4157-B60E-FD00A24CEC2D}"/>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Slide Number Placeholder 4">
            <a:extLst>
              <a:ext uri="{FF2B5EF4-FFF2-40B4-BE49-F238E27FC236}">
                <a16:creationId xmlns:a16="http://schemas.microsoft.com/office/drawing/2014/main" id="{F57C3AD8-5C4D-43D2-A365-AA3CBB621CE0}"/>
              </a:ext>
            </a:extLst>
          </p:cNvPr>
          <p:cNvSpPr>
            <a:spLocks noGrp="1"/>
          </p:cNvSpPr>
          <p:nvPr>
            <p:ph type="sldNum" sz="quarter" idx="12"/>
          </p:nvPr>
        </p:nvSpPr>
        <p:spPr/>
        <p:txBody>
          <a:bodyPr/>
          <a:lstStyle/>
          <a:p>
            <a:fld id="{9146477A-3083-4652-9A53-6C94B28E95E9}" type="slidenum">
              <a:rPr lang="en-US" smtClean="0"/>
              <a:t>40</a:t>
            </a:fld>
            <a:endParaRPr lang="en-US"/>
          </a:p>
        </p:txBody>
      </p:sp>
      <p:sp>
        <p:nvSpPr>
          <p:cNvPr id="6" name="Text Placeholder 5">
            <a:extLst>
              <a:ext uri="{FF2B5EF4-FFF2-40B4-BE49-F238E27FC236}">
                <a16:creationId xmlns:a16="http://schemas.microsoft.com/office/drawing/2014/main" id="{6D3B449A-D66C-4F0F-B887-83E30B82A83C}"/>
              </a:ext>
            </a:extLst>
          </p:cNvPr>
          <p:cNvSpPr>
            <a:spLocks noGrp="1"/>
          </p:cNvSpPr>
          <p:nvPr>
            <p:ph type="body" idx="1"/>
          </p:nvPr>
        </p:nvSpPr>
        <p:spPr/>
        <p:txBody>
          <a:bodyPr>
            <a:normAutofit/>
          </a:bodyPr>
          <a:lstStyle/>
          <a:p>
            <a:pPr>
              <a:lnSpc>
                <a:spcPct val="100000"/>
              </a:lnSpc>
            </a:pPr>
            <a:r>
              <a:rPr lang="en-US" sz="2000" b="1" dirty="0"/>
              <a:t>The Abstraction: </a:t>
            </a:r>
            <a:r>
              <a:rPr lang="en-US" sz="2000" dirty="0"/>
              <a:t>The OS creates the illusion of a private </a:t>
            </a:r>
            <a:r>
              <a:rPr lang="en-US" sz="2000" b="1" dirty="0"/>
              <a:t>Address Space</a:t>
            </a:r>
            <a:r>
              <a:rPr lang="en-US" sz="2000" dirty="0"/>
              <a:t> to provide transparency, efficiency, and protection.</a:t>
            </a:r>
          </a:p>
          <a:p>
            <a:pPr>
              <a:lnSpc>
                <a:spcPct val="100000"/>
              </a:lnSpc>
            </a:pPr>
            <a:r>
              <a:rPr lang="en-US" sz="2000" b="1" dirty="0"/>
              <a:t>Base and Bounds: </a:t>
            </a:r>
            <a:r>
              <a:rPr lang="en-US" sz="2000" dirty="0"/>
              <a:t>Uses hardware (MMU) for efficient dynamic relocation, but suffers from massive Internal Fragmentation due to forced contiguous memory allocation.</a:t>
            </a:r>
          </a:p>
          <a:p>
            <a:pPr>
              <a:lnSpc>
                <a:spcPct val="100000"/>
              </a:lnSpc>
            </a:pPr>
            <a:r>
              <a:rPr lang="en-US" sz="2000" b="1" dirty="0"/>
              <a:t>Segmentation: </a:t>
            </a:r>
            <a:r>
              <a:rPr lang="en-US" sz="2000" dirty="0"/>
              <a:t>Solves </a:t>
            </a:r>
            <a:r>
              <a:rPr lang="en-US" sz="2000" b="1" dirty="0"/>
              <a:t>internal fragmentation </a:t>
            </a:r>
            <a:r>
              <a:rPr lang="en-US" sz="2000" dirty="0"/>
              <a:t>by providing independent base and bounds pairs for logical segments (Code, Heap, Stack).</a:t>
            </a:r>
          </a:p>
          <a:p>
            <a:pPr>
              <a:lnSpc>
                <a:spcPct val="100000"/>
              </a:lnSpc>
            </a:pPr>
            <a:r>
              <a:rPr lang="en-US" sz="2000" b="1" dirty="0"/>
              <a:t>Benefits: </a:t>
            </a:r>
            <a:r>
              <a:rPr lang="en-US" sz="2000" dirty="0"/>
              <a:t>Allows for sparse memory allocation, accommodates stack's negative growth, and enables memory sharing via protection bits.</a:t>
            </a:r>
          </a:p>
          <a:p>
            <a:pPr>
              <a:lnSpc>
                <a:spcPct val="100000"/>
              </a:lnSpc>
            </a:pPr>
            <a:r>
              <a:rPr lang="en-US" sz="2000" b="1" dirty="0"/>
              <a:t>The New Challenge: </a:t>
            </a:r>
            <a:r>
              <a:rPr lang="en-US" sz="2000" dirty="0"/>
              <a:t>Allocating variable-sized segments creates holes in physical memory, leading to </a:t>
            </a:r>
            <a:r>
              <a:rPr lang="en-US" sz="2000" b="1" dirty="0"/>
              <a:t>External Fragmentation</a:t>
            </a:r>
            <a:r>
              <a:rPr lang="en-US" sz="2000" dirty="0"/>
              <a:t>, which is difficult to solve entirely.</a:t>
            </a:r>
          </a:p>
        </p:txBody>
      </p:sp>
    </p:spTree>
    <p:extLst>
      <p:ext uri="{BB962C8B-B14F-4D97-AF65-F5344CB8AC3E}">
        <p14:creationId xmlns:p14="http://schemas.microsoft.com/office/powerpoint/2010/main" val="1834653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9B03AF-6C50-4AB1-F31A-DE10C8992139}"/>
              </a:ext>
            </a:extLst>
          </p:cNvPr>
          <p:cNvSpPr>
            <a:spLocks noGrp="1"/>
          </p:cNvSpPr>
          <p:nvPr>
            <p:ph type="title"/>
          </p:nvPr>
        </p:nvSpPr>
        <p:spPr/>
        <p:txBody>
          <a:bodyPr/>
          <a:lstStyle/>
          <a:p>
            <a:r>
              <a:rPr lang="zh-CN" altLang="en-US" dirty="0">
                <a:latin typeface="Arial"/>
                <a:ea typeface="等线 Light"/>
                <a:cs typeface="Arial"/>
              </a:rPr>
              <a:t>Next Lecture</a:t>
            </a:r>
            <a:endParaRPr lang="zh-CN" altLang="en-US" dirty="0"/>
          </a:p>
        </p:txBody>
      </p:sp>
      <p:sp>
        <p:nvSpPr>
          <p:cNvPr id="3" name="日期占位符 2">
            <a:extLst>
              <a:ext uri="{FF2B5EF4-FFF2-40B4-BE49-F238E27FC236}">
                <a16:creationId xmlns:a16="http://schemas.microsoft.com/office/drawing/2014/main" id="{03F83AC3-4EEF-629B-703D-90BD4F5B428B}"/>
              </a:ext>
            </a:extLst>
          </p:cNvPr>
          <p:cNvSpPr>
            <a:spLocks noGrp="1"/>
          </p:cNvSpPr>
          <p:nvPr>
            <p:ph type="dt" sz="half" idx="10"/>
          </p:nvPr>
        </p:nvSpPr>
        <p:spPr/>
        <p:txBody>
          <a:bodyPr/>
          <a:lstStyle/>
          <a:p>
            <a:fld id="{C779A912-BA0F-455A-9008-30C412343B55}" type="datetime1">
              <a:rPr lang="en-US" smtClean="0"/>
              <a:t>4/20/2026</a:t>
            </a:fld>
            <a:endParaRPr lang="en-US"/>
          </a:p>
        </p:txBody>
      </p:sp>
      <p:sp>
        <p:nvSpPr>
          <p:cNvPr id="4" name="页脚占位符 3">
            <a:extLst>
              <a:ext uri="{FF2B5EF4-FFF2-40B4-BE49-F238E27FC236}">
                <a16:creationId xmlns:a16="http://schemas.microsoft.com/office/drawing/2014/main" id="{6A039CF7-57B7-27D5-CFC0-4D3588940B50}"/>
              </a:ext>
            </a:extLst>
          </p:cNvPr>
          <p:cNvSpPr>
            <a:spLocks noGrp="1"/>
          </p:cNvSpPr>
          <p:nvPr>
            <p:ph type="ftr" sz="quarter" idx="11"/>
          </p:nvPr>
        </p:nvSpPr>
        <p:spPr/>
        <p:txBody>
          <a:bodyPr/>
          <a:lstStyle/>
          <a:p>
            <a:r>
              <a:rPr lang="en-US">
                <a:sym typeface="+mn-ea"/>
              </a:rPr>
              <a:t>School of AI and Advanced Computing, XJTLU</a:t>
            </a:r>
            <a:endParaRPr lang="en-US"/>
          </a:p>
        </p:txBody>
      </p:sp>
      <p:sp>
        <p:nvSpPr>
          <p:cNvPr id="5" name="灯片编号占位符 4">
            <a:extLst>
              <a:ext uri="{FF2B5EF4-FFF2-40B4-BE49-F238E27FC236}">
                <a16:creationId xmlns:a16="http://schemas.microsoft.com/office/drawing/2014/main" id="{21FCE09B-2CCC-442C-BD00-3DAFD25732D5}"/>
              </a:ext>
            </a:extLst>
          </p:cNvPr>
          <p:cNvSpPr>
            <a:spLocks noGrp="1"/>
          </p:cNvSpPr>
          <p:nvPr>
            <p:ph type="sldNum" sz="quarter" idx="12"/>
          </p:nvPr>
        </p:nvSpPr>
        <p:spPr/>
        <p:txBody>
          <a:bodyPr/>
          <a:lstStyle/>
          <a:p>
            <a:fld id="{9146477A-3083-4652-9A53-6C94B28E95E9}" type="slidenum">
              <a:rPr lang="en-US" smtClean="0"/>
              <a:t>41</a:t>
            </a:fld>
            <a:endParaRPr lang="en-US"/>
          </a:p>
        </p:txBody>
      </p:sp>
      <p:sp>
        <p:nvSpPr>
          <p:cNvPr id="6" name="文本占位符 5">
            <a:extLst>
              <a:ext uri="{FF2B5EF4-FFF2-40B4-BE49-F238E27FC236}">
                <a16:creationId xmlns:a16="http://schemas.microsoft.com/office/drawing/2014/main" id="{42C07704-5735-2744-0A3D-6CCA11EE1C70}"/>
              </a:ext>
            </a:extLst>
          </p:cNvPr>
          <p:cNvSpPr>
            <a:spLocks noGrp="1"/>
          </p:cNvSpPr>
          <p:nvPr>
            <p:ph type="body" idx="1"/>
          </p:nvPr>
        </p:nvSpPr>
        <p:spPr/>
        <p:txBody>
          <a:bodyPr vert="horz" lIns="91440" tIns="45720" rIns="91440" bIns="45720" rtlCol="0" anchor="t">
            <a:normAutofit/>
          </a:bodyPr>
          <a:lstStyle/>
          <a:p>
            <a:pPr marL="0" indent="0">
              <a:buNone/>
            </a:pPr>
            <a:r>
              <a:rPr lang="en-US" altLang="zh-CN" dirty="0"/>
              <a:t>Paging …</a:t>
            </a:r>
            <a:endParaRPr lang="en-US" altLang="zh-CN" dirty="0">
              <a:ea typeface="等线"/>
            </a:endParaRPr>
          </a:p>
        </p:txBody>
      </p:sp>
    </p:spTree>
    <p:extLst>
      <p:ext uri="{BB962C8B-B14F-4D97-AF65-F5344CB8AC3E}">
        <p14:creationId xmlns:p14="http://schemas.microsoft.com/office/powerpoint/2010/main" val="4222130008"/>
      </p:ext>
    </p:extLst>
  </p:cSld>
  <p:clrMapOvr>
    <a:masterClrMapping/>
  </p:clrMapOvr>
</p:sld>
</file>

<file path=ppt/theme/theme1.xml><?xml version="1.0" encoding="utf-8"?>
<a:theme xmlns:a="http://schemas.openxmlformats.org/drawingml/2006/main" name="AIAC">
  <a:themeElements>
    <a:clrScheme name="AIAC">
      <a:dk1>
        <a:srgbClr val="000000"/>
      </a:dk1>
      <a:lt1>
        <a:srgbClr val="FFFFFF"/>
      </a:lt1>
      <a:dk2>
        <a:srgbClr val="44546A"/>
      </a:dk2>
      <a:lt2>
        <a:srgbClr val="E7E6E6"/>
      </a:lt2>
      <a:accent1>
        <a:srgbClr val="53AEF1"/>
      </a:accent1>
      <a:accent2>
        <a:srgbClr val="002060"/>
      </a:accent2>
      <a:accent3>
        <a:srgbClr val="A5A5A5"/>
      </a:accent3>
      <a:accent4>
        <a:srgbClr val="582579"/>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2168</TotalTime>
  <Words>3224</Words>
  <Application>Microsoft Office PowerPoint</Application>
  <PresentationFormat>Widescreen</PresentationFormat>
  <Paragraphs>321</Paragraphs>
  <Slides>41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Cambria Math</vt:lpstr>
      <vt:lpstr>AIAC</vt:lpstr>
      <vt:lpstr>Computer Architecture and Operating System</vt:lpstr>
      <vt:lpstr>Review</vt:lpstr>
      <vt:lpstr>Review - CPU Virtualization</vt:lpstr>
      <vt:lpstr>Recall - Introduction to VM</vt:lpstr>
      <vt:lpstr>How To Virtualize Memory?</vt:lpstr>
      <vt:lpstr>Address Spaces</vt:lpstr>
      <vt:lpstr>Address Spaces</vt:lpstr>
      <vt:lpstr>Virtualize Memory</vt:lpstr>
      <vt:lpstr>Goals of Virtual Memory</vt:lpstr>
      <vt:lpstr>Example</vt:lpstr>
      <vt:lpstr>Example</vt:lpstr>
      <vt:lpstr>Example</vt:lpstr>
      <vt:lpstr>Address Translation</vt:lpstr>
      <vt:lpstr>Assumptions</vt:lpstr>
      <vt:lpstr>Attempt #1: Dynamic Relocation</vt:lpstr>
      <vt:lpstr>Protection via the Bounds Register</vt:lpstr>
      <vt:lpstr>Address Translation Example</vt:lpstr>
      <vt:lpstr>Address Translation Example</vt:lpstr>
      <vt:lpstr>Hardware Support</vt:lpstr>
      <vt:lpstr>Operating System Responsibilities</vt:lpstr>
      <vt:lpstr>PowerPoint Presentation</vt:lpstr>
      <vt:lpstr>Problems </vt:lpstr>
      <vt:lpstr>Break</vt:lpstr>
      <vt:lpstr>How To Support A Large Address Space?</vt:lpstr>
      <vt:lpstr>The Solution: Segmentation</vt:lpstr>
      <vt:lpstr>Placing Segments In Physical Memory</vt:lpstr>
      <vt:lpstr>Hardware Support</vt:lpstr>
      <vt:lpstr>Example</vt:lpstr>
      <vt:lpstr>Example </vt:lpstr>
      <vt:lpstr>Example</vt:lpstr>
      <vt:lpstr>Segmentation Fault</vt:lpstr>
      <vt:lpstr>Which Segment Are We Referring To?</vt:lpstr>
      <vt:lpstr>What About The Stack?</vt:lpstr>
      <vt:lpstr>Hardware Support</vt:lpstr>
      <vt:lpstr>Support for Sharing</vt:lpstr>
      <vt:lpstr>Fine-grained vs. Coarse-grained</vt:lpstr>
      <vt:lpstr>Context Switches and Segment Growth</vt:lpstr>
      <vt:lpstr>Managing Free Space</vt:lpstr>
      <vt:lpstr>Attempting to Solve Fragmentation</vt:lpstr>
      <vt:lpstr>Summary</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Tianming Bai</dc:creator>
  <cp:lastModifiedBy>Tianming Bai</cp:lastModifiedBy>
  <cp:revision>1113</cp:revision>
  <dcterms:created xsi:type="dcterms:W3CDTF">2025-10-22T02:43:00Z</dcterms:created>
  <dcterms:modified xsi:type="dcterms:W3CDTF">2026-04-20T02:03:11Z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3DFBA0E403B8423FB8BFD4C8BC3E42ED_13</vt:lpwstr>
  </property>
  <property fmtid="{D5CDD505-2E9C-101B-9397-08002B2CF9AE}" pid="3" name="KSOProductBuildVer">
    <vt:lpwstr>2052-12.1.0.25225</vt:lpwstr>
  </property>
</Properties>
</file>