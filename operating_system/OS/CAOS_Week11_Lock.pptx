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356" r:id="rId2"/>
    <p:sldId id="513" r:id="rId3"/>
    <p:sldId id="515" r:id="rId4"/>
    <p:sldId id="552" r:id="rId5"/>
    <p:sldId id="514" r:id="rId6"/>
    <p:sldId id="539" r:id="rId7"/>
    <p:sldId id="516" r:id="rId8"/>
    <p:sldId id="517" r:id="rId9"/>
    <p:sldId id="518" r:id="rId10"/>
    <p:sldId id="520" r:id="rId11"/>
    <p:sldId id="521" r:id="rId12"/>
    <p:sldId id="522" r:id="rId13"/>
    <p:sldId id="523" r:id="rId14"/>
    <p:sldId id="540" r:id="rId15"/>
    <p:sldId id="524" r:id="rId16"/>
    <p:sldId id="525" r:id="rId17"/>
    <p:sldId id="527" r:id="rId18"/>
    <p:sldId id="541" r:id="rId19"/>
    <p:sldId id="542" r:id="rId20"/>
    <p:sldId id="551" r:id="rId21"/>
    <p:sldId id="526" r:id="rId22"/>
    <p:sldId id="543" r:id="rId23"/>
    <p:sldId id="544" r:id="rId24"/>
    <p:sldId id="549" r:id="rId25"/>
    <p:sldId id="550" r:id="rId26"/>
    <p:sldId id="528" r:id="rId27"/>
    <p:sldId id="545" r:id="rId28"/>
    <p:sldId id="546" r:id="rId29"/>
    <p:sldId id="547" r:id="rId30"/>
    <p:sldId id="548" r:id="rId31"/>
    <p:sldId id="530" r:id="rId32"/>
    <p:sldId id="531" r:id="rId33"/>
    <p:sldId id="532" r:id="rId34"/>
    <p:sldId id="533" r:id="rId35"/>
    <p:sldId id="534" r:id="rId36"/>
    <p:sldId id="535" r:id="rId37"/>
    <p:sldId id="536" r:id="rId38"/>
    <p:sldId id="537" r:id="rId39"/>
    <p:sldId id="386" r:id="rId40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FCD9B1D-7B9A-4D58-995E-AFA475280652}">
          <p14:sldIdLst>
            <p14:sldId id="356"/>
            <p14:sldId id="513"/>
            <p14:sldId id="515"/>
            <p14:sldId id="552"/>
          </p14:sldIdLst>
        </p14:section>
        <p14:section name="TLB" id="{7F84BA80-6D35-443A-BE5C-9BE5D43F9D2B}">
          <p14:sldIdLst>
            <p14:sldId id="514"/>
            <p14:sldId id="539"/>
            <p14:sldId id="516"/>
            <p14:sldId id="517"/>
            <p14:sldId id="518"/>
            <p14:sldId id="520"/>
            <p14:sldId id="521"/>
            <p14:sldId id="522"/>
            <p14:sldId id="523"/>
            <p14:sldId id="540"/>
            <p14:sldId id="524"/>
            <p14:sldId id="525"/>
            <p14:sldId id="527"/>
            <p14:sldId id="541"/>
            <p14:sldId id="542"/>
            <p14:sldId id="551"/>
            <p14:sldId id="526"/>
            <p14:sldId id="543"/>
            <p14:sldId id="544"/>
            <p14:sldId id="549"/>
            <p14:sldId id="550"/>
            <p14:sldId id="528"/>
            <p14:sldId id="545"/>
            <p14:sldId id="546"/>
            <p14:sldId id="547"/>
            <p14:sldId id="548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FC"/>
    <a:srgbClr val="53AEF1"/>
    <a:srgbClr val="58257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A9278-991E-4FC4-A092-547ADFE43B7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16CDF-66D6-42F5-82AB-44061AC83C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9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745355"/>
            <a:ext cx="7647305" cy="664210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idx="13"/>
          </p:nvPr>
        </p:nvSpPr>
        <p:spPr>
          <a:xfrm>
            <a:off x="838200" y="5536565"/>
            <a:ext cx="7647305" cy="664210"/>
          </a:xfrm>
        </p:spPr>
        <p:txBody>
          <a:bodyPr/>
          <a:lstStyle>
            <a:lvl1pPr marL="0" indent="0" algn="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05165" cy="10725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AI and Advanced Computing, XJTLU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22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6477A-3083-4652-9A53-6C94B28E95E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图片 6" descr="AIAC_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9890" y="5742940"/>
            <a:ext cx="1457960" cy="9245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40105" y="357505"/>
            <a:ext cx="746760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33540"/>
            <a:ext cx="12192635" cy="124460"/>
          </a:xfrm>
          <a:prstGeom prst="rect">
            <a:avLst/>
          </a:prstGeom>
          <a:solidFill>
            <a:srgbClr val="53AEF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Computer Architecture and</a:t>
            </a: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Operating System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ea typeface="等线"/>
              </a:rPr>
              <a:t>Locks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zh-CN" dirty="0"/>
              <a:t>Lecturer: Tianming Bai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6D954-4F9E-C121-1505-178A8E20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C3633-37E9-3316-B656-4D9FA20B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5421C3-2945-163A-DDDB-3FCE8169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A854DA-CEA0-113C-50A3-022EEB35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EEF6D4-D60D-CC30-FAD7-69E3A649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6867359-884C-6BB3-A08B-7D1979760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Accelerating Address Translation (TLB): </a:t>
            </a:r>
            <a:r>
              <a:rPr lang="en-US" altLang="zh-CN" dirty="0"/>
              <a:t>The Translation-Lookaside Buffer (TLB) relies on spatial and temporal locality to make virtual memory fast.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Context switches introduce complexity (managed via ASIDs or flushing) to prevent processes from reading wrong physical frames.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dirty="0"/>
              <a:t>Threads: </a:t>
            </a:r>
            <a:r>
              <a:rPr lang="en-US" altLang="zh-CN" dirty="0"/>
              <a:t>Threads share the same address space but have independent execution paths (PCs, registers, stacks).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They enable parallelism on multi-core systems and prevent process blocking during slow I/O operations.</a:t>
            </a:r>
          </a:p>
        </p:txBody>
      </p:sp>
    </p:spTree>
    <p:extLst>
      <p:ext uri="{BB962C8B-B14F-4D97-AF65-F5344CB8AC3E}">
        <p14:creationId xmlns:p14="http://schemas.microsoft.com/office/powerpoint/2010/main" val="147935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49D8-509B-7A05-B2D1-2ACF3FB9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7C3BB-7F0E-E12C-C429-D7914A9C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83F46B-173B-96A7-0678-EDB95FFD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FBBBA3-D47B-97F8-30D5-4AA3E146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B5D405-630F-61FA-4AF3-C8DCF9DF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E1B8758-7BBC-A92D-AE20-4C7F8E63F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83027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The Problem: Uncontrolled Scheduling</a:t>
            </a:r>
            <a:endParaRPr lang="en-US" altLang="zh-CN" sz="2400" dirty="0"/>
          </a:p>
          <a:p>
            <a:pPr lvl="1"/>
            <a:r>
              <a:rPr lang="en-US" altLang="zh-CN" sz="2000" b="1" dirty="0"/>
              <a:t>Race Condition:</a:t>
            </a:r>
            <a:r>
              <a:rPr lang="en-US" altLang="zh-CN" sz="2000" dirty="0"/>
              <a:t> Results depend on the timing of execution. </a:t>
            </a:r>
          </a:p>
          <a:p>
            <a:pPr lvl="1"/>
            <a:r>
              <a:rPr lang="en-US" altLang="zh-CN" sz="2000" b="1" dirty="0"/>
              <a:t>Critical Section:</a:t>
            </a:r>
            <a:r>
              <a:rPr lang="en-US" altLang="zh-CN" sz="2000" dirty="0"/>
              <a:t> Code that accesses shared data and must be atomic. </a:t>
            </a:r>
          </a:p>
          <a:p>
            <a:pPr lvl="1"/>
            <a:r>
              <a:rPr lang="en-US" altLang="zh-CN" sz="2000" b="1" dirty="0"/>
              <a:t>Indeterminate:</a:t>
            </a:r>
            <a:r>
              <a:rPr lang="en-US" altLang="zh-CN" sz="2000" dirty="0"/>
              <a:t> Output varies from run to run. 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72DB33-7161-2AC8-2C23-525306869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733" y="2910664"/>
            <a:ext cx="4649734" cy="14756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6402A79-FBFA-6BE1-D175-BB2365962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531" y="1234992"/>
            <a:ext cx="3858163" cy="11812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3178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B477-10A2-4C1A-B500-722A1DB5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Pointer Fundamentals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0010E-2B5C-4952-B8B1-33D21308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1823-1190-4F59-A58A-2D6A0629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5CA23-77AA-41CF-AE81-0928672F7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B9F76-0400-4E5D-9A31-5D948CB35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48" y="1760047"/>
            <a:ext cx="11456616" cy="292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8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2CD7E-742B-6DF6-FBE7-4EE34C7E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CRUX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2A4978-AA49-51A9-A1D8-829040C68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90541D-785C-1007-E51D-318DE8D5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332C14-2DCE-945A-AD6D-0244CD00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9956F0C-B1A6-8054-AAA2-968C33441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79699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The Goal: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000" dirty="0"/>
              <a:t>We want to execute a series of instructions </a:t>
            </a:r>
            <a:r>
              <a:rPr lang="en-US" altLang="zh-CN" sz="2000" b="1" dirty="0"/>
              <a:t>atomically</a:t>
            </a:r>
            <a:r>
              <a:rPr lang="en-US" altLang="zh-CN" sz="2000" dirty="0"/>
              <a:t>, as if they were a single instruction. </a:t>
            </a:r>
          </a:p>
          <a:p>
            <a:r>
              <a:rPr lang="en-US" altLang="zh-CN" sz="2400" b="1" dirty="0"/>
              <a:t>How can we provide mutual exclusion for critical sections?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2400" b="1" dirty="0"/>
              <a:t>What hardware support is needed? </a:t>
            </a:r>
          </a:p>
          <a:p>
            <a:r>
              <a:rPr lang="en-US" altLang="zh-CN" sz="2400" b="1" dirty="0"/>
              <a:t>What OS support is required?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207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8324E-0E05-0FD0-BD10-FC45B457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A8B12-C688-9147-0BBB-1A5AFB10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00487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Controlling Interrupts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63D395-5B14-814D-AEE9-2FABB708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D49572-292E-75E5-E7B0-88F38ED6B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5C69C1-8500-A195-750E-BF4EAD43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0714F5-BAF2-C15C-AB83-741F0F7F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16886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Disable interrupts for the duration of the critical section.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Pros:</a:t>
            </a:r>
            <a:endParaRPr lang="en-US" altLang="zh-CN" dirty="0"/>
          </a:p>
          <a:p>
            <a:pPr lvl="1"/>
            <a:r>
              <a:rPr lang="en-US" altLang="zh-CN" dirty="0"/>
              <a:t>Simple. </a:t>
            </a:r>
          </a:p>
          <a:p>
            <a:pPr marL="0" indent="0">
              <a:buNone/>
            </a:pPr>
            <a:r>
              <a:rPr lang="en-US" altLang="zh-CN" b="1" dirty="0"/>
              <a:t>Cons:</a:t>
            </a:r>
            <a:endParaRPr lang="en-US" altLang="zh-CN" dirty="0"/>
          </a:p>
          <a:p>
            <a:pPr lvl="1"/>
            <a:r>
              <a:rPr lang="en-US" altLang="zh-CN" b="1" dirty="0"/>
              <a:t>Security:</a:t>
            </a:r>
            <a:r>
              <a:rPr lang="en-US" altLang="zh-CN" dirty="0"/>
              <a:t> Allows a user program to take over the machine (if it never calls unlock). </a:t>
            </a:r>
          </a:p>
          <a:p>
            <a:pPr lvl="1"/>
            <a:r>
              <a:rPr lang="en-US" altLang="zh-CN" b="1" dirty="0"/>
              <a:t>Multi-processor:</a:t>
            </a:r>
            <a:r>
              <a:rPr lang="en-US" altLang="zh-CN" dirty="0"/>
              <a:t> Does not work on multiple CPUs. </a:t>
            </a:r>
          </a:p>
          <a:p>
            <a:pPr lvl="1"/>
            <a:r>
              <a:rPr lang="en-US" altLang="zh-CN" b="1" dirty="0"/>
              <a:t>Efficiency:</a:t>
            </a:r>
            <a:r>
              <a:rPr lang="en-US" altLang="zh-CN" dirty="0"/>
              <a:t> Interrupts might be lost. 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6E090B-808C-3017-B824-C1D13E2DE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479" y="2083070"/>
            <a:ext cx="4209933" cy="16965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1733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EFB3-3E1E-738E-FA2B-088D54D4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F6A34-F1A8-5DC9-F56C-F35E703DB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69DD3A-2093-4C1E-44E2-5CE03F2D9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01A18-AC09-0E82-4029-7BA3D724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DF5563-91F0-6D38-CD90-5A1224F5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158DB1A-0ED9-D0C8-02D0-5D50BB942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b="1" dirty="0"/>
              <a:t>What is a Lock?</a:t>
            </a:r>
            <a:endParaRPr lang="en-US" altLang="zh-CN" dirty="0"/>
          </a:p>
          <a:p>
            <a:r>
              <a:rPr lang="en-US" altLang="zh-CN" dirty="0"/>
              <a:t>A lock is just a variable that holds the </a:t>
            </a:r>
            <a:r>
              <a:rPr lang="en-US" altLang="zh-CN" b="1" dirty="0"/>
              <a:t>state</a:t>
            </a:r>
            <a:r>
              <a:rPr lang="en-US" altLang="zh-CN" dirty="0"/>
              <a:t> of the lock at any instant.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pPr marL="0" indent="0" algn="l">
              <a:buNone/>
            </a:pPr>
            <a:r>
              <a:rPr lang="en-US" dirty="0"/>
              <a:t>It is either:</a:t>
            </a:r>
          </a:p>
          <a:p>
            <a:pPr lvl="1"/>
            <a:r>
              <a:rPr lang="en-US" sz="2800" b="1" dirty="0"/>
              <a:t>available</a:t>
            </a:r>
            <a:r>
              <a:rPr lang="en-US" sz="2800" dirty="0"/>
              <a:t> (unlocked or free): no thread holds the lock, or</a:t>
            </a:r>
          </a:p>
          <a:p>
            <a:pPr lvl="1"/>
            <a:r>
              <a:rPr lang="en-US" sz="2800" b="1" dirty="0"/>
              <a:t>acquired</a:t>
            </a:r>
            <a:r>
              <a:rPr lang="en-US" sz="2800" dirty="0"/>
              <a:t> (locked or held): exactly one thread holds the lock and presumably is in a critical section.</a:t>
            </a:r>
          </a:p>
          <a:p>
            <a:pPr algn="l"/>
            <a:r>
              <a:rPr lang="en-US" dirty="0"/>
              <a:t>We could store other information in the data type as well, such as which thread holds the lock, or a queue for ordering lock acquisition, but information like that is hidden from the user of the lock.</a:t>
            </a:r>
          </a:p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EBE1369-97B3-E14A-4F6E-89985F8B4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660" y="3071570"/>
            <a:ext cx="6150944" cy="3574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8422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4DA97-CEF7-8050-8F14-E9A07C8F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A97C2-5330-870E-DB41-7B960291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2CF829-AE57-F9EA-AC71-BF500D67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CB66CA-F7AF-5FD8-94AC-A6D7EB5F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B24B7E-AD90-8360-DD8D-22526865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BF7A0AF-1E18-9B9C-9C2A-E4DFF222D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Calling the </a:t>
            </a:r>
            <a:r>
              <a:rPr lang="en-US" b="1" dirty="0"/>
              <a:t>lock()</a:t>
            </a:r>
            <a:r>
              <a:rPr lang="en-US" dirty="0"/>
              <a:t> tries to acquire the lock;</a:t>
            </a:r>
          </a:p>
          <a:p>
            <a:pPr lvl="1"/>
            <a:r>
              <a:rPr lang="en-US" dirty="0"/>
              <a:t>If no other thread holds the lock (it is free), the thread will acquire the lock and enter the critical section.</a:t>
            </a:r>
          </a:p>
          <a:p>
            <a:pPr lvl="1"/>
            <a:r>
              <a:rPr lang="en-US" dirty="0"/>
              <a:t>If another thread then calls lock() on that same lock variable, it will not return while the lock is held by another thread.</a:t>
            </a:r>
          </a:p>
          <a:p>
            <a:pPr lvl="1"/>
            <a:endParaRPr lang="en-US" dirty="0"/>
          </a:p>
          <a:p>
            <a:pPr marL="0" indent="0" algn="l">
              <a:buNone/>
            </a:pPr>
            <a:r>
              <a:rPr lang="en-US" dirty="0"/>
              <a:t>Once the owner of the lock calls </a:t>
            </a:r>
            <a:r>
              <a:rPr lang="en-US" b="1" dirty="0"/>
              <a:t>unlock()</a:t>
            </a:r>
            <a:r>
              <a:rPr lang="en-US" dirty="0"/>
              <a:t>, the lock is available again.</a:t>
            </a:r>
          </a:p>
          <a:p>
            <a:pPr lvl="1"/>
            <a:r>
              <a:rPr lang="en-US" dirty="0"/>
              <a:t>If no threads are waiting: change state to free.</a:t>
            </a:r>
          </a:p>
          <a:p>
            <a:pPr lvl="1"/>
            <a:r>
              <a:rPr lang="en-US" dirty="0"/>
              <a:t>If threads are waiting: one of them will acquire the lock and enter the critical section.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01B6BC-5279-7B5F-520B-13603B88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542" y="509731"/>
            <a:ext cx="5988187" cy="11365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5511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8F8F-5B20-C69D-B3A8-3A8610B7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3DE6F-55AB-EAB1-85EC-6BBFE907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Evaluating 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3BAD12-BDED-0413-05C9-400BB39D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001FC1-A4EC-FE2B-E943-60C7EF15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B9F9A7-8319-611A-6011-BD59164F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0F8748A-1B86-C6E3-78F6-450BC3264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How do we judge a lock implementation?</a:t>
            </a:r>
            <a:endParaRPr lang="en-US" altLang="zh-CN" dirty="0"/>
          </a:p>
          <a:p>
            <a:r>
              <a:rPr lang="en-US" altLang="zh-CN" b="1" dirty="0"/>
              <a:t>Mutual Exclusion:</a:t>
            </a:r>
            <a:r>
              <a:rPr lang="en-US" altLang="zh-CN" dirty="0"/>
              <a:t> Does it actually prevent multiple threads from entering the critical section? </a:t>
            </a:r>
          </a:p>
          <a:p>
            <a:r>
              <a:rPr lang="en-US" altLang="zh-CN" b="1" dirty="0"/>
              <a:t>Fairness:</a:t>
            </a:r>
            <a:r>
              <a:rPr lang="en-US" altLang="zh-CN" dirty="0"/>
              <a:t> Does each thread contending for the lock have a fair chance at acquiring it? Does any thread </a:t>
            </a:r>
            <a:r>
              <a:rPr lang="en-US" altLang="zh-CN" b="1" dirty="0"/>
              <a:t>starve</a:t>
            </a:r>
            <a:r>
              <a:rPr lang="en-US" altLang="zh-CN" dirty="0"/>
              <a:t>? </a:t>
            </a:r>
          </a:p>
          <a:p>
            <a:r>
              <a:rPr lang="en-US" altLang="zh-CN" b="1" dirty="0"/>
              <a:t>Performance:</a:t>
            </a:r>
            <a:r>
              <a:rPr lang="en-US" altLang="zh-CN" dirty="0"/>
              <a:t> What are the time overheads? </a:t>
            </a:r>
          </a:p>
          <a:p>
            <a:pPr lvl="1"/>
            <a:r>
              <a:rPr lang="en-US" altLang="zh-CN" dirty="0"/>
              <a:t>Single CPU, no contention.</a:t>
            </a:r>
          </a:p>
          <a:p>
            <a:pPr lvl="1"/>
            <a:r>
              <a:rPr lang="en-US" altLang="zh-CN" dirty="0"/>
              <a:t>Single CPU, multiple threads contending.</a:t>
            </a:r>
          </a:p>
          <a:p>
            <a:pPr lvl="1"/>
            <a:r>
              <a:rPr lang="en-US" altLang="zh-CN" dirty="0"/>
              <a:t>Multiple CPUs, multiple threads contending.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945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35D82-EF80-B5A4-CBF9-F4B9FE03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B7A85-3D76-63D6-CD82-46A1FABC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Simple Flag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E314DF-391C-7911-581E-042AD7B1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2B6B08-5F51-D342-0A9F-F6254ECB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1621FF-C12E-0A75-5114-CBF11930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D902F4C-E848-AF5F-F4A9-C97AA9FB0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flag = 0 (available)</a:t>
            </a:r>
          </a:p>
          <a:p>
            <a:r>
              <a:rPr lang="en-US" altLang="zh-CN" dirty="0"/>
              <a:t>flag = 1 (held)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4EBA8E-0A4B-D119-2F84-7E7177C0B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59" y="1646238"/>
            <a:ext cx="6322514" cy="40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54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6A57-4B0A-675D-6A43-040166AE0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3F852-C0DC-E0F2-AF9D-A5F11351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Simple Flag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0B4515-6E3B-5187-F84E-9E606128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3F6C7C-8DC1-62C7-AB04-21B8A4461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D73BE1-B499-1669-7397-779EF66C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A6166E3-99EC-5F0F-A09C-A59C188C5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425669" cy="4351338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Thread 1 calls lock(), checks flag == 1 (false).</a:t>
            </a:r>
          </a:p>
          <a:p>
            <a:r>
              <a:rPr lang="en-US" altLang="zh-CN" sz="2200" dirty="0"/>
              <a:t>Interrupt switches to Thread 2.</a:t>
            </a:r>
          </a:p>
          <a:p>
            <a:r>
              <a:rPr lang="en-US" altLang="zh-CN" sz="2200" dirty="0"/>
              <a:t>Thread 2 also checks flag == 1 (false), sets flag to 1.</a:t>
            </a:r>
          </a:p>
          <a:p>
            <a:r>
              <a:rPr lang="en-US" altLang="zh-CN" sz="2200" dirty="0"/>
              <a:t>Switches back to Thread 1, sets flag to 1.</a:t>
            </a:r>
          </a:p>
          <a:p>
            <a:r>
              <a:rPr lang="en-US" altLang="zh-CN" sz="2200" b="1" dirty="0"/>
              <a:t>Both threads are in the critical section!</a:t>
            </a:r>
            <a:endParaRPr lang="en-US" altLang="zh-CN" sz="2200" dirty="0"/>
          </a:p>
          <a:p>
            <a:r>
              <a:rPr lang="en-US" altLang="zh-CN" sz="2200" dirty="0"/>
              <a:t>This fails the most basic requirement: mutual exclusion.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F27167-FDE2-683C-3CB0-58AB9AD1B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556" y="2037025"/>
            <a:ext cx="6200504" cy="2504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6956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4098-AD9D-187C-F75E-4F43EE89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3C083-DD05-5B26-C689-C7EDE37D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Test-And-Set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D7498E-991F-EDC8-F666-40446185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CF2FCB-B657-F9D3-FC22-126E3E7B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EBD282-2073-2ED3-2E89-0A857E40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4F739B9-6A29-C1C1-128E-5EB4E5F1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Hardware Support: Atomic Exchange</a:t>
            </a:r>
            <a:endParaRPr lang="en-US" altLang="zh-CN" dirty="0"/>
          </a:p>
          <a:p>
            <a:r>
              <a:rPr lang="en-US" altLang="zh-CN" dirty="0"/>
              <a:t>We need an instruction that </a:t>
            </a:r>
            <a:r>
              <a:rPr lang="en-US" altLang="zh-CN" b="1" dirty="0"/>
              <a:t>tests</a:t>
            </a:r>
            <a:r>
              <a:rPr lang="en-US" altLang="zh-CN" dirty="0"/>
              <a:t> a value and </a:t>
            </a:r>
            <a:r>
              <a:rPr lang="en-US" altLang="zh-CN" b="1" dirty="0"/>
              <a:t>sets</a:t>
            </a:r>
            <a:r>
              <a:rPr lang="en-US" altLang="zh-CN" dirty="0"/>
              <a:t> it to something else </a:t>
            </a:r>
            <a:r>
              <a:rPr lang="en-US" altLang="zh-CN" b="1" dirty="0"/>
              <a:t>atomically</a:t>
            </a:r>
            <a:r>
              <a:rPr lang="en-US" altLang="zh-CN" dirty="0"/>
              <a:t>. 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Building a Spin Lock:</a:t>
            </a:r>
            <a:endParaRPr lang="en-US" altLang="zh-CN" dirty="0"/>
          </a:p>
          <a:p>
            <a:r>
              <a:rPr lang="en-US" altLang="zh-CN" dirty="0"/>
              <a:t>The thread "spins" in a while-loop until the lock is available.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87DA58-890F-7648-94E8-FB29CBBF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48266"/>
            <a:ext cx="7235628" cy="12318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60132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F6BE8-BB13-235D-9DD2-8A93C7EC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88AB9-243B-2603-5EE7-37AD7ADF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Test-And-Set (TAS)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1F4B4B-F018-9166-792A-B6243F25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41F3D3-B4BB-4F36-C4D1-255FA4BA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B8113D-9A37-D12B-7D63-AA41B499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7FB8776-B702-EB68-2F5B-2D5698A00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3992745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Case 1</a:t>
            </a:r>
            <a:r>
              <a:rPr lang="en-US" altLang="zh-CN" sz="2400" dirty="0"/>
              <a:t>: Lock is free (flag=0).</a:t>
            </a:r>
          </a:p>
          <a:p>
            <a:pPr>
              <a:lnSpc>
                <a:spcPct val="100000"/>
              </a:lnSpc>
            </a:pPr>
            <a:r>
              <a:rPr lang="en-US" altLang="zh-CN" sz="2400" dirty="0" err="1"/>
              <a:t>TestAndSet</a:t>
            </a:r>
            <a:r>
              <a:rPr lang="en-US" altLang="zh-CN" sz="2400" dirty="0"/>
              <a:t> returns 0, thread exits loop, sets flag to 1 atomically.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576CBB-70DD-62A2-BA15-A7A3B58E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93" y="1468499"/>
            <a:ext cx="5030231" cy="3273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DD9BD1-102E-3C84-79F4-19A01F2AE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40" y="5001811"/>
            <a:ext cx="7235628" cy="12318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9013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9940-471F-36C4-B881-D8465B2A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8D536-C23C-DD03-17AE-5607778A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Test-And-Set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D58AE3-4CB5-0576-579E-B7399F76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C4C6B9-F7B1-FAD0-86D4-8963098D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0C51F7-4D07-F553-E9BB-249823253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DC1BE9E-15E7-CB5B-7CBC-B94A344B6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28437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Case 2</a:t>
            </a:r>
            <a:r>
              <a:rPr lang="en-US" altLang="zh-CN" sz="2000" dirty="0"/>
              <a:t>: Lock is held (flag=1).</a:t>
            </a:r>
          </a:p>
          <a:p>
            <a:r>
              <a:rPr lang="en-US" altLang="zh-CN" sz="2000" dirty="0" err="1"/>
              <a:t>TestAndSet</a:t>
            </a:r>
            <a:r>
              <a:rPr lang="en-US" altLang="zh-CN" sz="2000" dirty="0"/>
              <a:t> returns 1 every time, thread spins until lock is released.</a:t>
            </a:r>
          </a:p>
          <a:p>
            <a:r>
              <a:rPr lang="en-US" altLang="zh-CN" sz="2000" dirty="0"/>
              <a:t>Because </a:t>
            </a:r>
            <a:r>
              <a:rPr lang="en-US" altLang="zh-CN" sz="2000" b="1" dirty="0"/>
              <a:t>test and set are atomic</a:t>
            </a:r>
            <a:r>
              <a:rPr lang="en-US" altLang="zh-CN" sz="2000" dirty="0"/>
              <a:t>, only one thread can acquire the lock at a time.</a:t>
            </a:r>
          </a:p>
          <a:p>
            <a:r>
              <a:rPr lang="en-US" altLang="zh-CN" sz="2000" dirty="0"/>
              <a:t>This lock is called a </a:t>
            </a:r>
            <a:r>
              <a:rPr lang="en-US" altLang="zh-CN" sz="2000" b="1" dirty="0"/>
              <a:t>spin lock</a:t>
            </a:r>
            <a:r>
              <a:rPr lang="en-US" altLang="zh-CN" sz="2000" dirty="0"/>
              <a:t> because it spins using CPU cycles until the lock becomes available.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7AD8A4-E545-54F2-2E79-341B5755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575" y="878311"/>
            <a:ext cx="6061649" cy="39441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86B4D1-4F1F-75B3-FA6F-1CB9F74CD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040" y="5082731"/>
            <a:ext cx="7235628" cy="12318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33103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B8F7-C2FB-1591-FF4A-53C4339B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ED7BC-6845-41D8-7073-9E11779D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Evaluating Spin 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E2E7D0-3138-D9DC-4AF3-450D391D3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7CFB8A-B46B-31D8-E3D7-B82DBD418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F02203-0873-9999-FCC6-7A51AEEC1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87DACA1-EB86-D019-5261-34AF2DC2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/>
              <a:t>Correctness</a:t>
            </a:r>
            <a:r>
              <a:rPr lang="en-US" altLang="zh-CN" dirty="0"/>
              <a:t>: Yes, provides mutual exclusion. 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Fairness</a:t>
            </a:r>
            <a:r>
              <a:rPr lang="en-US" altLang="zh-CN" dirty="0"/>
              <a:t>: No guarantees. May lead to starvation. </a:t>
            </a:r>
          </a:p>
          <a:p>
            <a:pPr>
              <a:lnSpc>
                <a:spcPct val="100000"/>
              </a:lnSpc>
            </a:pPr>
            <a:r>
              <a:rPr lang="en-US" altLang="zh-CN" b="1" dirty="0"/>
              <a:t>Performance</a:t>
            </a:r>
            <a:r>
              <a:rPr lang="en-US" altLang="zh-CN" dirty="0"/>
              <a:t>: 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Single CPU: Very bad if lock holder is preempted. Other threads spin for entire time slices.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Multiple CPUs: Reasonable, if critical sections are short. Spinning on one CPU while another CPU releases the lock is efficient.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79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546F-DC0A-D08F-2D32-FD9B3B86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7D0F9-6037-48FD-A486-5C81146A5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Compare-And-Swap (CAS)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E0FDBB-E2F3-597F-438A-774193EE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D2B0E3-98ED-7064-8998-DBA3AD0A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9A4774-58DF-AEB4-A41C-C4258164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02FDBDA-3587-B3C6-35D0-10CF1DB0A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Another Hardware Primitive:</a:t>
            </a:r>
            <a:endParaRPr lang="en-US" altLang="zh-CN" dirty="0"/>
          </a:p>
          <a:p>
            <a:r>
              <a:rPr lang="en-US" altLang="zh-CN" dirty="0"/>
              <a:t>Test if the value at an address is equal to an expected value; if so, update it to a new value.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More powerful than Test-And-Set; used in many </a:t>
            </a:r>
            <a:r>
              <a:rPr lang="en-US" altLang="zh-CN" b="1" dirty="0"/>
              <a:t>lock-free</a:t>
            </a:r>
            <a:r>
              <a:rPr lang="en-US" altLang="zh-CN" dirty="0"/>
              <a:t> synchronization. 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F21AE0-351C-DA10-8362-66467F94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385" y="3429000"/>
            <a:ext cx="7155099" cy="16285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87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DCBC-3DF8-EB5B-5D23-EA25B445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5BD09-3114-1127-0C47-FC23E72C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Lock-Free?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5ACA7F-21F1-78D0-5455-8A6E8992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86CDA9-5A35-138A-C8AA-E7AAC47F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C58C1C-69A3-7BFA-4E82-A9E7CD81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9495137-D296-1FD0-EBAE-7E0563C57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Definition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b="1" dirty="0"/>
              <a:t>Lock-free</a:t>
            </a:r>
            <a:r>
              <a:rPr lang="en-US" altLang="zh-CN" sz="2400" dirty="0"/>
              <a:t> (or non-blocking) synchronization means threads can complete operations </a:t>
            </a:r>
            <a:r>
              <a:rPr lang="en-US" altLang="zh-CN" sz="2400" b="1" dirty="0"/>
              <a:t>without using locks</a:t>
            </a:r>
            <a:r>
              <a:rPr lang="en-US" altLang="zh-CN" sz="2400" dirty="0"/>
              <a:t> (no mutex, no spin locks, no waiting).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Threads make progress </a:t>
            </a:r>
            <a:r>
              <a:rPr lang="en-US" altLang="zh-CN" sz="2000" b="1" dirty="0"/>
              <a:t>independently</a:t>
            </a:r>
            <a:r>
              <a:rPr lang="en-US" altLang="zh-CN" sz="2000" dirty="0"/>
              <a:t>; no thread blocks another indefinitely.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/>
              <a:t>Relies </a:t>
            </a:r>
            <a:r>
              <a:rPr lang="en-US" altLang="zh-CN" sz="2000" b="1" dirty="0"/>
              <a:t>only on atomic hardware instructions</a:t>
            </a:r>
            <a:r>
              <a:rPr lang="en-US" altLang="zh-CN" sz="2000" dirty="0"/>
              <a:t> (CAS, LL/SC).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Key Property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Even if some threads are delayed or preempted, </a:t>
            </a:r>
            <a:r>
              <a:rPr lang="en-US" altLang="zh-CN" sz="2400" b="1" dirty="0"/>
              <a:t>other threads can still finish their operations</a:t>
            </a:r>
            <a:r>
              <a:rPr lang="en-US" altLang="zh-CN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No </a:t>
            </a:r>
            <a:r>
              <a:rPr lang="en-US" altLang="zh-CN" sz="2400" b="1" dirty="0"/>
              <a:t>deadlock</a:t>
            </a:r>
            <a:r>
              <a:rPr lang="en-US" altLang="zh-CN" sz="2400" dirty="0"/>
              <a:t>, no starvation, no priority inversion from locks.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b="1" dirty="0"/>
              <a:t>Classic Use Case: </a:t>
            </a:r>
            <a:r>
              <a:rPr lang="en-US" altLang="zh-CN" sz="2400" dirty="0"/>
              <a:t>Atomic updates to shared variables or data structures (e.g., atomic increment, linked-list insertion).</a:t>
            </a:r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44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9E63-4DC1-2F5D-D20F-55D3D2BC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15676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Why CAS Is More Powerful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25002C-719F-16A2-27C2-5A5D100F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8E9178-B8D3-BDDD-FC8A-5ECEFD22D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3DA040-FEA2-933E-C957-C80F70E3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B584202-3E4E-E632-A451-D47A07979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Recap: Test-And-Set (TAS)</a:t>
            </a:r>
          </a:p>
          <a:p>
            <a:r>
              <a:rPr lang="en-US" altLang="zh-CN" sz="2400" b="1" dirty="0"/>
              <a:t>Only forces a write</a:t>
            </a:r>
            <a:r>
              <a:rPr lang="en-US" altLang="zh-CN" sz="2400" dirty="0"/>
              <a:t>; overwrites the value unconditionally.</a:t>
            </a:r>
          </a:p>
          <a:p>
            <a:r>
              <a:rPr lang="en-US" altLang="zh-CN" sz="2400" dirty="0"/>
              <a:t>Can only implement simple spin locks (binary state: 0 or 1).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E445C4-4D8D-E5CF-E931-C6A06E366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72" y="3509920"/>
            <a:ext cx="7235628" cy="12318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7513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6B409-4BCF-8E9C-AEA3-D8B79148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3F8FF-B18C-D661-E591-9631AC88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15676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Why CAS Is More Powerful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D0266-4C49-6D36-187B-DB61120A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673199-8B32-0991-2503-26DFB225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4BEAA9-7572-4B25-98B8-7E8C525E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19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7BB59C-BADF-F1E4-4E8A-50EB2CEEA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Compare-And-Swap (CAS)</a:t>
            </a:r>
          </a:p>
          <a:p>
            <a:r>
              <a:rPr lang="en-US" altLang="zh-CN" b="1" dirty="0"/>
              <a:t>Conditional write</a:t>
            </a:r>
            <a:r>
              <a:rPr lang="en-US" altLang="zh-CN" sz="2400" dirty="0"/>
              <a:t>: updates only if the value matches expected. </a:t>
            </a:r>
          </a:p>
          <a:p>
            <a:r>
              <a:rPr lang="en-US" altLang="zh-CN" sz="2400" dirty="0"/>
              <a:t>Can atomically update </a:t>
            </a:r>
            <a:r>
              <a:rPr lang="en-US" altLang="zh-CN" sz="2400" b="1" dirty="0"/>
              <a:t>any value to any new value</a:t>
            </a:r>
            <a:r>
              <a:rPr lang="en-US" altLang="zh-CN" sz="2400" dirty="0"/>
              <a:t>. </a:t>
            </a:r>
          </a:p>
          <a:p>
            <a:r>
              <a:rPr lang="en-US" altLang="zh-CN" sz="2400" dirty="0"/>
              <a:t>Enables </a:t>
            </a:r>
            <a:r>
              <a:rPr lang="en-US" altLang="zh-CN" sz="2400" b="1" dirty="0"/>
              <a:t>arbitrary lock-free operations</a:t>
            </a:r>
            <a:r>
              <a:rPr lang="en-US" altLang="zh-CN" sz="2400" dirty="0"/>
              <a:t> (impossible with TAS).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C48233-D398-043D-B219-466A15B78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70" y="3966257"/>
            <a:ext cx="7155099" cy="16285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4DF2FC4-9B38-A0C0-97D6-6832C9A21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81113"/>
            <a:ext cx="5486878" cy="15241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76548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84438-E89D-135A-234C-7C23E4C5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E9148B-83B7-5BC9-FCF0-BDBBE63A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056E8A-1B55-38A0-7DC7-1D2418F0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919173-CFC8-201D-ABF0-F3E1DE9D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20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D6075AB-76F3-E30B-7470-798E47F18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203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C6AE-A143-03B2-2425-BD3D974E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53CBA-6827-7483-6932-F166289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131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4 Load-Linked and Store-Conditional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ED0A9E-B6CD-CF5B-6136-E824F33F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FB8214-9F15-2C32-D1F1-950D3D26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5410F9-7447-EE8C-8189-CD3567AA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53D99DB-C15B-F4D5-E21F-81F5C0926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The RISC Approach (MIPS, Alpha, ARM):</a:t>
            </a:r>
            <a:endParaRPr lang="en-US" altLang="zh-CN" dirty="0"/>
          </a:p>
          <a:p>
            <a:pPr lvl="1"/>
            <a:r>
              <a:rPr lang="en-US" altLang="zh-CN" dirty="0"/>
              <a:t>Load-Linked: Fetches a value and "monitors" the address. </a:t>
            </a:r>
          </a:p>
          <a:p>
            <a:pPr lvl="1"/>
            <a:r>
              <a:rPr lang="en-US" altLang="zh-CN" dirty="0"/>
              <a:t>Store-Conditional: Only succeeds if no other thread has updated that address since the Load-Linked. 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0C494D-364A-C296-375A-93A4BAC4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0" y="3749163"/>
            <a:ext cx="5498538" cy="2420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0E7AA8-15D4-BECA-DB09-B1C7C819A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774" y="3631331"/>
            <a:ext cx="5544393" cy="2655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4819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51879-0121-6696-C5B5-2214E66AC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6DD39-988D-ACBA-3492-D793FE89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131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4 Load-Linked and Store-Conditional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2036B6-BA2A-9630-16D4-E0E08EDC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FC9F9-0B8A-57B5-E040-33670CE4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2FA53A-E3FB-DF21-7096-CCD36B2A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19A1AB2-68BD-18DA-0B73-7256F531E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/>
              <a:t>Case A: </a:t>
            </a:r>
            <a:r>
              <a:rPr lang="en-US" altLang="zh-CN" sz="2000" dirty="0"/>
              <a:t>LL/SC Succeeds (No Contention)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Thread executes </a:t>
            </a:r>
            <a:r>
              <a:rPr lang="en-US" altLang="zh-CN" sz="1800" dirty="0" err="1"/>
              <a:t>LoadLinked</a:t>
            </a:r>
            <a:r>
              <a:rPr lang="en-US" altLang="zh-CN" sz="1800" dirty="0"/>
              <a:t>(&amp;flag) → reads 0, marks the address.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No other thread modifies flag.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Thread executes </a:t>
            </a:r>
            <a:r>
              <a:rPr lang="en-US" altLang="zh-CN" sz="1800" dirty="0" err="1"/>
              <a:t>StoreConditional</a:t>
            </a:r>
            <a:r>
              <a:rPr lang="en-US" altLang="zh-CN" sz="1800" dirty="0"/>
              <a:t>(&amp;flag, 1) → succeeds.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Return value = 1; atomic update complete.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703AB6-8672-5D83-81AA-1551D74B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9" y="3866995"/>
            <a:ext cx="5498538" cy="2420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C113C48-93E0-7A9D-095F-3D927CB0B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774" y="3631331"/>
            <a:ext cx="5544393" cy="2655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04690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52AF-82AF-805D-304D-1CCF9BCB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C34D6-8F83-B29C-C7B6-FEB2EC80A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131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4 Load-Linked and Store-Conditional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E0153B-1622-50F9-66B3-B3C761EC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4C55D5-C428-F525-9DA2-BA970D7A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1F8B0E-9A2B-73E2-EC8E-427E8496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D2AB469-C82C-FC38-77DD-0F644EB1D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 b="1" dirty="0"/>
              <a:t>Case B: </a:t>
            </a:r>
            <a:r>
              <a:rPr lang="en-US" altLang="zh-CN" sz="1800" dirty="0"/>
              <a:t>LL/SC Fails (With Contention)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Thread 1 executes </a:t>
            </a:r>
            <a:r>
              <a:rPr lang="en-US" altLang="zh-CN" sz="1800" dirty="0" err="1"/>
              <a:t>LoadLinked</a:t>
            </a:r>
            <a:r>
              <a:rPr lang="en-US" altLang="zh-CN" sz="1800" dirty="0"/>
              <a:t>(&amp;flag) → reads 0, marks the address.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Thread 2 interrupts and </a:t>
            </a:r>
            <a:r>
              <a:rPr lang="en-US" altLang="zh-CN" sz="1800" b="1" dirty="0"/>
              <a:t>modifies flag</a:t>
            </a:r>
            <a:r>
              <a:rPr lang="en-US" altLang="zh-CN" sz="1800" dirty="0"/>
              <a:t> (e.g., sets to 1).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Thread 1 executes </a:t>
            </a:r>
            <a:r>
              <a:rPr lang="en-US" altLang="zh-CN" sz="1800" dirty="0" err="1"/>
              <a:t>StoreConditional</a:t>
            </a:r>
            <a:r>
              <a:rPr lang="en-US" altLang="zh-CN" sz="1800" dirty="0"/>
              <a:t>(&amp;flag, 1) → hardware detects the change.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 dirty="0"/>
              <a:t>Store fails; return value = 0; Thread 1 retries.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4BD28E-CD4E-659B-B330-C51EF78C5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69" y="3866995"/>
            <a:ext cx="5498538" cy="2420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4984D3F-87E5-D91B-1956-BED107ACD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774" y="3631331"/>
            <a:ext cx="5544393" cy="2655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3494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73D9-3B12-3DA9-C3D9-E9A301F7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Is LL/SC Better? -&gt; ABA Problem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F2615-6077-FC78-8CEA-3C446590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44B1EA-3901-A071-89E4-AE159A86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29D0B8-049D-7E45-2CF3-12C30664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31EC4B4-8284-3DAF-E635-E4AFBFCA1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What Is the ABA Problem?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Core Definition:</a:t>
            </a:r>
            <a:r>
              <a:rPr lang="zh-CN" altLang="en-US" dirty="0"/>
              <a:t> </a:t>
            </a:r>
            <a:r>
              <a:rPr lang="en-US" altLang="zh-CN" dirty="0"/>
              <a:t>The </a:t>
            </a:r>
            <a:r>
              <a:rPr lang="en-US" altLang="zh-CN" b="1" dirty="0"/>
              <a:t>ABA problem</a:t>
            </a:r>
            <a:r>
              <a:rPr lang="en-US" altLang="zh-CN" dirty="0"/>
              <a:t> is a critical bug in lock-free synchronization using </a:t>
            </a:r>
            <a:r>
              <a:rPr lang="en-US" altLang="zh-CN" b="1" dirty="0"/>
              <a:t>Test-And-Set (TAS)</a:t>
            </a:r>
            <a:r>
              <a:rPr lang="en-US" altLang="zh-CN" dirty="0"/>
              <a:t> or </a:t>
            </a:r>
            <a:r>
              <a:rPr lang="en-US" altLang="zh-CN" b="1" dirty="0"/>
              <a:t>Compare-And-Swap (CAS)</a:t>
            </a:r>
            <a:r>
              <a:rPr lang="en-US" altLang="zh-CN" dirty="0"/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A thread observes a memory value = </a:t>
            </a:r>
            <a:r>
              <a:rPr lang="en-US" altLang="zh-CN" b="1" dirty="0"/>
              <a:t>A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Another thread changes the value: </a:t>
            </a:r>
            <a:r>
              <a:rPr lang="en-US" altLang="zh-CN" b="1" dirty="0"/>
              <a:t>A → B → A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The first thread checks again: still </a:t>
            </a:r>
            <a:r>
              <a:rPr lang="en-US" altLang="zh-CN" b="1" dirty="0"/>
              <a:t>A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The thread incorrectly assumes: </a:t>
            </a:r>
            <a:r>
              <a:rPr lang="en-US" altLang="zh-CN" i="1" dirty="0"/>
              <a:t>“nothing changed”</a:t>
            </a:r>
            <a:r>
              <a:rPr lang="en-US" altLang="zh-CN" dirty="0"/>
              <a:t> and proceeds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But the value </a:t>
            </a:r>
            <a:r>
              <a:rPr lang="en-US" altLang="zh-CN" b="1" dirty="0"/>
              <a:t>was modified twice, </a:t>
            </a:r>
            <a:r>
              <a:rPr lang="en-US" altLang="zh-CN" dirty="0"/>
              <a:t>the state is NOT the same as before! What if the address is reused?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659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CAC4-65A1-EC7F-6795-41E44FB9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D1C98-6750-0956-C154-BDCF9886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ABA Problem Example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180B3E-908A-8171-994B-474E7183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BD66A0-5873-985D-870C-1398E62E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3C0643-7918-3E8B-7986-ECF0AD9E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D400FF1-7054-554D-FD57-562AFF86C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Which Instructions Suffer From ABA?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Test-And-Set (TAS): </a:t>
            </a:r>
            <a:r>
              <a:rPr lang="en-US" altLang="zh-CN" b="1" dirty="0"/>
              <a:t>YES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Compare-And-Swap (CAS): </a:t>
            </a:r>
            <a:r>
              <a:rPr lang="en-US" altLang="zh-CN" b="1" dirty="0"/>
              <a:t>YES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Load-Linked / Store-Conditional (LL/SC): </a:t>
            </a:r>
            <a:r>
              <a:rPr lang="en-US" altLang="zh-CN" b="1" dirty="0"/>
              <a:t>NO</a:t>
            </a:r>
            <a:r>
              <a:rPr lang="en-US" altLang="zh-CN" dirty="0"/>
              <a:t> (hardware tracks changes, not just values)</a:t>
            </a:r>
          </a:p>
        </p:txBody>
      </p:sp>
    </p:spTree>
    <p:extLst>
      <p:ext uri="{BB962C8B-B14F-4D97-AF65-F5344CB8AC3E}">
        <p14:creationId xmlns:p14="http://schemas.microsoft.com/office/powerpoint/2010/main" val="2244693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F4F6-195E-9D3D-45D8-8151E8B4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C97C5-350D-B606-BD55-AB69A57C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5 Fetch-And-Add &amp; Ticket 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C39AE8-9FC7-6130-B3E7-F0372BA2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24019F-78A7-B376-49F3-30B543EC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447362-F6BE-A3A4-26BA-A94AA7BD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DF95C73-1A8F-F22A-9441-35852D385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Fetch-And-Add atomically increments a value and returns the old value.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FB4094-D16E-2E14-C98C-C36FBF78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035" y="2959481"/>
            <a:ext cx="4733023" cy="15844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2463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6F66-ADA6-DF53-DB7E-4EAA83F6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85D77-557D-D656-31C6-FB9ECCB5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5 Fetch-And-Add &amp; Ticket 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706BEC-9C12-D6B7-DF4B-55A96182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0C830C-AAA1-2766-4E8F-51BD0616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DF1890-C147-5721-B4DC-A34A54C6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B980D86-A172-4129-94C9-1F9E40ADE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26256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We use this to build a </a:t>
            </a:r>
            <a:r>
              <a:rPr lang="en-US" altLang="zh-CN" b="1" dirty="0"/>
              <a:t>ticket lock: </a:t>
            </a:r>
            <a:r>
              <a:rPr lang="en-US" altLang="zh-CN" dirty="0"/>
              <a:t>the first lock that guarantees </a:t>
            </a:r>
            <a:r>
              <a:rPr lang="en-US" altLang="zh-CN" b="1" dirty="0"/>
              <a:t>fairness</a:t>
            </a:r>
            <a:r>
              <a:rPr lang="en-US" altLang="zh-CN" dirty="0"/>
              <a:t> (no starvation).</a:t>
            </a:r>
          </a:p>
          <a:p>
            <a:pPr lvl="1"/>
            <a:r>
              <a:rPr lang="en-US" altLang="zh-CN" sz="2000" dirty="0"/>
              <a:t>Each thread gets a ticket in order. </a:t>
            </a:r>
          </a:p>
          <a:p>
            <a:pPr lvl="1"/>
            <a:r>
              <a:rPr lang="en-US" altLang="zh-CN" sz="2000" dirty="0"/>
              <a:t>Lock is acquired when turn == </a:t>
            </a:r>
            <a:r>
              <a:rPr lang="en-US" altLang="zh-CN" sz="2000" dirty="0" err="1"/>
              <a:t>myturn</a:t>
            </a:r>
            <a:r>
              <a:rPr lang="en-US" altLang="zh-CN" sz="2000" dirty="0"/>
              <a:t>. </a:t>
            </a:r>
          </a:p>
          <a:p>
            <a:pPr lvl="1"/>
            <a:r>
              <a:rPr lang="en-US" altLang="zh-CN" sz="2000" b="1" dirty="0"/>
              <a:t>Guaranteed fairness</a:t>
            </a:r>
            <a:r>
              <a:rPr lang="en-US" altLang="zh-CN" sz="2000" dirty="0"/>
              <a:t>: no starvation, first-come-first-served order.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B802F4-2FE8-DEA9-08BC-71F07F1F2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61" y="4491485"/>
            <a:ext cx="4733023" cy="15844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08FFB4-3FB5-3945-57E0-9D49F4E9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86" y="2685999"/>
            <a:ext cx="4334722" cy="3389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75909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CA0A5-99D5-6E36-9B0C-C6C898E2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Ticket Lock Example (3 Threads)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A04553E-B19C-4DBF-8995-8E0BF913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470E10-1442-9629-DD52-54035324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90019A-97F2-9636-98E8-4E09D624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A84DC31-E107-B698-EB75-8DD588A33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Step 1: Initialize the Lock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ticket = 0, turn = 0 (no threads waiting, lock is free)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Step 2: Threads Arrive One By One (In Order: T1 → T2 → T3)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Thread 1 arrives first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 err="1"/>
              <a:t>myturn</a:t>
            </a:r>
            <a:r>
              <a:rPr lang="en-US" altLang="zh-CN" dirty="0"/>
              <a:t> = </a:t>
            </a:r>
            <a:r>
              <a:rPr lang="en-US" altLang="zh-CN" dirty="0" err="1"/>
              <a:t>FetchAndAdd</a:t>
            </a:r>
            <a:r>
              <a:rPr lang="en-US" altLang="zh-CN" dirty="0"/>
              <a:t>(&amp;ticket) → returns 0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ticket becomes 1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Checks: </a:t>
            </a:r>
            <a:r>
              <a:rPr lang="en-US" altLang="zh-CN" dirty="0" err="1"/>
              <a:t>myturn</a:t>
            </a:r>
            <a:r>
              <a:rPr lang="en-US" altLang="zh-CN" dirty="0"/>
              <a:t> (0) == turn (0) → </a:t>
            </a:r>
            <a:r>
              <a:rPr lang="en-US" altLang="zh-CN" b="1" dirty="0"/>
              <a:t>acquires lock immediately</a:t>
            </a:r>
            <a:endParaRPr lang="en-US" altLang="zh-CN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Thread 2 arrives second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 err="1"/>
              <a:t>myturn</a:t>
            </a:r>
            <a:r>
              <a:rPr lang="en-US" altLang="zh-CN" dirty="0"/>
              <a:t> = </a:t>
            </a:r>
            <a:r>
              <a:rPr lang="en-US" altLang="zh-CN" dirty="0" err="1"/>
              <a:t>FetchAndAdd</a:t>
            </a:r>
            <a:r>
              <a:rPr lang="en-US" altLang="zh-CN" dirty="0"/>
              <a:t>(&amp;ticket) → returns 1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ticket becomes 2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Checks: 1 != 0 → </a:t>
            </a:r>
            <a:r>
              <a:rPr lang="en-US" altLang="zh-CN" b="1" dirty="0"/>
              <a:t>spins and waits</a:t>
            </a:r>
            <a:endParaRPr lang="en-US" altLang="zh-CN" dirty="0"/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altLang="zh-CN" b="1" dirty="0"/>
              <a:t>Thread 3 arrives third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en-US" altLang="zh-CN" dirty="0" err="1"/>
              <a:t>myturn</a:t>
            </a:r>
            <a:r>
              <a:rPr lang="en-US" altLang="zh-CN" dirty="0"/>
              <a:t> = </a:t>
            </a:r>
            <a:r>
              <a:rPr lang="en-US" altLang="zh-CN" dirty="0" err="1"/>
              <a:t>FetchAndAdd</a:t>
            </a:r>
            <a:r>
              <a:rPr lang="en-US" altLang="zh-CN" dirty="0"/>
              <a:t>(&amp;ticket) → returns 2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ticket becomes 3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Checks: 2 != 0 → </a:t>
            </a:r>
            <a:r>
              <a:rPr lang="en-US" altLang="zh-CN" b="1" dirty="0"/>
              <a:t>spins and waits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C46980-C912-D4CA-C4C0-5EC114A7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86" y="1556175"/>
            <a:ext cx="4334722" cy="3389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242D15-06A4-E170-B994-82F1635E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09" y="5178411"/>
            <a:ext cx="3926431" cy="1314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69497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7FC4-3E0A-AD61-1A94-BACAAA6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881C1-EDE5-330C-849A-4F798FD3E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Ticket Lock Example (3 Threads)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914F0D-C6D2-06FD-59A3-4696A595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7AAAA0-95E4-505D-514B-68C5A806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525F87-F76F-CEB6-CF29-F082881C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29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94A28D-3707-95E1-BF44-6834BE353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54982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/>
              <a:t>Step 3: Thread 1 Finishes and Calls Unlock()</a:t>
            </a:r>
          </a:p>
          <a:p>
            <a:pPr>
              <a:lnSpc>
                <a:spcPct val="110000"/>
              </a:lnSpc>
            </a:pPr>
            <a:r>
              <a:rPr lang="en-US" altLang="zh-CN" sz="1800" dirty="0"/>
              <a:t>turn becomes 1</a:t>
            </a:r>
          </a:p>
          <a:p>
            <a:pPr>
              <a:lnSpc>
                <a:spcPct val="110000"/>
              </a:lnSpc>
            </a:pPr>
            <a:r>
              <a:rPr lang="en-US" altLang="zh-CN" sz="1800" b="1" dirty="0"/>
              <a:t>Thread 2</a:t>
            </a:r>
            <a:r>
              <a:rPr lang="en-US" altLang="zh-CN" sz="1800" dirty="0"/>
              <a:t> sees </a:t>
            </a:r>
            <a:r>
              <a:rPr lang="en-US" altLang="zh-CN" sz="1800" dirty="0" err="1"/>
              <a:t>myturn</a:t>
            </a:r>
            <a:r>
              <a:rPr lang="en-US" altLang="zh-CN" sz="1800" dirty="0"/>
              <a:t> (1) == turn (1) → </a:t>
            </a:r>
            <a:r>
              <a:rPr lang="en-US" altLang="zh-CN" sz="1800" b="1" dirty="0"/>
              <a:t>acquires lock</a:t>
            </a:r>
            <a:endParaRPr lang="en-US" altLang="zh-CN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/>
              <a:t>Step 4: Thread 2 Finishes and Calls Unlock()</a:t>
            </a:r>
          </a:p>
          <a:p>
            <a:pPr>
              <a:lnSpc>
                <a:spcPct val="110000"/>
              </a:lnSpc>
            </a:pPr>
            <a:r>
              <a:rPr lang="en-US" altLang="zh-CN" sz="1800" dirty="0"/>
              <a:t>turn becomes 2</a:t>
            </a:r>
          </a:p>
          <a:p>
            <a:pPr>
              <a:lnSpc>
                <a:spcPct val="110000"/>
              </a:lnSpc>
            </a:pPr>
            <a:r>
              <a:rPr lang="en-US" altLang="zh-CN" sz="1800" b="1" dirty="0"/>
              <a:t>Thread 3</a:t>
            </a:r>
            <a:r>
              <a:rPr lang="en-US" altLang="zh-CN" sz="1800" dirty="0"/>
              <a:t> sees </a:t>
            </a:r>
            <a:r>
              <a:rPr lang="en-US" altLang="zh-CN" sz="1800" dirty="0" err="1"/>
              <a:t>myturn</a:t>
            </a:r>
            <a:r>
              <a:rPr lang="en-US" altLang="zh-CN" sz="1800" dirty="0"/>
              <a:t> (2) == turn (2) → </a:t>
            </a:r>
            <a:r>
              <a:rPr lang="en-US" altLang="zh-CN" sz="1800" b="1" dirty="0"/>
              <a:t>acquires lock</a:t>
            </a:r>
            <a:endParaRPr lang="en-US" altLang="zh-CN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dirty="0"/>
              <a:t>Final Execution Order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1" dirty="0"/>
              <a:t>T1 → T2 → T3 (exactly the order they arrived)</a:t>
            </a:r>
            <a:endParaRPr lang="en-US" altLang="zh-CN" sz="1800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F29349D-ABEF-A5A8-A0F4-EF25A9E4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286" y="1556175"/>
            <a:ext cx="4334722" cy="33899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FBB527-0F4B-0C14-A446-1B21C7A93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09" y="5178411"/>
            <a:ext cx="3926431" cy="1314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49299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1B53D-21D5-8531-1D41-93A5FA854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4044" cy="10725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Why Ticket Locks Guarantee Fairness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4F3910-BD7D-6CAE-7C81-BE844B84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D55776-496E-2A59-B12C-984882CA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School of AI and Advanced Computing, XJTLU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DA5B13-CD7D-E7A1-4389-9E2A057D6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509A052-A507-EB51-035E-DA87670F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Ticket locks enforce </a:t>
            </a:r>
            <a:r>
              <a:rPr lang="en-US" altLang="zh-CN" b="1" dirty="0"/>
              <a:t>strict First-Come-First-Served (FCFS)</a:t>
            </a:r>
            <a:r>
              <a:rPr lang="en-US" altLang="zh-CN" dirty="0"/>
              <a:t> order.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Every thread gets a unique, ordered ticket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No thread can “cut in line”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No thread will starve (wait forever)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For Simple Spin Lock (TAS/CAS)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Unfair: A later thread </a:t>
            </a:r>
            <a:r>
              <a:rPr lang="en-US" altLang="zh-CN" b="1" dirty="0"/>
              <a:t>can accidentally acquire the lock before an earlier thread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Starvation possible: A thread might wait forever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Why This Works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Fetch-and-Add is atomic</a:t>
            </a:r>
            <a:r>
              <a:rPr lang="en-US" altLang="zh-CN" dirty="0"/>
              <a:t>: No two threads get the same ticket number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Turn-based serving</a:t>
            </a:r>
            <a:r>
              <a:rPr lang="en-US" altLang="zh-CN" dirty="0"/>
              <a:t>: The lock only grants access to the next ticket in line 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No preemption in line</a:t>
            </a:r>
            <a:r>
              <a:rPr lang="en-US" altLang="zh-CN" dirty="0"/>
              <a:t>: Threads must wait their turn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0886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17296-9C96-1247-76FE-56529555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7D9C8-C44C-6700-65E9-2B6750A8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Too Much Spinning: The Problem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804BB1-87AC-BD16-F559-0597EB3A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5A2E20-99C4-52AF-C721-FBD9787F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9D183C-3D31-E181-E375-2DF36F88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31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19AEE3C-B984-4D4D-3D97-34D1F3C8E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Spin locks are inefficient on a single CPU:</a:t>
            </a:r>
          </a:p>
          <a:p>
            <a:r>
              <a:rPr lang="en-US" altLang="zh-CN" dirty="0"/>
              <a:t>If a thread holding the lock is preempted, all other threads spin wastefully for full time slices.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THE CRUX: HOW TO AVOID SPINNING</a:t>
            </a:r>
            <a:endParaRPr lang="en-US" altLang="zh-CN" dirty="0"/>
          </a:p>
          <a:p>
            <a:r>
              <a:rPr lang="en-US" altLang="zh-CN" dirty="0"/>
              <a:t>How can we develop a lock that doesn’t needlessly waste time spinning on the CPU?</a:t>
            </a:r>
          </a:p>
          <a:p>
            <a:r>
              <a:rPr lang="en-US" altLang="zh-CN" dirty="0"/>
              <a:t>Hardware alone cannot solve this. We need </a:t>
            </a:r>
            <a:r>
              <a:rPr lang="en-US" altLang="zh-CN" b="1" dirty="0"/>
              <a:t>OS support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9149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6DA5-02EC-D8C5-EB8F-F2AA31C6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BCAE7-0CB6-8184-A4B6-A1C8E1C6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Simple Approach: Just Yield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844A6D-C81A-4EC3-A987-AA022315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B7C501-6A29-F3E3-54A5-396BF21E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5889A3-C105-C54A-3970-B3180224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32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B55F30D-EB38-3765-1452-6A4D2F45C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/>
              <a:t>When a thread can’t acquire the lock, instead of spinning, it yields the CPU.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Yield() moves the thread from Running to Ready, letting another thread run.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But still inefficient with many threads, and </a:t>
            </a:r>
            <a:r>
              <a:rPr lang="en-US" altLang="zh-CN" b="1" dirty="0"/>
              <a:t>does not prevent starvation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34A3D4-DF22-E2EA-3429-0E436491B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125" y="2497952"/>
            <a:ext cx="4633560" cy="2339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95051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E6CE-F8E5-A501-AFED-111A4F7B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1095F-3216-2E37-AA2B-8B9717ED8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Better Approach: Using Queues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DF5CE4-33C1-1DF0-ACD1-55C8C40C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48B88-BC17-8B61-420E-DBD404E7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FE3FEC-3AEE-2F74-07EB-7793E776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33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AF055EF-5DEB-CB50-AF00-0EA76DA37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056214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To eliminate spinning and guarantee fairness, we use a queue to track waiting threads and put them to </a:t>
            </a:r>
            <a:r>
              <a:rPr lang="en-US" altLang="zh-CN" b="1" dirty="0"/>
              <a:t>sleep</a:t>
            </a:r>
            <a:r>
              <a:rPr lang="en-US" altLang="zh-CN" dirty="0"/>
              <a:t> instead of spinning.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We use OS primitives:</a:t>
            </a:r>
          </a:p>
          <a:p>
            <a:r>
              <a:rPr lang="en-US" altLang="zh-CN" dirty="0"/>
              <a:t>park(): put thread to sleep</a:t>
            </a:r>
          </a:p>
          <a:p>
            <a:r>
              <a:rPr lang="en-US" altLang="zh-CN" dirty="0"/>
              <a:t>unpark(</a:t>
            </a:r>
            <a:r>
              <a:rPr lang="en-US" altLang="zh-CN" dirty="0" err="1"/>
              <a:t>threadID</a:t>
            </a:r>
            <a:r>
              <a:rPr lang="en-US" altLang="zh-CN" dirty="0"/>
              <a:t>): wake a specific thread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5EC2FE-2DCE-2994-7CDD-77C00DD5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270" y="1500662"/>
            <a:ext cx="4557661" cy="49922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15433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E5FD-5662-5322-717F-0832123A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B0D9D-5D4C-A39D-09D7-1A39BEE1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Queue-Based Lock Logic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B8068D-0224-B242-75E0-3C336EFF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830C76-A08E-DAE9-BED6-6AB8121B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18B48E-8F84-0A4F-FB1A-4B28C768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34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4354305-553E-1233-3E73-FB8144ABD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When lock() is called and lock is held: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000" dirty="0"/>
              <a:t>Add thread to waiting queue.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000" dirty="0"/>
              <a:t>Put thread to sleep (park()).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When unlock() is called: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000" dirty="0"/>
              <a:t>If threads are waiting, remove one from queue.</a:t>
            </a:r>
          </a:p>
          <a:p>
            <a:pPr marL="971550" lvl="1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000" dirty="0"/>
              <a:t>Wake it up (unpark()).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This eliminates spinning completely. No more wasted time slices.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Also provides </a:t>
            </a:r>
            <a:r>
              <a:rPr lang="en-US" altLang="zh-CN" sz="2400" b="1" dirty="0"/>
              <a:t>fairness</a:t>
            </a:r>
            <a:r>
              <a:rPr lang="en-US" altLang="zh-CN" sz="2400" dirty="0"/>
              <a:t> (FIFO order).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865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7F90-A3CF-0C33-305E-D490C9B8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7587D-6255-431F-7474-3507532E3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4196" cy="1072515"/>
          </a:xfrm>
        </p:spPr>
        <p:txBody>
          <a:bodyPr>
            <a:normAutofit/>
          </a:bodyPr>
          <a:lstStyle/>
          <a:p>
            <a:r>
              <a:rPr lang="en-US" altLang="zh-CN" dirty="0"/>
              <a:t>Linux </a:t>
            </a:r>
            <a:r>
              <a:rPr lang="en-US" altLang="zh-CN" dirty="0" err="1"/>
              <a:t>Futex</a:t>
            </a:r>
            <a:r>
              <a:rPr lang="en-US" altLang="zh-CN" dirty="0"/>
              <a:t> (Fast User-Space Mutex)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0DA665-5FFF-AA90-F7B2-9F9B8187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316D41-C47F-4552-0185-263F5E7C0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861DD1-494C-299C-AEA3-B1F89DE5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35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E31C140-D611-7092-F8AB-1F1FDE2BB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Linux uses a </a:t>
            </a:r>
            <a:r>
              <a:rPr lang="en-US" altLang="zh-CN" b="1" dirty="0" err="1"/>
              <a:t>futex</a:t>
            </a:r>
            <a:r>
              <a:rPr lang="en-US" altLang="zh-CN" dirty="0"/>
              <a:t>, which is a hybrid: fast in the common case, sleeps only under contention.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Futex</a:t>
            </a:r>
            <a:r>
              <a:rPr lang="en-US" altLang="zh-CN" dirty="0"/>
              <a:t> key ideas:</a:t>
            </a:r>
          </a:p>
          <a:p>
            <a:r>
              <a:rPr lang="en-US" altLang="zh-CN" dirty="0"/>
              <a:t>Atomic operations in user space (fast path).</a:t>
            </a:r>
          </a:p>
          <a:p>
            <a:r>
              <a:rPr lang="en-US" altLang="zh-CN" dirty="0"/>
              <a:t>Only enters the kernel and sleeps when there is contention.</a:t>
            </a:r>
          </a:p>
          <a:p>
            <a:r>
              <a:rPr lang="en-US" altLang="zh-CN" dirty="0"/>
              <a:t>Uses a single integer to track lock state and waiter count.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838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2BC0-D5B9-53E9-732D-4FFAB1C4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73A57-33F1-8E8A-6E97-654DB096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Two-Phase Locks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1DD84D-DBC2-16B0-2786-5798529A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3BC799-3283-4AF1-BA9D-F21DD1B2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D2DCF6-92F7-9C25-2AD9-EA845C94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36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46E64F5-1D9B-72FD-1909-7E61B0D48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Many real-world locks (including Linux </a:t>
            </a:r>
            <a:r>
              <a:rPr lang="en-US" altLang="zh-CN" sz="2400" dirty="0" err="1"/>
              <a:t>futex</a:t>
            </a:r>
            <a:r>
              <a:rPr lang="en-US" altLang="zh-CN" sz="2400" dirty="0"/>
              <a:t>) are </a:t>
            </a:r>
            <a:r>
              <a:rPr lang="en-US" altLang="zh-CN" sz="2400" b="1" dirty="0"/>
              <a:t>two-phase locks</a:t>
            </a:r>
            <a:r>
              <a:rPr lang="en-US" altLang="zh-CN" sz="2400" dirty="0"/>
              <a:t>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b="1" dirty="0"/>
              <a:t>Phase 1</a:t>
            </a:r>
            <a:r>
              <a:rPr lang="en-US" altLang="zh-CN" sz="2400" dirty="0"/>
              <a:t>: Spin briefly, hoping the lock will be released soon.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altLang="zh-CN" sz="2400" b="1" dirty="0"/>
              <a:t>Phase 2</a:t>
            </a:r>
            <a:r>
              <a:rPr lang="en-US" altLang="zh-CN" sz="2400" dirty="0"/>
              <a:t>: If lock not acquired, sleep to save CPU.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This combines the best of both worlds: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Low latency if lock is free soon.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No CPU waste if wait is long.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5511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A51E-7B46-9630-C6E0-C027F690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8008D-697F-13BC-B9CC-929A2E30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FEF2A4-B55C-A6EA-013A-9CB208D4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8E713C-86CF-4830-F4C8-D981B1955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8A529D-4F80-1F08-740E-79C88F94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37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8181EFB-E628-78F6-2600-E97EAF988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b="1" dirty="0"/>
              <a:t>lock</a:t>
            </a:r>
            <a:r>
              <a:rPr lang="en-US" altLang="zh-CN" dirty="0"/>
              <a:t> provides mutual exclusion for critical sections. </a:t>
            </a:r>
          </a:p>
          <a:p>
            <a:r>
              <a:rPr lang="en-US" altLang="zh-CN" dirty="0"/>
              <a:t>Early solutions (interrupt disabling) are unsafe and not multiprocessor-safe. </a:t>
            </a:r>
          </a:p>
          <a:p>
            <a:r>
              <a:rPr lang="en-US" altLang="zh-CN" dirty="0"/>
              <a:t>Simple flag fails because test and set are not atomic. </a:t>
            </a:r>
          </a:p>
          <a:p>
            <a:r>
              <a:rPr lang="en-US" altLang="zh-CN" dirty="0"/>
              <a:t>Hardware atomic instructions (Test-And-Set, Compare-And-Swap, LL/Sc, Fetch-And-Add) enable correct spin locks.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0350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3B9D-1B83-03C3-5084-CDB3E7CA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B71A31-8A81-52D7-9CDE-16FCD1B27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55CECC-941D-C0D5-F965-D9A7065D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8B4BA1-83FF-875A-A2AC-FE7572BE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ACF7CF-F4A4-5D93-57FC-F5B62B20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38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512D4E4-6553-7F62-22D4-8147A05A6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Spin locks are simple but inefficient on single CPU and can starve threads. </a:t>
            </a:r>
          </a:p>
          <a:p>
            <a:r>
              <a:rPr lang="en-US" altLang="zh-CN" dirty="0"/>
              <a:t>Ticket locks add fairness via ticket/turn ordering. </a:t>
            </a:r>
          </a:p>
          <a:p>
            <a:r>
              <a:rPr lang="en-US" altLang="zh-CN" dirty="0"/>
              <a:t>Yielding reduces waste but not enough. </a:t>
            </a:r>
          </a:p>
          <a:p>
            <a:r>
              <a:rPr lang="en-US" altLang="zh-CN" b="1" dirty="0"/>
              <a:t>Queue-based sleeping locks</a:t>
            </a:r>
            <a:r>
              <a:rPr lang="en-US" altLang="zh-CN" dirty="0"/>
              <a:t> (using park/unpark or </a:t>
            </a:r>
            <a:r>
              <a:rPr lang="en-US" altLang="zh-CN" dirty="0" err="1"/>
              <a:t>futex</a:t>
            </a:r>
            <a:r>
              <a:rPr lang="en-US" altLang="zh-CN" dirty="0"/>
              <a:t>) eliminate spinning, ensure fairness, and maximize efficiency. </a:t>
            </a:r>
          </a:p>
          <a:p>
            <a:r>
              <a:rPr lang="en-US" altLang="zh-CN" dirty="0"/>
              <a:t>Modern real-world locks (Linux </a:t>
            </a:r>
            <a:r>
              <a:rPr lang="en-US" altLang="zh-CN" dirty="0" err="1"/>
              <a:t>futex</a:t>
            </a:r>
            <a:r>
              <a:rPr lang="en-US" altLang="zh-CN" dirty="0"/>
              <a:t>) are hybrid two-phase designs.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3270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03AF-6C50-4AB1-F31A-DE10C899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/>
                <a:ea typeface="等线 Light"/>
                <a:cs typeface="Arial"/>
              </a:rPr>
              <a:t>Next Lecture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F83AC3-4EEF-629B-703D-90BD4F5B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A912-BA0F-455A-9008-30C412343B5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039CF7-57B7-27D5-CFC0-4D358894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School of AI and Advanced Computing, XJTLU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FCE09B-2CCC-442C-BD00-3DAFD257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6477A-3083-4652-9A53-6C94B28E95E9}" type="slidenum">
              <a:rPr lang="en-US" smtClean="0"/>
              <a:t>39</a:t>
            </a:fld>
            <a:endParaRPr 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2C07704-5735-2744-0A3D-6CCA11EE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等线"/>
              </a:rPr>
              <a:t>I/O …</a:t>
            </a:r>
          </a:p>
        </p:txBody>
      </p:sp>
    </p:spTree>
    <p:extLst>
      <p:ext uri="{BB962C8B-B14F-4D97-AF65-F5344CB8AC3E}">
        <p14:creationId xmlns:p14="http://schemas.microsoft.com/office/powerpoint/2010/main" val="4222130008"/>
      </p:ext>
    </p:extLst>
  </p:cSld>
  <p:clrMapOvr>
    <a:masterClrMapping/>
  </p:clrMapOvr>
</p:sld>
</file>

<file path=ppt/theme/theme1.xml><?xml version="1.0" encoding="utf-8"?>
<a:theme xmlns:a="http://schemas.openxmlformats.org/drawingml/2006/main" name="AIAC">
  <a:themeElements>
    <a:clrScheme name="AIA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3AEF1"/>
      </a:accent1>
      <a:accent2>
        <a:srgbClr val="002060"/>
      </a:accent2>
      <a:accent3>
        <a:srgbClr val="A5A5A5"/>
      </a:accent3>
      <a:accent4>
        <a:srgbClr val="58257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3114</TotalTime>
  <Words>2591</Words>
  <Application>Microsoft Office PowerPoint</Application>
  <PresentationFormat>Widescreen</PresentationFormat>
  <Paragraphs>366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AIAC</vt:lpstr>
      <vt:lpstr>Computer Architecture and Operating System</vt:lpstr>
      <vt:lpstr>Review</vt:lpstr>
      <vt:lpstr>Review</vt:lpstr>
      <vt:lpstr>C Pointer Fundamentals</vt:lpstr>
      <vt:lpstr>THE CRUX</vt:lpstr>
      <vt:lpstr>Controlling Interrupts</vt:lpstr>
      <vt:lpstr>Locks</vt:lpstr>
      <vt:lpstr>Locks</vt:lpstr>
      <vt:lpstr>Evaluating Locks</vt:lpstr>
      <vt:lpstr>1 Simple Flag</vt:lpstr>
      <vt:lpstr>1 Simple Flag</vt:lpstr>
      <vt:lpstr>2 Test-And-Set</vt:lpstr>
      <vt:lpstr>2 Test-And-Set (TAS)</vt:lpstr>
      <vt:lpstr>2 Test-And-Set</vt:lpstr>
      <vt:lpstr>Evaluating Spin Locks</vt:lpstr>
      <vt:lpstr>3 Compare-And-Swap (CAS)</vt:lpstr>
      <vt:lpstr>What is Lock-Free?</vt:lpstr>
      <vt:lpstr>Why CAS Is More Powerful</vt:lpstr>
      <vt:lpstr>Why CAS Is More Powerful</vt:lpstr>
      <vt:lpstr>Break</vt:lpstr>
      <vt:lpstr>4 Load-Linked and Store-Conditional</vt:lpstr>
      <vt:lpstr>4 Load-Linked and Store-Conditional</vt:lpstr>
      <vt:lpstr>4 Load-Linked and Store-Conditional</vt:lpstr>
      <vt:lpstr>Is LL/SC Better? -&gt; ABA Problem</vt:lpstr>
      <vt:lpstr>ABA Problem Example</vt:lpstr>
      <vt:lpstr>5 Fetch-And-Add &amp; Ticket Locks</vt:lpstr>
      <vt:lpstr>5 Fetch-And-Add &amp; Ticket Locks</vt:lpstr>
      <vt:lpstr>Ticket Lock Example (3 Threads)</vt:lpstr>
      <vt:lpstr>Ticket Lock Example (3 Threads)</vt:lpstr>
      <vt:lpstr>Why Ticket Locks Guarantee Fairness</vt:lpstr>
      <vt:lpstr>Too Much Spinning: The Problem</vt:lpstr>
      <vt:lpstr>Simple Approach: Just Yield</vt:lpstr>
      <vt:lpstr>Better Approach: Using Queues</vt:lpstr>
      <vt:lpstr>Queue-Based Lock Logic</vt:lpstr>
      <vt:lpstr>Linux Futex (Fast User-Space Mutex)</vt:lpstr>
      <vt:lpstr>Two-Phase Locks</vt:lpstr>
      <vt:lpstr>Summary </vt:lpstr>
      <vt:lpstr>Summary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Bai</dc:creator>
  <cp:lastModifiedBy>Tianming Bai</cp:lastModifiedBy>
  <cp:revision>1129</cp:revision>
  <cp:lastPrinted>2026-05-11T00:54:32Z</cp:lastPrinted>
  <dcterms:created xsi:type="dcterms:W3CDTF">2025-10-22T02:43:00Z</dcterms:created>
  <dcterms:modified xsi:type="dcterms:W3CDTF">2026-05-11T01:05:10Z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3DFBA0E403B8423FB8BFD4C8BC3E42ED_13</vt:lpwstr>
  </property>
  <property fmtid="{D5CDD505-2E9C-101B-9397-08002B2CF9AE}" pid="3" name="KSOProductBuildVer">
    <vt:lpwstr>2052-12.1.0.25225</vt:lpwstr>
  </property>
</Properties>
</file>