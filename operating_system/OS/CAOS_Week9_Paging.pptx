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356" r:id="rId2"/>
    <p:sldId id="443" r:id="rId3"/>
    <p:sldId id="453" r:id="rId4"/>
    <p:sldId id="454" r:id="rId5"/>
    <p:sldId id="456" r:id="rId6"/>
    <p:sldId id="455" r:id="rId7"/>
    <p:sldId id="480" r:id="rId8"/>
    <p:sldId id="457" r:id="rId9"/>
    <p:sldId id="458" r:id="rId10"/>
    <p:sldId id="459" r:id="rId11"/>
    <p:sldId id="460" r:id="rId12"/>
    <p:sldId id="461" r:id="rId13"/>
    <p:sldId id="487" r:id="rId14"/>
    <p:sldId id="488" r:id="rId15"/>
    <p:sldId id="462" r:id="rId16"/>
    <p:sldId id="463" r:id="rId17"/>
    <p:sldId id="464" r:id="rId18"/>
    <p:sldId id="465" r:id="rId19"/>
    <p:sldId id="489" r:id="rId20"/>
    <p:sldId id="466" r:id="rId21"/>
    <p:sldId id="467" r:id="rId22"/>
    <p:sldId id="468" r:id="rId23"/>
    <p:sldId id="469" r:id="rId24"/>
    <p:sldId id="470" r:id="rId25"/>
    <p:sldId id="471" r:id="rId26"/>
    <p:sldId id="472" r:id="rId27"/>
    <p:sldId id="473" r:id="rId28"/>
    <p:sldId id="474" r:id="rId29"/>
    <p:sldId id="481" r:id="rId30"/>
    <p:sldId id="475" r:id="rId31"/>
    <p:sldId id="476" r:id="rId32"/>
    <p:sldId id="477" r:id="rId33"/>
    <p:sldId id="482" r:id="rId34"/>
    <p:sldId id="483" r:id="rId35"/>
    <p:sldId id="484" r:id="rId36"/>
    <p:sldId id="485" r:id="rId37"/>
    <p:sldId id="478" r:id="rId38"/>
    <p:sldId id="486" r:id="rId39"/>
    <p:sldId id="386" r:id="rId40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FCD9B1D-7B9A-4D58-995E-AFA475280652}">
          <p14:sldIdLst>
            <p14:sldId id="356"/>
            <p14:sldId id="443"/>
          </p14:sldIdLst>
        </p14:section>
        <p14:section name="VM" id="{7F84BA80-6D35-443A-BE5C-9BE5D43F9D2B}">
          <p14:sldIdLst>
            <p14:sldId id="453"/>
            <p14:sldId id="454"/>
            <p14:sldId id="456"/>
            <p14:sldId id="455"/>
            <p14:sldId id="480"/>
            <p14:sldId id="457"/>
            <p14:sldId id="458"/>
            <p14:sldId id="459"/>
            <p14:sldId id="460"/>
            <p14:sldId id="461"/>
            <p14:sldId id="487"/>
            <p14:sldId id="488"/>
            <p14:sldId id="462"/>
            <p14:sldId id="463"/>
            <p14:sldId id="464"/>
            <p14:sldId id="465"/>
            <p14:sldId id="489"/>
            <p14:sldId id="466"/>
            <p14:sldId id="467"/>
            <p14:sldId id="468"/>
            <p14:sldId id="469"/>
            <p14:sldId id="470"/>
            <p14:sldId id="471"/>
            <p14:sldId id="472"/>
            <p14:sldId id="473"/>
            <p14:sldId id="474"/>
            <p14:sldId id="481"/>
            <p14:sldId id="475"/>
            <p14:sldId id="476"/>
            <p14:sldId id="477"/>
            <p14:sldId id="482"/>
            <p14:sldId id="483"/>
            <p14:sldId id="484"/>
            <p14:sldId id="485"/>
            <p14:sldId id="478"/>
            <p14:sldId id="486"/>
            <p14:sldId id="3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E5FC"/>
    <a:srgbClr val="53AEF1"/>
    <a:srgbClr val="582579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7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A9278-991E-4FC4-A092-547ADFE43B77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16CDF-66D6-42F5-82AB-44061AC83CC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lnSpc>
                <a:spcPct val="9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745355"/>
            <a:ext cx="7647305" cy="66421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idx="13"/>
          </p:nvPr>
        </p:nvSpPr>
        <p:spPr>
          <a:xfrm>
            <a:off x="838200" y="5536565"/>
            <a:ext cx="7647305" cy="664210"/>
          </a:xfrm>
        </p:spPr>
        <p:txBody>
          <a:bodyPr/>
          <a:lstStyle>
            <a:lvl1pPr marL="0" indent="0" algn="r">
              <a:buNone/>
              <a:defRPr sz="24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05165" cy="10725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AI and Advanced Computing, XJTLU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1822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图片 6" descr="AIAC_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9890" y="5742940"/>
            <a:ext cx="1457960" cy="92456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40105" y="357505"/>
            <a:ext cx="746760" cy="124460"/>
          </a:xfrm>
          <a:prstGeom prst="rect">
            <a:avLst/>
          </a:prstGeom>
          <a:solidFill>
            <a:srgbClr val="53AEF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6733540"/>
            <a:ext cx="12192635" cy="124460"/>
          </a:xfrm>
          <a:prstGeom prst="rect">
            <a:avLst/>
          </a:prstGeom>
          <a:solidFill>
            <a:srgbClr val="53AEF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Computer Architecture and</a:t>
            </a:r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Operating System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dirty="0">
                <a:latin typeface="Arial"/>
                <a:ea typeface="等线"/>
                <a:cs typeface="Arial"/>
              </a:rPr>
              <a:t>Paging</a:t>
            </a:r>
            <a:endParaRPr lang="en-US" altLang="zh-CN" dirty="0">
              <a:ea typeface="等线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zh-CN" dirty="0"/>
              <a:t>Lecturer: Tianming Bai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1F7F3-5F4B-45C5-E993-43585BA5A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2515"/>
          </a:xfrm>
        </p:spPr>
        <p:txBody>
          <a:bodyPr>
            <a:normAutofit/>
          </a:bodyPr>
          <a:lstStyle/>
          <a:p>
            <a:r>
              <a:rPr lang="zh-CN" altLang="en-US" dirty="0">
                <a:ea typeface="等线 Light"/>
              </a:rPr>
              <a:t>Review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B531351-5186-977D-FECF-8F495102F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206D2BA-08FA-4D11-C982-E53360998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F4409A-78A6-F481-AD89-986027E04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</a:t>
            </a:fld>
            <a:endParaRPr 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A8CCE4A2-6692-BAC1-42CB-37DD0E753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/>
              <a:t>Address Space</a:t>
            </a:r>
          </a:p>
          <a:p>
            <a:pPr>
              <a:lnSpc>
                <a:spcPct val="100000"/>
              </a:lnSpc>
            </a:pPr>
            <a:r>
              <a:rPr lang="en-US" altLang="zh-CN" sz="2400" b="1" dirty="0"/>
              <a:t>Base and Bounds</a:t>
            </a:r>
            <a:r>
              <a:rPr lang="en-US" altLang="zh-CN" sz="2400" dirty="0"/>
              <a:t>: Uses hardware (MMU) for efficient dynamic relocation, but suffers from massive </a:t>
            </a:r>
            <a:r>
              <a:rPr lang="en-US" altLang="zh-CN" sz="2400" b="1" dirty="0"/>
              <a:t>Internal Fragmentation</a:t>
            </a:r>
            <a:r>
              <a:rPr lang="en-US" altLang="zh-CN" sz="2400" dirty="0"/>
              <a:t> due to forced contiguous memory allocation.</a:t>
            </a:r>
            <a:r>
              <a:rPr lang="en-US" altLang="zh-CN" sz="2400" b="1" dirty="0"/>
              <a:t> </a:t>
            </a:r>
          </a:p>
          <a:p>
            <a:pPr>
              <a:lnSpc>
                <a:spcPct val="100000"/>
              </a:lnSpc>
            </a:pPr>
            <a:r>
              <a:rPr lang="en-US" altLang="zh-CN" sz="2400" b="1" dirty="0"/>
              <a:t>Segmentation</a:t>
            </a:r>
            <a:r>
              <a:rPr lang="en-US" altLang="zh-CN" sz="2400" dirty="0"/>
              <a:t>: Solves internal fragmentation by providing independent base and bounds pairs for logical segments (Code, Heap, Stack).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Allocating </a:t>
            </a:r>
            <a:r>
              <a:rPr lang="en-US" altLang="zh-CN" sz="2400" b="1" dirty="0"/>
              <a:t>variable-sized segments </a:t>
            </a:r>
            <a:r>
              <a:rPr lang="en-US" altLang="zh-CN" sz="2400" dirty="0"/>
              <a:t>creates holes in physical memory, leading to </a:t>
            </a:r>
            <a:r>
              <a:rPr lang="en-US" altLang="zh-CN" sz="2400" b="1" dirty="0"/>
              <a:t>External Fragmentation</a:t>
            </a:r>
            <a:r>
              <a:rPr lang="en-US" altLang="zh-CN" sz="2400" dirty="0"/>
              <a:t>, which is difficult to solve entirely.</a:t>
            </a:r>
          </a:p>
        </p:txBody>
      </p:sp>
    </p:spTree>
    <p:extLst>
      <p:ext uri="{BB962C8B-B14F-4D97-AF65-F5344CB8AC3E}">
        <p14:creationId xmlns:p14="http://schemas.microsoft.com/office/powerpoint/2010/main" val="2435179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B2EE3-25C4-F5E7-43FA-F0224B414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08F2E8-B504-7329-E540-FB95991DF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Crux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F4167FF-79B7-CF3C-F68F-32ACD5610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301959-E9FB-69A0-3630-83F0BE52A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BC8AF2-866E-53D6-197C-5C78E20DC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437403E-A3C0-0690-E054-934F0C179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217421" cy="4351338"/>
          </a:xfrm>
        </p:spPr>
        <p:txBody>
          <a:bodyPr/>
          <a:lstStyle/>
          <a:p>
            <a:r>
              <a:rPr lang="en-US" altLang="zh-CN" dirty="0"/>
              <a:t>How should we manage free space when the requests are for variable-sized blocks?</a:t>
            </a:r>
          </a:p>
          <a:p>
            <a:endParaRPr lang="en-US" altLang="zh-CN" dirty="0"/>
          </a:p>
          <a:p>
            <a:r>
              <a:rPr lang="en-US" altLang="zh-CN" dirty="0"/>
              <a:t>What strategies can we use to minimize fragmentation, and what are the time and space overheads?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4982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6866A4-8E61-BB9A-AD68-3ABE67DB9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Assumptions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407115-C333-0EFF-9A8F-147135847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0E3B2EF-C76B-C3C4-28F0-FCC432543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599CE3D-C9CF-4A41-09B3-C7A85D6DA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4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1D27C4D-D76E-7B0F-89EB-75CF4444B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/>
              <a:t>We assume a basic interface provided by the library: 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/>
              <a:t>void *malloc(</a:t>
            </a:r>
            <a:r>
              <a:rPr lang="en-US" altLang="zh-CN" sz="2000" dirty="0" err="1"/>
              <a:t>size_t</a:t>
            </a:r>
            <a:r>
              <a:rPr lang="en-US" altLang="zh-CN" sz="2000" dirty="0"/>
              <a:t> size) 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/>
              <a:t>void free(void *</a:t>
            </a:r>
            <a:r>
              <a:rPr lang="en-US" altLang="zh-CN" sz="2000" dirty="0" err="1"/>
              <a:t>ptr</a:t>
            </a:r>
            <a:r>
              <a:rPr lang="en-US" altLang="zh-CN" sz="2000" dirty="0"/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We focus primarily on </a:t>
            </a:r>
            <a:r>
              <a:rPr lang="en-US" altLang="zh-CN" sz="2400" b="1" dirty="0"/>
              <a:t>external fragmentation </a:t>
            </a:r>
            <a:r>
              <a:rPr lang="en-US" altLang="zh-CN" sz="2400" dirty="0"/>
              <a:t>and simplify the issue of internal fragmentation (waste inside an allocated block).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Once memory is allocated, it </a:t>
            </a:r>
            <a:r>
              <a:rPr lang="en-US" altLang="zh-CN" sz="2400" b="1" dirty="0"/>
              <a:t>cannot be relocated or compacted</a:t>
            </a:r>
            <a:r>
              <a:rPr lang="en-US" altLang="zh-CN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The allocator initially manages a </a:t>
            </a:r>
            <a:r>
              <a:rPr lang="en-US" altLang="zh-CN" sz="2400" b="1" dirty="0"/>
              <a:t>continuous</a:t>
            </a:r>
            <a:r>
              <a:rPr lang="en-US" altLang="zh-CN" sz="2400" dirty="0"/>
              <a:t>, </a:t>
            </a:r>
            <a:r>
              <a:rPr lang="en-US" altLang="zh-CN" sz="2400" b="1" dirty="0"/>
              <a:t>fixed-size </a:t>
            </a:r>
            <a:r>
              <a:rPr lang="en-US" altLang="zh-CN" sz="2400" dirty="0"/>
              <a:t>heap region.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57049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66663-84A5-704F-F12F-B6677C058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E9F-D2D9-2C39-0C3B-96FF42877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Low-Level Mechanisms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09B078-CE0D-9CE1-5C25-8C7324F63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BC914C-DD0D-BD44-F829-FC79BEDC3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8C4155-C25B-3EA9-6CF8-A06256253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5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AF903AE-6D12-3164-006E-B6B16D8BC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Splitting &amp; Coalescing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Tracking Size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Embedded Free List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Growing The Heap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1478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B7F14-449D-72F1-F52E-620EE67C7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196F60-EA76-230B-30CC-1CBDECBD3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Low-Level Mechanisms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F39509-C03B-F162-E570-A0C0BFE4E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CBAD04-5D28-0830-1BBD-42CF50DC0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FC9A69-B7DA-FDC5-82F7-94D6305D5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6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91BE5C5-7283-5264-033E-10A6BFDCD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/>
              <a:t>Splitting</a:t>
            </a:r>
            <a:r>
              <a:rPr lang="en-US" altLang="zh-CN" sz="2400" dirty="0"/>
              <a:t>: Occurs when a request is smaller than the available free chunk.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/>
              <a:t>The allocator splits the free chunk into two: the allocated block (returned to the user) and the remaining free block (kept in the free list).</a:t>
            </a:r>
          </a:p>
          <a:p>
            <a:pPr lvl="1">
              <a:lnSpc>
                <a:spcPct val="100000"/>
              </a:lnSpc>
            </a:pPr>
            <a:endParaRPr lang="en-US" altLang="zh-CN" sz="2000" dirty="0"/>
          </a:p>
          <a:p>
            <a:pPr lvl="1">
              <a:lnSpc>
                <a:spcPct val="100000"/>
              </a:lnSpc>
            </a:pPr>
            <a:endParaRPr lang="en-US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/>
              <a:t>Coalescing</a:t>
            </a:r>
            <a:r>
              <a:rPr lang="en-US" altLang="zh-CN" sz="2400" dirty="0"/>
              <a:t>: Occurs during memory release.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/>
              <a:t>The allocator checks adjacent free blocks and merges them into a larger continuous block.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/>
              <a:t>Failing to coalesce results in a free list filled with tiny fragments unable to satisfy large requests.</a:t>
            </a:r>
            <a:endParaRPr lang="zh-CN" altLang="en-US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E5DE869-2E99-3F9D-BEDA-80B54D8AA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922" y="3075457"/>
            <a:ext cx="3162525" cy="69298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8E56C6B-9129-4DF6-CF04-077CEFBD3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14" y="3189123"/>
            <a:ext cx="3461376" cy="4797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57EAE48-73C5-5B34-3ABE-230B798DE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1043" y="3108319"/>
            <a:ext cx="2990280" cy="64135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CB4D169-EB38-63AF-5048-3C3A6B3C40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656" y="5688562"/>
            <a:ext cx="4060047" cy="61114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C865963-7311-4AFE-1E43-E65C67C4D8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4389" y="5629116"/>
            <a:ext cx="2498136" cy="69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06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A59286-EA25-B3A9-5F4F-60E18934F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Low-Level Mechanisms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6074B6-D826-DA48-D3B2-26C45723D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B0CBFB-740E-CF83-2106-5E35057EE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F64F53-CA60-2346-BC8A-030190B3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7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2D2E4D9-F6A4-470C-4FDE-06D4191B8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Tracking Size</a:t>
            </a:r>
          </a:p>
          <a:p>
            <a:pPr lvl="1"/>
            <a:r>
              <a:rPr lang="en-US" altLang="zh-CN" dirty="0"/>
              <a:t>Because free(</a:t>
            </a:r>
            <a:r>
              <a:rPr lang="en-US" altLang="zh-CN" dirty="0" err="1"/>
              <a:t>ptr</a:t>
            </a:r>
            <a:r>
              <a:rPr lang="en-US" altLang="zh-CN" dirty="0"/>
              <a:t>) lacks a size parameter, the allocator uses a header to track block sizes.</a:t>
            </a:r>
          </a:p>
          <a:p>
            <a:pPr lvl="1"/>
            <a:r>
              <a:rPr lang="en-US" altLang="zh-CN" dirty="0"/>
              <a:t>The header is stored in memory immediately before the allocated block's starting address.</a:t>
            </a:r>
          </a:p>
          <a:p>
            <a:pPr lvl="1"/>
            <a:r>
              <a:rPr lang="en-US" altLang="zh-CN" dirty="0"/>
              <a:t>It contains the block size and a magic number (for integrity checking).</a:t>
            </a:r>
          </a:p>
          <a:p>
            <a:pPr lvl="1"/>
            <a:r>
              <a:rPr lang="en-US" altLang="zh-CN" dirty="0"/>
              <a:t>Actual allocated size = User requested size + Header size.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8353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EC1A7-DE7D-E857-3B32-0E5AAFE1F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8A0A3-E4DD-55BC-9FBC-BEC2C51A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Low-Level Mechanisms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30C7A1-33F2-C036-CBBF-2A7C5B5B5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3E5B5C-6618-3AFF-73F1-3620BE10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D740CF-1AC8-7C7E-70BF-933DEB57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8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533AD48-BD11-080C-DED3-63F9A7AA1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Embedded Free List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The allocation library cannot call malloc() to create linked list nodes for its own management.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Instead, list nodes are stored directly inside the free space itself.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Initialization: Uses </a:t>
            </a:r>
            <a:r>
              <a:rPr lang="en-US" altLang="zh-CN" dirty="0" err="1"/>
              <a:t>mmap</a:t>
            </a:r>
            <a:r>
              <a:rPr lang="en-US" altLang="zh-CN" dirty="0"/>
              <a:t> to request heap space; the head node is placed at the start, recording the size and the next pointer.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After Allocation: The free block is split, and the node's size and pointers are updated dynamically.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7929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025D4-339C-9442-321C-0CD764924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181D57-D6C9-B9D9-4884-D24914758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Low-Level Mechanisms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65416D3-C622-0E30-C76B-81E728CB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CC79023-23F6-6548-BD07-DA17471A5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539874-FDE4-985D-1025-073CEE22C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9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0AB2D7D-8EE0-FDEB-0BD4-80224C846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Growing the Heap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What happens when the heap completely runs out of space?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The allocator makes system calls like </a:t>
            </a:r>
            <a:r>
              <a:rPr lang="en-US" altLang="zh-CN" dirty="0" err="1"/>
              <a:t>sbrk</a:t>
            </a:r>
            <a:r>
              <a:rPr lang="en-US" altLang="zh-CN" dirty="0"/>
              <a:t> or </a:t>
            </a:r>
            <a:r>
              <a:rPr lang="en-US" altLang="zh-CN" dirty="0" err="1"/>
              <a:t>mmap</a:t>
            </a:r>
            <a:r>
              <a:rPr lang="en-US" altLang="zh-CN" dirty="0"/>
              <a:t> to request more physical memory from the Operating System.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The OS expands the heap space, allowing the allocator to continue serving allocation requests.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775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8DB1F-DB75-5035-CADE-2FB9BDCF0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AEFB5B-CE20-B10F-DD8A-A03BD5AA7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Allocation Strategies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27DD68-172F-3837-78B5-B8C0BF392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ADE0C8C-1892-DD5D-D412-E20B68174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7563F7-CB14-F5DE-337F-2A15F9D4F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10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4C5585C-1696-EA36-1271-D4C838ED6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The core goal of these classic strategies is to balance speed and minimal fragmentation.</a:t>
            </a:r>
          </a:p>
          <a:p>
            <a:r>
              <a:rPr lang="en-US" altLang="zh-CN" b="1" dirty="0"/>
              <a:t>Basic Allocation Strategies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marL="971550" lvl="1" indent="-514350">
              <a:buFont typeface="+mj-lt"/>
              <a:buAutoNum type="arabicPeriod"/>
            </a:pPr>
            <a:r>
              <a:rPr lang="en-US" altLang="zh-CN" dirty="0"/>
              <a:t>Best Fit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 dirty="0"/>
              <a:t>Worst Fit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 dirty="0"/>
              <a:t>First Fit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 dirty="0"/>
              <a:t>Next Fit</a:t>
            </a:r>
          </a:p>
          <a:p>
            <a:r>
              <a:rPr lang="en-US" altLang="zh-CN" b="1" dirty="0"/>
              <a:t>Advanced Optimization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marL="971550" lvl="1" indent="-514350">
              <a:buFont typeface="+mj-lt"/>
              <a:buAutoNum type="arabicPeriod"/>
            </a:pPr>
            <a:r>
              <a:rPr lang="en-US" altLang="zh-CN" dirty="0"/>
              <a:t>Segregated Lists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 dirty="0"/>
              <a:t>Buddy Allocation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2938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76C26-D9BC-A8EC-A51E-D7751088C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2CA554-16AF-E25A-FB3E-0CD8A9B03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Best Fit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C6A725-2AA5-D1FC-CFC6-4134554C2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DCB5FF-7209-FA90-14B5-E92B33559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408B05-DE61-D1ED-A464-38E4201C3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11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7142F78-8409-D4DF-30FF-9B8431160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b="1" dirty="0"/>
              <a:t>Best Fit Logic</a:t>
            </a:r>
            <a:r>
              <a:rPr lang="en-US" altLang="zh-CN" dirty="0"/>
              <a:t>: Traverse the entire free list to find the smallest free block that satisfies the request.</a:t>
            </a:r>
          </a:p>
          <a:p>
            <a:pPr>
              <a:lnSpc>
                <a:spcPct val="100000"/>
              </a:lnSpc>
            </a:pPr>
            <a:r>
              <a:rPr lang="en-US" altLang="zh-CN" b="1" dirty="0"/>
              <a:t>Pros</a:t>
            </a:r>
            <a:r>
              <a:rPr lang="en-US" altLang="zh-CN" dirty="0"/>
              <a:t>: Minimizes space waste by perfectly matching request sizes.</a:t>
            </a:r>
          </a:p>
          <a:p>
            <a:pPr>
              <a:lnSpc>
                <a:spcPct val="100000"/>
              </a:lnSpc>
            </a:pPr>
            <a:r>
              <a:rPr lang="en-US" altLang="zh-CN" b="1" dirty="0"/>
              <a:t>Cons</a:t>
            </a:r>
            <a:r>
              <a:rPr lang="en-US" altLang="zh-CN" dirty="0"/>
              <a:t>: Requires a full list traversal, resulting in high performance overhead.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1244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08C2F-744C-6F32-028D-5B89A88F9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7172E4-0D41-41DA-0D1F-B2509BE9A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Worst Fit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0784894-645B-E8F4-C0EB-74536A1D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7C8B5B9-4DE4-0CD7-67BC-C17E75A67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C1C009-F85A-429E-819A-34D0D953A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12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56FE923-ED3E-5A88-C6B0-826CFFA45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Worst Fit Logic:</a:t>
            </a:r>
            <a:r>
              <a:rPr lang="en-US" altLang="zh-CN" dirty="0"/>
              <a:t> Traverse the entire free list to find the largest available free block, split it, and allocate.</a:t>
            </a:r>
          </a:p>
          <a:p>
            <a:r>
              <a:rPr lang="en-US" altLang="zh-CN" b="1" dirty="0"/>
              <a:t>Pros:</a:t>
            </a:r>
            <a:r>
              <a:rPr lang="en-US" altLang="zh-CN" dirty="0"/>
              <a:t> Theoretically preserves large free blocks and avoids leaving behind tiny slivers.</a:t>
            </a:r>
          </a:p>
          <a:p>
            <a:r>
              <a:rPr lang="en-US" altLang="zh-CN" b="1" dirty="0"/>
              <a:t>Cons:</a:t>
            </a:r>
            <a:r>
              <a:rPr lang="en-US" altLang="zh-CN" dirty="0"/>
              <a:t> Also requires a full list traversal. In practice, it suffers from </a:t>
            </a:r>
            <a:r>
              <a:rPr lang="en-US" altLang="zh-CN" b="1" dirty="0"/>
              <a:t>terrible performance and severe fragmentation</a:t>
            </a:r>
            <a:r>
              <a:rPr lang="en-US" altLang="zh-CN" dirty="0"/>
              <a:t>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4066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CCB20-6EFA-4A13-8572-FD4FD235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FE662-BB53-4B5C-A46C-B7DC67DF3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251A94-8E4F-4C7E-83F0-F5969A26E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FF17D-7A75-49A2-B370-288837C75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13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4A5904F-5E79-4883-B2E4-9E5C6B991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Envision a free list with three elements on it, of sizes 10, 30, and 20 (ignore headers and other details here).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Best fit</a:t>
            </a:r>
          </a:p>
          <a:p>
            <a:endParaRPr lang="en-US" dirty="0"/>
          </a:p>
          <a:p>
            <a:r>
              <a:rPr lang="en-US" dirty="0"/>
              <a:t>Worst fit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0DE9DC-70F6-4143-B695-41149B832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047" y="2646318"/>
            <a:ext cx="7054787" cy="104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518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CCB20-6EFA-4A13-8572-FD4FD235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FE662-BB53-4B5C-A46C-B7DC67DF3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251A94-8E4F-4C7E-83F0-F5969A26E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FF17D-7A75-49A2-B370-288837C75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14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4A5904F-5E79-4883-B2E4-9E5C6B991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Envision a free list with three elements on it, of sizes 10, 30, and 20 (ignore headers and other details here).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Best fit</a:t>
            </a:r>
          </a:p>
          <a:p>
            <a:endParaRPr lang="en-US" dirty="0"/>
          </a:p>
          <a:p>
            <a:r>
              <a:rPr lang="en-US" dirty="0"/>
              <a:t>Worst fit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0DE9DC-70F6-4143-B695-41149B832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047" y="2646318"/>
            <a:ext cx="7054787" cy="10461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72AA92-82E0-4EF7-B606-1FDB33023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934" y="3933741"/>
            <a:ext cx="6807632" cy="9557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3275AF-23AC-4B7B-AB4D-B96E5A592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988" y="5035099"/>
            <a:ext cx="6773578" cy="99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912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17DDB-8F3F-3E24-84E1-5D2E5803F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603A09-0401-26E7-771B-3E2F72C6A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First Fit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7FAB17-22DD-ACD8-6416-23F9E430C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A53569D-E65C-C62D-A385-48A993DDA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E2F7641-85F1-33A3-AD78-6C6F0ABEE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15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687A5A4-F621-9603-C5EE-1F2EC17E1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First Fit Logic:</a:t>
            </a:r>
            <a:r>
              <a:rPr lang="en-US" altLang="zh-CN" dirty="0"/>
              <a:t> Find the very first free block that is large enough and allocate it immediately.</a:t>
            </a:r>
          </a:p>
          <a:p>
            <a:r>
              <a:rPr lang="en-US" altLang="zh-CN" b="1" dirty="0"/>
              <a:t>Pros:</a:t>
            </a:r>
            <a:r>
              <a:rPr lang="en-US" altLang="zh-CN" dirty="0"/>
              <a:t> </a:t>
            </a:r>
            <a:r>
              <a:rPr lang="en-US" altLang="zh-CN" b="1" dirty="0"/>
              <a:t>Extremely fast</a:t>
            </a:r>
            <a:r>
              <a:rPr lang="en-US" altLang="zh-CN" dirty="0"/>
              <a:t>, as it avoids exhaustive searches.</a:t>
            </a:r>
          </a:p>
          <a:p>
            <a:r>
              <a:rPr lang="en-US" altLang="zh-CN" b="1" dirty="0"/>
              <a:t>Cons:</a:t>
            </a:r>
            <a:r>
              <a:rPr lang="en-US" altLang="zh-CN" dirty="0"/>
              <a:t> Tends to accumulate numerous small fragments at the beginning of the free list.</a:t>
            </a:r>
          </a:p>
          <a:p>
            <a:r>
              <a:rPr lang="en-US" altLang="zh-CN" b="1" dirty="0"/>
              <a:t>Optimization:</a:t>
            </a:r>
            <a:r>
              <a:rPr lang="en-US" altLang="zh-CN" dirty="0"/>
              <a:t> Address-based sorting of the free list simplifies coalescing and reduces fragmentation.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6516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21A5B-1608-CC42-97F5-CC10E130E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AC4D7A-DE0E-A199-AD85-4567B9821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Next Fit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D085D94-ACB5-7A6C-94F3-298847535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792BBE9-DFC8-325D-C77F-32C0ED80F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C95FAC-F59A-4FF6-3F1F-AAD13F28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16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AB0107C-AD10-5A77-966D-8E46440EC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Next Fit Logic:</a:t>
            </a:r>
            <a:r>
              <a:rPr lang="en-US" altLang="zh-CN" dirty="0"/>
              <a:t> Based on First Fit, but keeps an extra pointer to the location where the last search ended, resuming the search from there instead of the beginning.</a:t>
            </a:r>
          </a:p>
          <a:p>
            <a:r>
              <a:rPr lang="en-US" altLang="zh-CN" b="1" dirty="0"/>
              <a:t>Pros:</a:t>
            </a:r>
            <a:r>
              <a:rPr lang="en-US" altLang="zh-CN" dirty="0"/>
              <a:t> Spreads allocations more uniformly across the free space, preventing fragmentation build-up at the front.</a:t>
            </a:r>
          </a:p>
          <a:p>
            <a:r>
              <a:rPr lang="en-US" altLang="zh-CN" dirty="0"/>
              <a:t>Performance is generally comparable to First Fit.</a:t>
            </a:r>
          </a:p>
        </p:txBody>
      </p:sp>
    </p:spTree>
    <p:extLst>
      <p:ext uri="{BB962C8B-B14F-4D97-AF65-F5344CB8AC3E}">
        <p14:creationId xmlns:p14="http://schemas.microsoft.com/office/powerpoint/2010/main" val="3056678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62011-27BA-8F00-9DEF-AF7FFA3EE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D27369-AAD6-89A6-0E44-B13FFA43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08540" cy="1072515"/>
          </a:xfrm>
        </p:spPr>
        <p:txBody>
          <a:bodyPr>
            <a:normAutofit/>
          </a:bodyPr>
          <a:lstStyle/>
          <a:p>
            <a:r>
              <a:rPr lang="en-US" altLang="zh-CN" dirty="0"/>
              <a:t>Segregated Lists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1E25B7-3BA3-E756-7582-A35EE88AB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FD9BD7-E4B3-E251-D50C-DA7218022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E7140F-3920-271E-A0D6-82E58A335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17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46295FC-5F34-9A17-543D-043FD32B4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Core Idea:</a:t>
            </a:r>
            <a:r>
              <a:rPr lang="en-US" altLang="zh-CN" dirty="0"/>
              <a:t> Maintain separate free lists specifically for frequently requested, fixed-size objects. Other requests use the general allocator.</a:t>
            </a:r>
          </a:p>
          <a:p>
            <a:r>
              <a:rPr lang="en-US" altLang="zh-CN" b="1" dirty="0"/>
              <a:t>The Slab Allocator (Solaris Kernel):</a:t>
            </a:r>
            <a:endParaRPr lang="en-US" altLang="zh-CN" dirty="0"/>
          </a:p>
          <a:p>
            <a:pPr lvl="1"/>
            <a:r>
              <a:rPr lang="en-US" altLang="zh-CN" dirty="0"/>
              <a:t>Creates dedicated object caches for frequently used kernel objects (e.g., locks, f</a:t>
            </a:r>
            <a:r>
              <a:rPr lang="en-US" dirty="0"/>
              <a:t>ile-system </a:t>
            </a:r>
            <a:r>
              <a:rPr lang="en-US" dirty="0" err="1"/>
              <a:t>inodes</a:t>
            </a:r>
            <a:r>
              <a:rPr lang="en-US" altLang="zh-CN" dirty="0"/>
              <a:t>).</a:t>
            </a:r>
          </a:p>
          <a:p>
            <a:pPr lvl="1"/>
            <a:r>
              <a:rPr lang="en-US" altLang="zh-CN" dirty="0"/>
              <a:t>When a cache is empty, it requests page-aligned slabs from the general allocator.</a:t>
            </a:r>
          </a:p>
          <a:p>
            <a:pPr lvl="1"/>
            <a:r>
              <a:rPr lang="en-US" altLang="zh-CN" dirty="0"/>
              <a:t>Freed objects remain in an initialized state, eliminating repeated initialization/destruction overheads.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9932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8E583-BDAD-E6D3-45B7-E0332A64A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492542-1D8A-1C34-C7A2-4A323023D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Buddy Allocation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2E28DA-A949-3274-B4B5-49A08E24E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A4C3DE8-B2B5-8A4E-01DC-4DBA0C2CD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64425F-014F-B631-6B10-F2E83A46C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6C21C16A-472B-C284-102D-CAE726D3A93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altLang="zh-CN" b="1" dirty="0"/>
                  <a:t>Core Idea: </a:t>
                </a:r>
                <a:r>
                  <a:rPr lang="en-US" altLang="zh-CN" dirty="0"/>
                  <a:t>Treats free space as a contiguous block of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altLang="zh-CN" dirty="0"/>
                  <a:t>. Recursively divides it by 2 until the block size matches the request.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zh-CN" b="1" dirty="0"/>
                  <a:t>Allocation</a:t>
                </a:r>
                <a:r>
                  <a:rPr lang="en-US" altLang="zh-CN" dirty="0"/>
                  <a:t>: Always allocates in powers of 2, which introduces internal fragmentation.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zh-CN" b="1" dirty="0"/>
                  <a:t>Deallocation</a:t>
                </a:r>
                <a:r>
                  <a:rPr lang="en-US" altLang="zh-CN" dirty="0"/>
                  <a:t>: Enables extremely fast coalescing. The allocator rapidly checks if the "buddy" block (whose address differs by only 1 bit) is free and merges them recursively up to the maximum block size.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6C21C16A-472B-C284-102D-CAE726D3A9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043" t="-1401" r="-6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8647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FA3E3-52E7-4267-8FB2-BE17837F2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Buddy Allocation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D3D3AC-116B-4E1F-959C-CF734A84F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BA891-4736-4413-9862-87A7F58FA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FEC57-9B31-4422-99EB-C48FA4528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89B6D-13B7-4C01-9D9E-3DD67CF34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543" y="1542596"/>
            <a:ext cx="5649166" cy="403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818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6AAF5-1FA1-7365-4EA3-52466B3DE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FB0E37-AD6C-83A3-F00E-3B214B513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Other Optimization Ideas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7FD7400-1F81-ADCD-4811-CE4FCFE39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2B44FF-8F79-186F-36CF-3819301E8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A117B3-1846-4EB8-8DB0-5D705BD6C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20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41839E4-5251-802A-9EE1-C9A0B2471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b="1" dirty="0"/>
              <a:t>Complex Data Structures:</a:t>
            </a:r>
            <a:r>
              <a:rPr lang="en-US" altLang="zh-CN" dirty="0"/>
              <a:t> Replacing simple linked lists with more sophisticated structures like balanced binary trees or splay trees to significantly reduce search times.</a:t>
            </a:r>
          </a:p>
          <a:p>
            <a:pPr>
              <a:lnSpc>
                <a:spcPct val="100000"/>
              </a:lnSpc>
            </a:pPr>
            <a:r>
              <a:rPr lang="en-US" altLang="zh-CN" b="1" dirty="0"/>
              <a:t>Multiprocessor Support:</a:t>
            </a:r>
            <a:r>
              <a:rPr lang="en-US" altLang="zh-CN" dirty="0"/>
              <a:t> Designing concurrent allocators tailored for modern multi-core, multi-threaded environments.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Examples of modern optimized allocators include Hoard and </a:t>
            </a:r>
            <a:r>
              <a:rPr lang="en-US" altLang="zh-CN" dirty="0" err="1"/>
              <a:t>jemalloc</a:t>
            </a:r>
            <a:r>
              <a:rPr lang="en-US" altLang="zh-CN" dirty="0"/>
              <a:t>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4703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0D0EB-240E-6B71-3B34-A8EC70EB8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77A129-5C3A-4225-D4D1-0B546EFCD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Break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02E0FD-7420-765B-683B-F043D360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C47942-A566-64CB-3C8C-B618F6710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A4E781-B44B-1B22-12A9-6C9E038A4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21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9E94F4E-45B6-6864-4FD1-E41772A1D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809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577EF-5422-44B1-C5AD-2E2D227E9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29C5A-D06F-787B-CBB6-304C544D3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Paging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2292942-CBC4-580B-ED05-3D3ECE3FE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944C16A-B1B3-1954-80E3-FBCE91AFD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BB4C6F-0032-6306-9E7F-8FE3F9DE1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22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A947A68-DAA0-EB3E-C32D-0CCD1FA91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To solve space-management problems.</a:t>
            </a:r>
          </a:p>
          <a:p>
            <a:r>
              <a:rPr lang="en-US" altLang="zh-CN" b="1" dirty="0"/>
              <a:t>Approach 1: Variable-sized pieces. </a:t>
            </a:r>
            <a:r>
              <a:rPr lang="en-US" altLang="zh-CN" dirty="0"/>
              <a:t>As we saw with segmentation, chopping space into different-size chunks leads to inherent difficulties.</a:t>
            </a:r>
          </a:p>
          <a:p>
            <a:r>
              <a:rPr lang="en-US" altLang="zh-CN" b="1" dirty="0"/>
              <a:t>Approach 2: Fixed-sized pieces. </a:t>
            </a:r>
            <a:r>
              <a:rPr lang="en-US" altLang="zh-CN" dirty="0"/>
              <a:t>We chop up the space into identically sized pieces.</a:t>
            </a:r>
          </a:p>
          <a:p>
            <a:pPr lvl="1"/>
            <a:r>
              <a:rPr lang="en-US" altLang="zh-CN" dirty="0"/>
              <a:t>In virtual memory, we call this idea </a:t>
            </a:r>
            <a:r>
              <a:rPr lang="en-US" altLang="zh-CN" b="1" dirty="0"/>
              <a:t>paging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2247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97400-B081-52A0-AAB9-3FD857C4B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87261-2499-6911-A1F7-F012F2FB8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CRUX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5970645-5A59-C20F-C1CC-89F84E152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50784FD-DCC3-00B7-C718-48B241EDD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E2CDA7-852F-5F3B-990D-9267E2CE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23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21A5E16-0C64-588B-936D-9A10F005A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How can we virtualize memory with pages, so as to avoid the problems of segmentation?</a:t>
            </a:r>
          </a:p>
          <a:p>
            <a:endParaRPr lang="en-US" altLang="zh-CN" dirty="0"/>
          </a:p>
          <a:p>
            <a:r>
              <a:rPr lang="en-US" altLang="zh-CN" dirty="0"/>
              <a:t>What are the basic techniques?</a:t>
            </a:r>
          </a:p>
          <a:p>
            <a:endParaRPr lang="en-US" altLang="zh-CN" dirty="0"/>
          </a:p>
          <a:p>
            <a:r>
              <a:rPr lang="en-US" altLang="zh-CN" dirty="0"/>
              <a:t>How do we make those techniques work well, with minimal space and time overheads?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510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C4D38-8D90-E1CA-64BE-E3D1C58C7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29CAC-4A94-57F4-C84A-E66426247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Pages and Page Frames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1BB70E-2CD7-9FF5-2BA5-2AD0C35A4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E081F2-3710-778A-D38B-18BFBB279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11855D-D783-706E-984F-72DAD5C28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24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0D72FD0-DD25-041C-AF9C-21A0FC894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975294" cy="4351338"/>
          </a:xfrm>
        </p:spPr>
        <p:txBody>
          <a:bodyPr>
            <a:normAutofit lnSpcReduction="10000"/>
          </a:bodyPr>
          <a:lstStyle/>
          <a:p>
            <a:r>
              <a:rPr lang="en-US" altLang="zh-CN" sz="2400" b="1" dirty="0"/>
              <a:t>Pages: </a:t>
            </a:r>
            <a:r>
              <a:rPr lang="en-US" altLang="zh-CN" sz="2400" dirty="0"/>
              <a:t>We divide the virtual address space of a process into fixed-sized units called pages.</a:t>
            </a:r>
          </a:p>
          <a:p>
            <a:r>
              <a:rPr lang="en-US" altLang="zh-CN" sz="2400" b="1" dirty="0"/>
              <a:t>Page Frames: </a:t>
            </a:r>
            <a:r>
              <a:rPr lang="en-US" altLang="zh-CN" sz="2400" dirty="0"/>
              <a:t>Correspondingly, we view physical memory as an array of fixed-sized slots called page frames.</a:t>
            </a:r>
          </a:p>
          <a:p>
            <a:r>
              <a:rPr lang="en-US" altLang="zh-CN" sz="2400" dirty="0"/>
              <a:t>Each of these frames can contain a single virtual-memory page.</a:t>
            </a:r>
          </a:p>
          <a:p>
            <a:r>
              <a:rPr lang="en-US" altLang="zh-CN" sz="2400" dirty="0"/>
              <a:t>For example, a 64-byte virtual address space can be divided into 4 pages of 16 bytes each, placed into a 128-byte physical memory (8 frames).</a:t>
            </a:r>
            <a:endParaRPr lang="zh-CN" altLang="en-US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8FCD3E7-246C-47B2-A6DB-4C0F02B79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3023" y="365125"/>
            <a:ext cx="3311546" cy="190348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FE237A4-1F6A-7FAD-A5BA-90F11CE14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264" y="2580376"/>
            <a:ext cx="5418736" cy="391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674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7532E-382E-0CC8-DA54-501F8D057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C42B77-6E5E-91DC-1BEF-201DCA32B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Advantages of Paging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B1C588-F1B1-CC87-2E2C-494317EE3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F708C4-77B0-378C-043A-2B80A6941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School of AI and Advanced Computing, XJTLU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5F814D-4F1B-214A-125C-2FB7F1C9C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25</a:t>
            </a:fld>
            <a:endParaRPr 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F0DCCDC-BF75-F7B4-41B1-6135E3CC4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dirty="0"/>
              <a:t>Flexibility</a:t>
            </a:r>
            <a:r>
              <a:rPr lang="en-US" altLang="zh-CN" sz="2400" dirty="0"/>
              <a:t>: With a fully developed paging approach, the OS can build the abstraction of an address space effectively, regardless of how a process uses the space (e.g., how the heap and stack grow).</a:t>
            </a:r>
          </a:p>
          <a:p>
            <a:pPr>
              <a:lnSpc>
                <a:spcPct val="100000"/>
              </a:lnSpc>
            </a:pPr>
            <a:r>
              <a:rPr lang="en-US" altLang="zh-CN" sz="2400" b="1" dirty="0"/>
              <a:t>Simplicity</a:t>
            </a:r>
            <a:r>
              <a:rPr lang="en-US" altLang="zh-CN" sz="2400" dirty="0"/>
              <a:t>: Free-space management becomes incredibly easy.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To allocate memory, the OS just keeps a free list of all available page frames and grabs the required number of frames.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There is absolutely </a:t>
            </a:r>
            <a:r>
              <a:rPr lang="en-US" altLang="zh-CN" sz="2400" b="1" dirty="0"/>
              <a:t>no</a:t>
            </a:r>
            <a:r>
              <a:rPr lang="en-US" altLang="zh-CN" sz="2400" dirty="0"/>
              <a:t> </a:t>
            </a:r>
            <a:r>
              <a:rPr lang="en-US" altLang="zh-CN" sz="2400" b="1" dirty="0"/>
              <a:t>external fragmentation </a:t>
            </a:r>
            <a:r>
              <a:rPr lang="en-US" altLang="zh-CN" sz="2400" dirty="0"/>
              <a:t>because all frames are the exact same size.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753279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E20A2-1D9F-FDFB-991D-A148FCCBD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84DB4C-8945-AC2C-4834-2EA07D5AF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Mechanism: The Page Table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DA371A-A046-E8A0-1B1C-B9716B1C1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2E5FED-7DC2-05B4-7E96-2A06DEC09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4CFB0E-904F-25C3-E1E5-DCF0695E5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B05FEB6A-559E-F502-6331-0416BBA5BF6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To record where each virtual page of the address space is placed in physical memory, the OS keeps a per-process data structure known as a </a:t>
                </a:r>
                <a:r>
                  <a:rPr lang="en-US" altLang="zh-CN" b="1" dirty="0"/>
                  <a:t>page table</a:t>
                </a:r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The major role of the page table is to </a:t>
                </a:r>
                <a:r>
                  <a:rPr lang="en-US" altLang="zh-CN" b="1" dirty="0"/>
                  <a:t>store address translations </a:t>
                </a:r>
                <a:r>
                  <a:rPr lang="en-US" altLang="zh-CN" dirty="0"/>
                  <a:t>for each of the virtual pages of the address space.</a:t>
                </a:r>
              </a:p>
              <a:p>
                <a:r>
                  <a:rPr lang="en-US" altLang="zh-CN" dirty="0"/>
                  <a:t>It tells us which physical frame holds which virtual page.</a:t>
                </a:r>
              </a:p>
              <a:p>
                <a:r>
                  <a:rPr lang="en-US" altLang="zh-CN" dirty="0"/>
                  <a:t>Example: </a:t>
                </a:r>
              </a:p>
              <a:p>
                <a:pPr lvl="1"/>
                <a:r>
                  <a:rPr lang="en-US" altLang="zh-CN" dirty="0"/>
                  <a:t>(Virtual Page 0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dirty="0"/>
                  <a:t> Physical Frame 3)</a:t>
                </a:r>
              </a:p>
              <a:p>
                <a:pPr lvl="1"/>
                <a:r>
                  <a:rPr lang="en-US" altLang="zh-CN" dirty="0"/>
                  <a:t>(VP 1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 PF 7)</a:t>
                </a:r>
              </a:p>
              <a:p>
                <a:pPr lvl="1"/>
                <a:r>
                  <a:rPr lang="en-US" altLang="zh-CN" dirty="0" err="1"/>
                  <a:t>etc</a:t>
                </a:r>
                <a:r>
                  <a:rPr lang="en-US" altLang="zh-CN" dirty="0"/>
                  <a:t>…</a:t>
                </a:r>
                <a:endParaRPr lang="zh-CN" altLang="en-US" dirty="0"/>
              </a:p>
            </p:txBody>
          </p:sp>
        </mc:Choice>
        <mc:Fallback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B05FEB6A-559E-F502-6331-0416BBA5BF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043" t="-2381" r="-232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93729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F8A05-A1F3-CAB6-3FC2-B65F5ECF2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FBE062-5EEC-3B92-698D-62796577E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Translating Addresses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AD4C220-40AE-E583-6893-92D333CAE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E74C2F-BF2E-84F8-A579-089A99741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B60374-596C-6227-AD29-6DD84FB99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58BD8922-073B-0602-034F-834E473C767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199" y="1825625"/>
                <a:ext cx="6675255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CN" dirty="0"/>
                  <a:t>To translate a virtual address, we split it into two components: the </a:t>
                </a:r>
                <a:r>
                  <a:rPr lang="en-US" altLang="zh-CN" b="1" dirty="0"/>
                  <a:t>Virtual Page Number</a:t>
                </a:r>
                <a:r>
                  <a:rPr lang="en-US" altLang="zh-CN" dirty="0"/>
                  <a:t> (VPN) and the offset within the page.</a:t>
                </a:r>
              </a:p>
              <a:p>
                <a:r>
                  <a:rPr lang="en-US" altLang="zh-CN" dirty="0"/>
                  <a:t>Let's take a 64-byte address space. We need 6 bits total for a virtual address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= 64</m:t>
                    </m:r>
                  </m:oMath>
                </a14:m>
                <a:r>
                  <a:rPr lang="en-US" altLang="zh-CN" dirty="0"/>
                  <a:t>).</a:t>
                </a:r>
              </a:p>
              <a:p>
                <a:r>
                  <a:rPr lang="en-US" altLang="zh-CN" dirty="0"/>
                  <a:t>If our page size is 16 bytes, we need 4 bits for the offset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= 16</m:t>
                    </m:r>
                  </m:oMath>
                </a14:m>
                <a:r>
                  <a:rPr lang="en-US" altLang="zh-CN" dirty="0"/>
                  <a:t>).</a:t>
                </a:r>
              </a:p>
              <a:p>
                <a:r>
                  <a:rPr lang="en-US" altLang="zh-CN" dirty="0"/>
                  <a:t>The remaining top 2 bits represent the VPN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r>
                  <a:rPr lang="en-US" altLang="zh-CN" dirty="0"/>
                  <a:t> pages).</a:t>
                </a:r>
                <a:endParaRPr lang="zh-CN" altLang="en-US" dirty="0"/>
              </a:p>
            </p:txBody>
          </p:sp>
        </mc:Choice>
        <mc:Fallback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58BD8922-073B-0602-034F-834E473C76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199" y="1825625"/>
                <a:ext cx="6675255" cy="4351338"/>
              </a:xfrm>
              <a:blipFill>
                <a:blip r:embed="rId2"/>
                <a:stretch>
                  <a:fillRect l="-1551" t="-3361" r="-2920" b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E45438B7-2BA0-8692-A8A9-962DAB9FC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453" y="1658552"/>
            <a:ext cx="3942745" cy="14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421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CF25A-9197-DB46-43A6-D71ADCB47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84EDB7-0116-B8AC-D1A7-4A170FE49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Address Translation Example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767774-E45C-A6FF-FAB1-58F3410ED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9409BE-65FA-6209-A2F1-1BAC96466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B808C5-E2A8-D929-7DEC-3D2E2681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28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924815C-1E28-8DB5-CCA9-B786C4505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Assume a process generates virtual address 21. What is the physical address?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B26F1EA-F7BE-1742-42FD-9ADC01208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066" y="3585146"/>
            <a:ext cx="3311546" cy="190348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3193256-49EE-B18C-DB24-1C61EB6DD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641" y="2530384"/>
            <a:ext cx="5418736" cy="391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1039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B4940-6BD3-30F6-86FC-E7BB152CA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6C8AD-29C8-2078-C556-0C08ABE43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Address Translation Example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FFEB291-F4DB-850F-1366-19EFA2A9C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2DB3C88-AF27-24D7-3C3F-87BA35171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BE2F98-88CD-2EC3-F234-487352EEA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29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7539929-D964-3786-4F8E-7BA335284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395446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/>
              <a:t>Assume a process generates virtual address 21. In 6-bit binary, this is 010101.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b="1" dirty="0"/>
              <a:t>Step 1</a:t>
            </a:r>
            <a:r>
              <a:rPr lang="en-US" altLang="zh-CN" sz="2400" dirty="0"/>
              <a:t>: The hardware splits the address.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/>
              <a:t>VPN = 01 (Virtual Page 1).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/>
              <a:t>Offset = 0101 (5th byte of the page).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b="1" dirty="0"/>
              <a:t>Step 2</a:t>
            </a:r>
            <a:r>
              <a:rPr lang="en-US" altLang="zh-CN" sz="2400" dirty="0"/>
              <a:t>: The hardware looks up the page table and finds that VPN 01 maps to Physical Frame Number (PFN) 111 (Frame 7).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4CA20E6-9727-4481-D3B4-799F36901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708" y="1768111"/>
            <a:ext cx="4002239" cy="341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71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D6372-9CA5-2F87-1BEF-5DF4F6967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A6221-8B6D-5E48-9CDA-A2B175F24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Address Translation Example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3F016D-8707-18DF-C654-364ED10B4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13D17E-3493-567F-EE5A-D43B7B24C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60427B0-89F7-1474-9989-F3A161AA5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30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7E49B83-30EB-A9AE-5C6B-CB2268325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051535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b="1" dirty="0"/>
              <a:t>Step 3</a:t>
            </a:r>
            <a:r>
              <a:rPr lang="en-US" altLang="zh-CN" sz="2400" dirty="0"/>
              <a:t>: The hardware replaces the VPN with the PFN.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The offset remains exactly the same, because the offset within the virtual page is the exact same offset within the physical frame.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PFN (111) + Offset (0101) = 1110101. In decimal, physical address 1110101 is 117.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The translation is complete!</a:t>
            </a:r>
            <a:endParaRPr lang="zh-CN" altLang="en-US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D24AE6E-98C9-9E9A-AFDC-3739FAD98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357" y="1676355"/>
            <a:ext cx="3983261" cy="356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0810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B2632-0365-7B0C-FD9A-8BE652267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D12724-FAE7-754A-F0E8-80700BC71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Where Are Page Tables Stored?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30A619-2D84-0979-7CAF-AB1BBD06A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0F94150-C8C0-1315-E6FF-DC2D98467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109474-D971-53F1-1DCD-6BB9D804F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18B3B69F-F7D5-300C-EAA8-F6B482E6F3B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Page tables can get incredibly large.</a:t>
                </a:r>
              </a:p>
              <a:p>
                <a:r>
                  <a:rPr lang="en-US" altLang="zh-CN" dirty="0"/>
                  <a:t>Consider a typical 32-bit address space with 4KB pages. This virtual address space has 1 million virtual pages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lang="en-US" altLang="zh-CN" dirty="0"/>
                  <a:t>).</a:t>
                </a:r>
              </a:p>
              <a:p>
                <a:r>
                  <a:rPr lang="en-US" altLang="zh-CN" dirty="0"/>
                  <a:t>If each Page Table Entry (PTE) is 4 bytes, we need </a:t>
                </a:r>
                <a:r>
                  <a:rPr lang="en-US" altLang="zh-CN" b="1" dirty="0"/>
                  <a:t>4MB</a:t>
                </a:r>
                <a:r>
                  <a:rPr lang="en-US" altLang="zh-CN" dirty="0"/>
                  <a:t> of memory for just ONE page table.</a:t>
                </a:r>
              </a:p>
              <a:p>
                <a:r>
                  <a:rPr lang="en-US" altLang="zh-CN" dirty="0"/>
                  <a:t>If there are 100 processes running, the OS needs 400MB just to store address translations!</a:t>
                </a:r>
              </a:p>
              <a:p>
                <a:r>
                  <a:rPr lang="en-US" altLang="zh-CN" dirty="0"/>
                  <a:t>Because they are so large, we don't store them in special CPU MMU registers; </a:t>
                </a:r>
                <a:r>
                  <a:rPr lang="en-US" altLang="zh-CN" b="1" dirty="0"/>
                  <a:t>we store page tables in memory.</a:t>
                </a:r>
                <a:endParaRPr lang="zh-CN" altLang="en-US" b="1" dirty="0"/>
              </a:p>
            </p:txBody>
          </p:sp>
        </mc:Choice>
        <mc:Fallback xmlns="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18B3B69F-F7D5-300C-EAA8-F6B482E6F3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043" t="-2381" r="-18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7950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1D2F9-0424-2932-23D9-EB55F4688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821366-2D8A-CBA0-5F67-EF48EB2AC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What’s Actually In A Page Table?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41B5AC-4D98-49B8-73B2-DE4EEDB5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4F60C5-D718-46E8-5D13-6B6FC8F4F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4BF361-7B53-BDD8-414F-FD261D530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32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86198A7-8962-E416-74C9-1F55F1725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/>
              <a:t>The page table is essentially an array (a linear page table). The OS indexes the array by the VPN to find the Page Table Entry (PTE).</a:t>
            </a:r>
          </a:p>
          <a:p>
            <a:pPr>
              <a:lnSpc>
                <a:spcPct val="120000"/>
              </a:lnSpc>
            </a:pPr>
            <a:r>
              <a:rPr lang="en-US" altLang="zh-CN" sz="2000" dirty="0"/>
              <a:t>A PTE contains the PFN (Physical Frame Number) and various status bits:</a:t>
            </a:r>
          </a:p>
          <a:p>
            <a:pPr>
              <a:lnSpc>
                <a:spcPct val="120000"/>
              </a:lnSpc>
            </a:pPr>
            <a:r>
              <a:rPr lang="en-US" altLang="zh-CN" sz="2000" dirty="0"/>
              <a:t>Valid bit: Indicates if the translation is valid (used to represent unused space between heap and stack). Accessing an invalid page generates a trap to the OS.</a:t>
            </a:r>
          </a:p>
          <a:p>
            <a:pPr>
              <a:lnSpc>
                <a:spcPct val="120000"/>
              </a:lnSpc>
            </a:pPr>
            <a:r>
              <a:rPr lang="en-US" altLang="zh-CN" sz="2000" dirty="0"/>
              <a:t>Protection bits: Indicate whether the page can be read, written, or executed.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542790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2AEDAD-525F-185A-BA7B-272529094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Other Important PTE Bits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B42117F-654E-16F6-156D-4E97BE8C9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25590A-1FAF-12B4-5E1D-B6BA95406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C86C6A-779D-C120-4B7A-4AB59336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33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10A75F3-47D4-A7E0-3087-BF849F896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9543881" cy="4351338"/>
          </a:xfrm>
        </p:spPr>
        <p:txBody>
          <a:bodyPr>
            <a:normAutofit/>
          </a:bodyPr>
          <a:lstStyle/>
          <a:p>
            <a:r>
              <a:rPr lang="en-US" altLang="zh-CN" sz="2400" b="1" dirty="0"/>
              <a:t>Present bit</a:t>
            </a:r>
            <a:r>
              <a:rPr lang="en-US" altLang="zh-CN" sz="2400" dirty="0"/>
              <a:t>: Indicates whether this page is currently in physical memory or if it has been swapped out to disk.</a:t>
            </a:r>
          </a:p>
          <a:p>
            <a:r>
              <a:rPr lang="en-US" altLang="zh-CN" sz="2400" b="1" dirty="0"/>
              <a:t>Dirty bit</a:t>
            </a:r>
            <a:r>
              <a:rPr lang="en-US" altLang="zh-CN" sz="2400" dirty="0"/>
              <a:t>: Indicates whether the page has been modified since it was brought into memory.</a:t>
            </a:r>
          </a:p>
          <a:p>
            <a:r>
              <a:rPr lang="en-US" altLang="zh-CN" sz="2400" b="1" dirty="0"/>
              <a:t>Reference bit</a:t>
            </a:r>
            <a:r>
              <a:rPr lang="en-US" altLang="zh-CN" sz="2400" dirty="0"/>
              <a:t>: Used to track whether a page has been accessed recently. This helps the OS decide which pages to swap out when memory is full.</a:t>
            </a:r>
            <a:endParaRPr lang="zh-CN" altLang="en-US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EC7DEC4-F0DF-E3F1-F75A-97807DC78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364" y="4712594"/>
            <a:ext cx="6406195" cy="103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6579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664D6-95A8-DBA6-B64A-19316F9F5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D67F83-0ED5-0130-1327-75B233AE6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Paging is Too Slow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73518C-337C-C845-2759-23EBD643D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F5168B-9D0C-6C3B-1BBC-5DBCBEE4B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9607DF-9EF1-9086-B108-B00AC0E96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34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0241D63-390A-D816-2352-4DAC69E3E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zh-CN" dirty="0"/>
              <a:t>With page tables stored in physical memory, address translation becomes a two-step process for the hardware.</a:t>
            </a:r>
          </a:p>
          <a:p>
            <a:pPr>
              <a:lnSpc>
                <a:spcPct val="100000"/>
              </a:lnSpc>
            </a:pPr>
            <a:r>
              <a:rPr lang="en-US" altLang="zh-CN" b="1" dirty="0"/>
              <a:t>Memory Access 1 (Translation): </a:t>
            </a:r>
            <a:r>
              <a:rPr lang="en-US" altLang="zh-CN" dirty="0"/>
              <a:t>To fetch an instruction or data, the hardware must first fetch the PTE from the page table in memory.</a:t>
            </a:r>
          </a:p>
          <a:p>
            <a:pPr>
              <a:lnSpc>
                <a:spcPct val="100000"/>
              </a:lnSpc>
            </a:pPr>
            <a:r>
              <a:rPr lang="en-US" altLang="zh-CN" b="1" dirty="0"/>
              <a:t>Memory Access 2 (Execution): </a:t>
            </a:r>
            <a:r>
              <a:rPr lang="en-US" altLang="zh-CN" dirty="0"/>
              <a:t>Once the PFN is retrieved, the hardware can finally issue the memory request to fetch the actual instruction or data.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Paging requires one extra memory reference for every single instruction fetch and every single data load/store.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30969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633EC-F3BF-35E1-CDC7-E85C9E2AD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63E57-C980-0F69-F04D-1EE8F9075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Simple Memory Trace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B42E68-B79C-E209-4E0A-1840ED32F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5AFAAB6-AE01-443E-E0EC-3FC197EEA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0501AF-98B3-753C-A8F4-7F5FC20E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35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5DA099E-9AA6-8FD7-952F-EEE005F26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Let's look at a simple C program initializing an array to see the true cost:</a:t>
            </a:r>
          </a:p>
          <a:p>
            <a:pPr marL="457200" lvl="1" indent="0">
              <a:buNone/>
            </a:pPr>
            <a:r>
              <a:rPr lang="en-US" altLang="zh-CN" dirty="0"/>
              <a:t>int array[1000];</a:t>
            </a:r>
          </a:p>
          <a:p>
            <a:pPr marL="457200" lvl="1" indent="0">
              <a:buNone/>
            </a:pPr>
            <a:r>
              <a:rPr lang="en-US" altLang="zh-CN" dirty="0"/>
              <a:t>for (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 &lt; 1000; </a:t>
            </a:r>
            <a:r>
              <a:rPr lang="en-US" altLang="zh-CN" dirty="0" err="1"/>
              <a:t>i</a:t>
            </a:r>
            <a:r>
              <a:rPr lang="en-US" altLang="zh-CN" dirty="0"/>
              <a:t>++) array[</a:t>
            </a:r>
            <a:r>
              <a:rPr lang="en-US" altLang="zh-CN" dirty="0" err="1"/>
              <a:t>i</a:t>
            </a:r>
            <a:r>
              <a:rPr lang="en-US" altLang="zh-CN" dirty="0"/>
              <a:t>] = 0;</a:t>
            </a:r>
          </a:p>
          <a:p>
            <a:endParaRPr lang="en-US" altLang="zh-CN" dirty="0"/>
          </a:p>
          <a:p>
            <a:r>
              <a:rPr lang="en-US" altLang="zh-CN" dirty="0"/>
              <a:t>The assembly code for the inner loop looks like this:</a:t>
            </a:r>
          </a:p>
          <a:p>
            <a:pPr marL="457200" lvl="1" indent="0">
              <a:buNone/>
            </a:pPr>
            <a:r>
              <a:rPr lang="en-US" altLang="zh-CN" dirty="0"/>
              <a:t>1024 </a:t>
            </a:r>
            <a:r>
              <a:rPr lang="en-US" altLang="zh-CN" dirty="0" err="1"/>
              <a:t>movl</a:t>
            </a:r>
            <a:r>
              <a:rPr lang="en-US" altLang="zh-CN" dirty="0"/>
              <a:t> $0x0,(%edi,%eax,4) ; store 0 into array[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</a:p>
          <a:p>
            <a:pPr marL="457200" lvl="1" indent="0">
              <a:buNone/>
            </a:pPr>
            <a:r>
              <a:rPr lang="en-US" altLang="zh-CN" dirty="0"/>
              <a:t>1028 incl %</a:t>
            </a:r>
            <a:r>
              <a:rPr lang="en-US" altLang="zh-CN" dirty="0" err="1"/>
              <a:t>eax</a:t>
            </a:r>
            <a:r>
              <a:rPr lang="en-US" altLang="zh-CN" dirty="0"/>
              <a:t> ; increment </a:t>
            </a:r>
            <a:r>
              <a:rPr lang="en-US" altLang="zh-CN" dirty="0" err="1"/>
              <a:t>i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1032 </a:t>
            </a:r>
            <a:r>
              <a:rPr lang="en-US" altLang="zh-CN" dirty="0" err="1"/>
              <a:t>cmpl</a:t>
            </a:r>
            <a:r>
              <a:rPr lang="en-US" altLang="zh-CN" dirty="0"/>
              <a:t> $0x03e8,%eax ; compare </a:t>
            </a:r>
            <a:r>
              <a:rPr lang="en-US" altLang="zh-CN" dirty="0" err="1"/>
              <a:t>i</a:t>
            </a:r>
            <a:r>
              <a:rPr lang="en-US" altLang="zh-CN" dirty="0"/>
              <a:t> to 1000</a:t>
            </a:r>
          </a:p>
          <a:p>
            <a:pPr marL="457200" lvl="1" indent="0">
              <a:buNone/>
            </a:pPr>
            <a:r>
              <a:rPr lang="en-US" altLang="zh-CN" dirty="0"/>
              <a:t>1036 </a:t>
            </a:r>
            <a:r>
              <a:rPr lang="en-US" altLang="zh-CN" dirty="0" err="1"/>
              <a:t>jne</a:t>
            </a:r>
            <a:r>
              <a:rPr lang="en-US" altLang="zh-CN" dirty="0"/>
              <a:t> 0x1024 ; loop if not equal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66975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3C6E0-2723-2CB4-A72A-D36CAA55D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93080-EF75-FB74-130C-641D8316F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The Reality of Memory Accesses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BEC4870-0437-B5D3-E601-E38446AD7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AB7673-9A29-7B0C-DA7D-6AD45C883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ADFFC8-86FC-CA4C-2DB5-1468E405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36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69A76BE-600B-C94F-9353-09BC620F9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Just to execute the first instruction </a:t>
            </a:r>
            <a:r>
              <a:rPr lang="en-US" altLang="zh-CN" dirty="0" err="1"/>
              <a:t>movl</a:t>
            </a:r>
            <a:r>
              <a:rPr lang="en-US" altLang="zh-CN" dirty="0"/>
              <a:t> $0x0,(%edi,%eax,4) (which zeroes an array element), the system does the following: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 dirty="0"/>
              <a:t>Access memory to fetch the PTE for the instruction's address.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 dirty="0"/>
              <a:t>Access memory to fetch the instruction itself.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 dirty="0"/>
              <a:t>Access memory to fetch the PTE for the array element's address.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 dirty="0"/>
              <a:t>Access memory to store the value 0 into the array.</a:t>
            </a:r>
          </a:p>
          <a:p>
            <a:r>
              <a:rPr lang="en-US" altLang="zh-CN" dirty="0"/>
              <a:t>Four physical memory accesses for one single assembly instruction!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31871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4B523-BAA6-132C-3CFF-7BFD062BB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B914E8-E3C7-0259-EA01-A232BE15E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Visualizing 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315F951-2A59-27B2-E9D6-1C1B9EDB6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B92B95-BEE7-00EA-2E58-35C8DE1A6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E08AAC-B394-61A8-6EC2-FC2777D78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37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0216B4C-46BF-FEC9-59B1-3B441578F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574738" cy="4351338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The graph plots memory accesses over time for the loop.</a:t>
            </a:r>
          </a:p>
          <a:p>
            <a:r>
              <a:rPr lang="en-US" altLang="zh-CN" sz="2400" dirty="0"/>
              <a:t>You can clearly see the pattern: for every single instruction or data access, the hardware must first jump to the page table (located at physical address 1KB in this example) to fetch the translation.</a:t>
            </a:r>
          </a:p>
          <a:p>
            <a:r>
              <a:rPr lang="en-US" altLang="zh-CN" sz="2400" dirty="0"/>
              <a:t>Without careful hardware and OS design, paging would bring the system to a crawl.</a:t>
            </a:r>
            <a:endParaRPr lang="zh-CN" altLang="en-US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FDBCF12-D443-4889-BAFC-4F85825FA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178" y="1755972"/>
            <a:ext cx="5122373" cy="417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063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3EA7F-16FD-4C2A-B5DE-D4130A28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297171-BC6D-452A-8DC1-2D94CBB29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45C49D-2590-4A56-B065-D7F050160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7D4D1A-52E0-459D-8DC2-BE0D1923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38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952195-D049-48FF-8C84-D7B70AA1D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Free Space Management </a:t>
            </a:r>
            <a:r>
              <a:rPr lang="en-US" dirty="0"/>
              <a:t>(Variable-Sized Allocation)</a:t>
            </a:r>
          </a:p>
          <a:p>
            <a:pPr marL="0" indent="0">
              <a:buNone/>
            </a:pPr>
            <a:r>
              <a:rPr lang="en-US" dirty="0"/>
              <a:t>Managing variable-sized memory requests while minimizing external </a:t>
            </a:r>
            <a:r>
              <a:rPr lang="en-US" dirty="0" err="1"/>
              <a:t>fragmentation.Low</a:t>
            </a:r>
            <a:r>
              <a:rPr lang="en-US" dirty="0"/>
              <a:t>-Level Mechanisms: Utilizes block splitting, coalescing, embedded free lists, and headers to track sizes.</a:t>
            </a:r>
          </a:p>
          <a:p>
            <a:r>
              <a:rPr lang="en-US" b="1" dirty="0"/>
              <a:t>Allocation Strategies:</a:t>
            </a:r>
          </a:p>
          <a:p>
            <a:pPr lvl="1"/>
            <a:r>
              <a:rPr lang="en-US" dirty="0"/>
              <a:t>Basic: Best Fit, Worst Fit, First Fit, and Next Fit.</a:t>
            </a:r>
          </a:p>
          <a:p>
            <a:pPr lvl="1"/>
            <a:r>
              <a:rPr lang="en-US" dirty="0"/>
              <a:t>Advanced: Segregated Lists (for frequently used objects) and Buddy Allocation (powers of 2 for fast coalescing).</a:t>
            </a:r>
          </a:p>
          <a:p>
            <a:pPr marL="0" indent="0">
              <a:buNone/>
            </a:pPr>
            <a:r>
              <a:rPr lang="en-US" b="1" dirty="0"/>
              <a:t>Paging</a:t>
            </a:r>
            <a:r>
              <a:rPr lang="en-US" dirty="0"/>
              <a:t> (Fixed-Sized Allocation)</a:t>
            </a:r>
          </a:p>
          <a:p>
            <a:pPr marL="0" indent="0">
              <a:buNone/>
            </a:pPr>
            <a:r>
              <a:rPr lang="en-US" dirty="0"/>
              <a:t>Divides virtual memory into fixed-sized "Pages" and physical memory into "Page Frames," which completely eliminates external fragmentation.</a:t>
            </a:r>
          </a:p>
          <a:p>
            <a:r>
              <a:rPr lang="en-US" b="1" dirty="0"/>
              <a:t>Address Translation: </a:t>
            </a:r>
            <a:r>
              <a:rPr lang="en-US" dirty="0"/>
              <a:t>The hardware splits a virtual address into a Virtual Page Number (VPN) and an offset, translating the VPN into a Physical Frame Number (PFN).</a:t>
            </a:r>
          </a:p>
          <a:p>
            <a:r>
              <a:rPr lang="en-US" b="1" dirty="0"/>
              <a:t>The Page Table: </a:t>
            </a:r>
            <a:r>
              <a:rPr lang="en-US" dirty="0"/>
              <a:t>An in-memory data structure used by the OS to store these VPN-to-PFN translations.</a:t>
            </a:r>
          </a:p>
          <a:p>
            <a:r>
              <a:rPr lang="en-US" b="1" dirty="0"/>
              <a:t>Page Table Entry (PTE): </a:t>
            </a:r>
            <a:r>
              <a:rPr lang="en-US" dirty="0"/>
              <a:t>Contains the PFN alongside status bits (Valid, Protection, Present, Dirty, Reference).</a:t>
            </a:r>
          </a:p>
          <a:p>
            <a:r>
              <a:rPr lang="en-US" b="1" dirty="0"/>
              <a:t>The Overheads of Paging:</a:t>
            </a:r>
          </a:p>
          <a:p>
            <a:pPr lvl="1"/>
            <a:r>
              <a:rPr lang="en-US" dirty="0"/>
              <a:t>Space Overhead: Page tables can become massive, consuming megabytes of memory per process.</a:t>
            </a:r>
          </a:p>
          <a:p>
            <a:pPr lvl="1"/>
            <a:r>
              <a:rPr lang="en-US" dirty="0"/>
              <a:t>Time Overhead: Requires extra memory accesses just to fetch translations before instructions or data can be executed, significantly slowing down the system without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8224840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B03AF-6C50-4AB1-F31A-DE10C8992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/>
                <a:ea typeface="等线 Light"/>
                <a:cs typeface="Arial"/>
              </a:rPr>
              <a:t>Next Lecture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F83AC3-4EEF-629B-703D-90BD4F5B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039CF7-57B7-27D5-CFC0-4D3588940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FCE09B-2CCC-442C-BD00-3DAFD2573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39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2C07704-5735-2744-0A3D-6CCA11EE1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CN" dirty="0">
                <a:ea typeface="等线"/>
              </a:rPr>
              <a:t>TLB,</a:t>
            </a:r>
            <a:r>
              <a:rPr lang="zh-CN" altLang="en-US" dirty="0">
                <a:ea typeface="等线"/>
              </a:rPr>
              <a:t> </a:t>
            </a:r>
            <a:r>
              <a:rPr lang="en-US" altLang="zh-CN" dirty="0">
                <a:ea typeface="等线"/>
              </a:rPr>
              <a:t>Threads…</a:t>
            </a:r>
          </a:p>
        </p:txBody>
      </p:sp>
    </p:spTree>
    <p:extLst>
      <p:ext uri="{BB962C8B-B14F-4D97-AF65-F5344CB8AC3E}">
        <p14:creationId xmlns:p14="http://schemas.microsoft.com/office/powerpoint/2010/main" val="4222130008"/>
      </p:ext>
    </p:extLst>
  </p:cSld>
  <p:clrMapOvr>
    <a:masterClrMapping/>
  </p:clrMapOvr>
</p:sld>
</file>

<file path=ppt/theme/theme1.xml><?xml version="1.0" encoding="utf-8"?>
<a:theme xmlns:a="http://schemas.openxmlformats.org/drawingml/2006/main" name="AIAC">
  <a:themeElements>
    <a:clrScheme name="AIAC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3AEF1"/>
      </a:accent1>
      <a:accent2>
        <a:srgbClr val="002060"/>
      </a:accent2>
      <a:accent3>
        <a:srgbClr val="A5A5A5"/>
      </a:accent3>
      <a:accent4>
        <a:srgbClr val="58257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2616</TotalTime>
  <Words>2872</Words>
  <Application>Microsoft Office PowerPoint</Application>
  <PresentationFormat>Widescreen</PresentationFormat>
  <Paragraphs>327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Cambria Math</vt:lpstr>
      <vt:lpstr>AIAC</vt:lpstr>
      <vt:lpstr>Computer Architecture and Operating System</vt:lpstr>
      <vt:lpstr>Review</vt:lpstr>
      <vt:lpstr>The Crux</vt:lpstr>
      <vt:lpstr>Assumptions</vt:lpstr>
      <vt:lpstr>Low-Level Mechanisms</vt:lpstr>
      <vt:lpstr>Low-Level Mechanisms</vt:lpstr>
      <vt:lpstr>Low-Level Mechanisms</vt:lpstr>
      <vt:lpstr>Low-Level Mechanisms</vt:lpstr>
      <vt:lpstr>Low-Level Mechanisms</vt:lpstr>
      <vt:lpstr>Allocation Strategies</vt:lpstr>
      <vt:lpstr>Best Fit</vt:lpstr>
      <vt:lpstr>Worst Fit</vt:lpstr>
      <vt:lpstr>Example</vt:lpstr>
      <vt:lpstr>Example</vt:lpstr>
      <vt:lpstr>First Fit</vt:lpstr>
      <vt:lpstr>Next Fit</vt:lpstr>
      <vt:lpstr>Segregated Lists</vt:lpstr>
      <vt:lpstr>Buddy Allocation</vt:lpstr>
      <vt:lpstr>Buddy Allocation</vt:lpstr>
      <vt:lpstr>Other Optimization Ideas</vt:lpstr>
      <vt:lpstr>Break</vt:lpstr>
      <vt:lpstr>Paging</vt:lpstr>
      <vt:lpstr>THE CRUX</vt:lpstr>
      <vt:lpstr>Pages and Page Frames</vt:lpstr>
      <vt:lpstr>The Advantages of Paging</vt:lpstr>
      <vt:lpstr>Mechanism: The Page Table</vt:lpstr>
      <vt:lpstr>Translating Addresses</vt:lpstr>
      <vt:lpstr>Address Translation Example</vt:lpstr>
      <vt:lpstr>Address Translation Example</vt:lpstr>
      <vt:lpstr>Address Translation Example</vt:lpstr>
      <vt:lpstr>Where Are Page Tables Stored?</vt:lpstr>
      <vt:lpstr>What’s Actually In A Page Table?</vt:lpstr>
      <vt:lpstr>Other Important PTE Bits</vt:lpstr>
      <vt:lpstr>Paging is Too Slow</vt:lpstr>
      <vt:lpstr>A Simple Memory Trace</vt:lpstr>
      <vt:lpstr>The Reality of Memory Accesses</vt:lpstr>
      <vt:lpstr>Visualizing </vt:lpstr>
      <vt:lpstr>Summary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Tianming Bai</dc:creator>
  <cp:lastModifiedBy>Tianming Bai</cp:lastModifiedBy>
  <cp:revision>1116</cp:revision>
  <cp:lastPrinted>2026-04-27T01:45:13Z</cp:lastPrinted>
  <dcterms:created xsi:type="dcterms:W3CDTF">2025-10-22T02:43:00Z</dcterms:created>
  <dcterms:modified xsi:type="dcterms:W3CDTF">2026-04-27T02:44:36Z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3DFBA0E403B8423FB8BFD4C8BC3E42ED_13</vt:lpwstr>
  </property>
  <property fmtid="{D5CDD505-2E9C-101B-9397-08002B2CF9AE}" pid="3" name="KSOProductBuildVer">
    <vt:lpwstr>2052-12.1.0.25225</vt:lpwstr>
  </property>
</Properties>
</file>