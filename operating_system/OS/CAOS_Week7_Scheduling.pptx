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356" r:id="rId2"/>
    <p:sldId id="359" r:id="rId3"/>
    <p:sldId id="358" r:id="rId4"/>
    <p:sldId id="443" r:id="rId5"/>
    <p:sldId id="455" r:id="rId6"/>
    <p:sldId id="456" r:id="rId7"/>
    <p:sldId id="457" r:id="rId8"/>
    <p:sldId id="464" r:id="rId9"/>
    <p:sldId id="458" r:id="rId10"/>
    <p:sldId id="467" r:id="rId11"/>
    <p:sldId id="459" r:id="rId12"/>
    <p:sldId id="468" r:id="rId13"/>
    <p:sldId id="469" r:id="rId14"/>
    <p:sldId id="470" r:id="rId15"/>
    <p:sldId id="460" r:id="rId16"/>
    <p:sldId id="461" r:id="rId17"/>
    <p:sldId id="471" r:id="rId18"/>
    <p:sldId id="462" r:id="rId19"/>
    <p:sldId id="463" r:id="rId20"/>
    <p:sldId id="472" r:id="rId21"/>
    <p:sldId id="475" r:id="rId22"/>
    <p:sldId id="473" r:id="rId23"/>
    <p:sldId id="476" r:id="rId24"/>
    <p:sldId id="477" r:id="rId25"/>
    <p:sldId id="474" r:id="rId26"/>
    <p:sldId id="478" r:id="rId27"/>
    <p:sldId id="479" r:id="rId28"/>
    <p:sldId id="480" r:id="rId29"/>
    <p:sldId id="481" r:id="rId30"/>
    <p:sldId id="482" r:id="rId31"/>
    <p:sldId id="483" r:id="rId32"/>
    <p:sldId id="484" r:id="rId33"/>
    <p:sldId id="485" r:id="rId34"/>
    <p:sldId id="486" r:id="rId35"/>
    <p:sldId id="386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FCD9B1D-7B9A-4D58-995E-AFA475280652}">
          <p14:sldIdLst>
            <p14:sldId id="356"/>
            <p14:sldId id="359"/>
            <p14:sldId id="358"/>
          </p14:sldIdLst>
        </p14:section>
        <p14:section name="Scheduling" id="{7F84BA80-6D35-443A-BE5C-9BE5D43F9D2B}">
          <p14:sldIdLst>
            <p14:sldId id="443"/>
            <p14:sldId id="455"/>
            <p14:sldId id="456"/>
            <p14:sldId id="457"/>
            <p14:sldId id="464"/>
            <p14:sldId id="458"/>
            <p14:sldId id="467"/>
            <p14:sldId id="459"/>
            <p14:sldId id="468"/>
            <p14:sldId id="469"/>
            <p14:sldId id="470"/>
            <p14:sldId id="460"/>
            <p14:sldId id="461"/>
            <p14:sldId id="471"/>
            <p14:sldId id="462"/>
            <p14:sldId id="463"/>
            <p14:sldId id="472"/>
            <p14:sldId id="475"/>
            <p14:sldId id="473"/>
            <p14:sldId id="476"/>
            <p14:sldId id="477"/>
            <p14:sldId id="474"/>
            <p14:sldId id="478"/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386"/>
          </p14:sldIdLst>
        </p14:section>
        <p14:section name="Break" id="{A5AD1969-3B2C-45D3-80B6-7885A0EAA1D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E5FC"/>
    <a:srgbClr val="53AEF1"/>
    <a:srgbClr val="582579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7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A9278-991E-4FC4-A092-547ADFE43B7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16CDF-66D6-42F5-82AB-44061AC83CC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lnSpc>
                <a:spcPct val="9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745355"/>
            <a:ext cx="7647305" cy="66421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idx="13"/>
          </p:nvPr>
        </p:nvSpPr>
        <p:spPr>
          <a:xfrm>
            <a:off x="838200" y="5536565"/>
            <a:ext cx="7647305" cy="664210"/>
          </a:xfrm>
        </p:spPr>
        <p:txBody>
          <a:bodyPr/>
          <a:lstStyle>
            <a:lvl1pPr marL="0" indent="0" algn="r">
              <a:buNone/>
              <a:defRPr sz="24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05165" cy="10725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AI and Advanced Computing, XJTLU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822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图片 6" descr="AIAC_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9890" y="5742940"/>
            <a:ext cx="1457960" cy="92456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40105" y="357505"/>
            <a:ext cx="746760" cy="124460"/>
          </a:xfrm>
          <a:prstGeom prst="rect">
            <a:avLst/>
          </a:prstGeom>
          <a:solidFill>
            <a:srgbClr val="53AEF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6733540"/>
            <a:ext cx="12192635" cy="124460"/>
          </a:xfrm>
          <a:prstGeom prst="rect">
            <a:avLst/>
          </a:prstGeom>
          <a:solidFill>
            <a:srgbClr val="53AEF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Computer Architecture and</a:t>
            </a:r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Operating System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>
                <a:latin typeface="Arial"/>
                <a:ea typeface="等线"/>
                <a:cs typeface="Arial"/>
              </a:rPr>
              <a:t>Scheduling</a:t>
            </a:r>
            <a:endParaRPr lang="en-US" altLang="zh-CN" dirty="0">
              <a:ea typeface="等线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zh-CN" dirty="0"/>
              <a:t>Lecturer: Tianming Bai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F4D036-9817-A934-B0EA-918B7A24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等线 Light"/>
              </a:rPr>
              <a:t>Review</a:t>
            </a: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1087FA-8F51-2D01-D6E7-6C5D25DF1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AAB4E8-32A5-9526-D0D0-171D4C769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561E0C-96D7-9379-F18E-695FD529E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</a:t>
            </a:fld>
            <a:endParaRPr lang="en-US"/>
          </a:p>
        </p:txBody>
      </p:sp>
      <p:sp>
        <p:nvSpPr>
          <p:cNvPr id="10" name="文本占位符 5">
            <a:extLst>
              <a:ext uri="{FF2B5EF4-FFF2-40B4-BE49-F238E27FC236}">
                <a16:creationId xmlns:a16="http://schemas.microsoft.com/office/drawing/2014/main" id="{601FDCA4-7529-4D9A-A65D-37A13F744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233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/>
              <a:t>Process</a:t>
            </a:r>
          </a:p>
          <a:p>
            <a:r>
              <a:rPr lang="en-US" altLang="zh-CN" dirty="0">
                <a:ea typeface="等线"/>
              </a:rPr>
              <a:t>Process States</a:t>
            </a:r>
          </a:p>
          <a:p>
            <a:r>
              <a:rPr lang="en-US" altLang="zh-CN" b="1" dirty="0"/>
              <a:t>Low-level machinery: </a:t>
            </a:r>
            <a:r>
              <a:rPr lang="en-US" altLang="zh-CN" dirty="0"/>
              <a:t>Mechanism</a:t>
            </a:r>
          </a:p>
          <a:p>
            <a:r>
              <a:rPr lang="en-US" altLang="zh-CN" dirty="0"/>
              <a:t>Limited Direct Execution: </a:t>
            </a:r>
            <a:r>
              <a:rPr lang="fr-FR" altLang="zh-CN" dirty="0"/>
              <a:t>User Mode vs. Kernel Mode</a:t>
            </a:r>
            <a:r>
              <a:rPr lang="en-US" altLang="zh-CN" dirty="0"/>
              <a:t> </a:t>
            </a:r>
          </a:p>
          <a:p>
            <a:endParaRPr lang="en-US" altLang="zh-CN" dirty="0">
              <a:ea typeface="等线"/>
            </a:endParaRPr>
          </a:p>
          <a:p>
            <a:endParaRPr lang="en-US" altLang="zh-CN" dirty="0"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3031803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838200" y="143233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>
                <a:ea typeface="等线"/>
              </a:rPr>
              <a:t>Scheduling Policies: </a:t>
            </a:r>
          </a:p>
          <a:p>
            <a:pPr lvl="1"/>
            <a:r>
              <a:rPr lang="en-US" altLang="zh-CN" dirty="0"/>
              <a:t>Scheduling Metrics</a:t>
            </a:r>
          </a:p>
          <a:p>
            <a:pPr lvl="1"/>
            <a:r>
              <a:rPr lang="en-US" altLang="zh-CN" dirty="0"/>
              <a:t>First In, First Out (FIFO)</a:t>
            </a:r>
          </a:p>
          <a:p>
            <a:pPr lvl="1"/>
            <a:r>
              <a:rPr lang="en-US" altLang="zh-CN" dirty="0"/>
              <a:t>Shortest Job First (SJF)</a:t>
            </a:r>
          </a:p>
          <a:p>
            <a:pPr lvl="1"/>
            <a:r>
              <a:rPr lang="en-US" altLang="zh-CN" dirty="0"/>
              <a:t>Shortest Time-to-Completion First (STCF)</a:t>
            </a:r>
          </a:p>
          <a:p>
            <a:pPr lvl="1"/>
            <a:r>
              <a:rPr lang="en-US" altLang="zh-CN" dirty="0"/>
              <a:t>Round-Robin (RR)</a:t>
            </a:r>
          </a:p>
          <a:p>
            <a:pPr lvl="1"/>
            <a:r>
              <a:rPr lang="en-US" altLang="zh-CN" dirty="0"/>
              <a:t>The Multi-Level Feedback Queue (MLFQ) </a:t>
            </a:r>
            <a:endParaRPr lang="en-US" altLang="zh-CN" dirty="0">
              <a:ea typeface="等线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1F7F3-5F4B-45C5-E993-43585BA5A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2515"/>
          </a:xfrm>
        </p:spPr>
        <p:txBody>
          <a:bodyPr>
            <a:normAutofit/>
          </a:bodyPr>
          <a:lstStyle/>
          <a:p>
            <a:r>
              <a:rPr lang="en-US" altLang="zh-CN" dirty="0"/>
              <a:t>Recall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531351-5186-977D-FECF-8F495102F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206D2BA-08FA-4D11-C982-E53360998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F4409A-78A6-F481-AD89-986027E04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4</a:t>
            </a:fld>
            <a:endParaRPr 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A8CCE4A2-6692-BAC1-42CB-37DD0E753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To implement virtualization of the CPU, the OS will need both some </a:t>
            </a:r>
            <a:r>
              <a:rPr lang="en-US" altLang="zh-CN" b="1" dirty="0"/>
              <a:t>low-level machinery </a:t>
            </a:r>
            <a:r>
              <a:rPr lang="en-US" altLang="zh-CN" dirty="0"/>
              <a:t>and some </a:t>
            </a:r>
            <a:r>
              <a:rPr lang="en-US" altLang="zh-CN" b="1" dirty="0"/>
              <a:t>high-level intelligence</a:t>
            </a:r>
            <a:r>
              <a:rPr lang="en-US" altLang="zh-CN" dirty="0"/>
              <a:t>. 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How should we develop a basic framework for thinking about scheduling policies? </a:t>
            </a:r>
          </a:p>
          <a:p>
            <a:pPr marL="0" indent="0">
              <a:buNone/>
            </a:pPr>
            <a:r>
              <a:rPr lang="en-US" altLang="zh-CN" dirty="0"/>
              <a:t>What are the key </a:t>
            </a:r>
            <a:r>
              <a:rPr lang="en-US" altLang="zh-CN" b="1" dirty="0"/>
              <a:t>assumptions</a:t>
            </a:r>
            <a:r>
              <a:rPr lang="en-US" altLang="zh-CN" dirty="0"/>
              <a:t>? </a:t>
            </a:r>
          </a:p>
          <a:p>
            <a:pPr marL="0" indent="0">
              <a:buNone/>
            </a:pPr>
            <a:r>
              <a:rPr lang="en-US" altLang="zh-CN" dirty="0"/>
              <a:t>What </a:t>
            </a:r>
            <a:r>
              <a:rPr lang="en-US" altLang="zh-CN" b="1" dirty="0"/>
              <a:t>metrics</a:t>
            </a:r>
            <a:r>
              <a:rPr lang="en-US" altLang="zh-CN" dirty="0"/>
              <a:t> are important?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517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9EDDB-44D1-34AB-F172-136E8B342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Assumptions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53AC3B-BAAE-8171-9D59-626E281A4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8466318-F4C7-FCD1-76FC-D650B8A3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47FC8C-CB19-F1D1-265A-E3DD8E707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5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BCE633F-61F6-A1E6-1EC4-69DDD64A9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66680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We start with 5 simplifying (and mostly unrealistic) assumptions about the processes (jobs) running on our system: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dirty="0"/>
              <a:t>Each job runs for the exact same amount of time.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dirty="0"/>
              <a:t>All jobs arrive in the system at the exact same time.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dirty="0"/>
              <a:t>Once started, each job runs to completion (no preemption).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dirty="0"/>
              <a:t>All jobs only use the CPU (they perform no I/O operations).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dirty="0"/>
              <a:t>The run-time of every job is known in advance (the scheduler is "omniscient").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We will relax these one by one, and evolve our scheduling algorithms to match the new, more realistic constraints.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4480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91B54-6F3F-26C0-AF85-F7FCF3B45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Scheduling Metric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E5D0CA2-F13F-90D1-4179-42CC68BBE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0D88A22-1460-DED0-418B-617438C5C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3C8F50-C98B-B7CA-EF69-68A54E00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EA0306AA-5A5F-36B2-6864-5AEC1F86627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Primary performance metric: Turnaround time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𝑡𝑢𝑟𝑛𝑎𝑟𝑜𝑢𝑛𝑑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​=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𝑐𝑜𝑚𝑝𝑙𝑒𝑡𝑖𝑜𝑛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​−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𝑎𝑟𝑟𝑖𝑣𝑎𝑙</m:t>
                        </m:r>
                      </m:sub>
                    </m:sSub>
                  </m:oMath>
                </a14:m>
                <a:r>
                  <a:rPr lang="en-US" altLang="zh-CN" dirty="0"/>
                  <a:t>​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𝑐𝑜𝑚𝑝𝑙𝑒𝑡𝑖𝑜𝑛</m:t>
                        </m:r>
                      </m:sub>
                    </m:sSub>
                  </m:oMath>
                </a14:m>
                <a:r>
                  <a:rPr lang="en-US" altLang="zh-CN" dirty="0"/>
                  <a:t>​: Time when the job finishes execution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𝑎𝑟𝑟𝑖𝑣𝑎𝑙</m:t>
                        </m:r>
                      </m:sub>
                    </m:sSub>
                  </m:oMath>
                </a14:m>
                <a:r>
                  <a:rPr lang="en-US" altLang="zh-CN" dirty="0"/>
                  <a:t>​: Time when the job enters the system</a:t>
                </a:r>
              </a:p>
              <a:p>
                <a:r>
                  <a:rPr lang="en-US" altLang="zh-CN" dirty="0"/>
                  <a:t>For our initial assumptions (all jobs arrive at T=0),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𝑡𝑢𝑟𝑛𝑎𝑟𝑜𝑢𝑛𝑑</m:t>
                        </m:r>
                      </m:sub>
                    </m:sSub>
                  </m:oMath>
                </a14:m>
                <a:r>
                  <a:rPr lang="en-US" altLang="zh-CN" dirty="0"/>
                  <a:t>​=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𝑐𝑜𝑚𝑝𝑙𝑒𝑡𝑖𝑜𝑛</m:t>
                        </m:r>
                      </m:sub>
                    </m:sSub>
                  </m:oMath>
                </a14:m>
                <a:r>
                  <a:rPr lang="en-US" altLang="zh-CN" dirty="0"/>
                  <a:t>​</a:t>
                </a:r>
              </a:p>
              <a:p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1" dirty="0"/>
                  <a:t>Critical Tradeoff</a:t>
                </a:r>
                <a:r>
                  <a:rPr lang="en-US" altLang="zh-CN" dirty="0"/>
                  <a:t>: Performance and fairness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EA0306AA-5A5F-36B2-6864-5AEC1F8662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48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E28C4-7002-5D0B-458D-2D404DE71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8AA673-8C42-0CB4-84DC-657281D2E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First-In, First-Out (FIFO)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89B347B-76F5-1BCB-160F-FCA9D5059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44FDFA-888C-F103-719A-5FCAB4852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E2376E-3515-6BA7-26E1-F2C125DB2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7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5617EE8-EEA5-D089-347D-E1D7941F4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Jobs run in the exact order they arrive in the system. Also called First-Come, First-Served (FCFS).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Example 1</a:t>
            </a:r>
            <a:r>
              <a:rPr lang="en-US" altLang="zh-CN" dirty="0"/>
              <a:t>: 3 jobs: A, B, C</a:t>
            </a:r>
          </a:p>
          <a:p>
            <a:pPr marL="0" indent="0">
              <a:buNone/>
            </a:pPr>
            <a:r>
              <a:rPr lang="en-US" altLang="zh-CN" dirty="0"/>
              <a:t>All arrive at T=0, each runs for 10 seconds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Compute</a:t>
            </a:r>
            <a:r>
              <a:rPr lang="en-US" altLang="zh-CN" dirty="0"/>
              <a:t>: </a:t>
            </a:r>
          </a:p>
          <a:p>
            <a:r>
              <a:rPr lang="en-US" altLang="zh-CN" dirty="0"/>
              <a:t>Turnaround Time</a:t>
            </a:r>
          </a:p>
          <a:p>
            <a:r>
              <a:rPr lang="en-US" altLang="zh-CN" dirty="0"/>
              <a:t>Average Turnaround Time</a:t>
            </a:r>
          </a:p>
        </p:txBody>
      </p:sp>
    </p:spTree>
    <p:extLst>
      <p:ext uri="{BB962C8B-B14F-4D97-AF65-F5344CB8AC3E}">
        <p14:creationId xmlns:p14="http://schemas.microsoft.com/office/powerpoint/2010/main" val="3839476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49F76-4E2C-E081-CFE2-7D9FB7C38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B22DC0-B544-99AB-D928-2368F0B20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First-In, First-Out (FIFO)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20B6B6E-51D4-AAB1-27C5-4021B610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4B521F-01DD-C859-B347-3AC4B350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D2CA34-7E3E-8004-9DB1-A56FC426B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8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84F0E1C-9667-D57C-261E-D5C770AED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Example 1</a:t>
            </a:r>
            <a:r>
              <a:rPr lang="en-US" altLang="zh-CN" dirty="0"/>
              <a:t>: 3 jobs: A, B, C</a:t>
            </a:r>
          </a:p>
          <a:p>
            <a:pPr marL="0" indent="0">
              <a:buNone/>
            </a:pPr>
            <a:r>
              <a:rPr lang="en-US" altLang="zh-CN" dirty="0"/>
              <a:t>All arrive at T=0, each runs for 10 seconds</a:t>
            </a:r>
          </a:p>
          <a:p>
            <a:r>
              <a:rPr lang="en-US" altLang="zh-CN" dirty="0"/>
              <a:t>Turnaround Time: </a:t>
            </a:r>
            <a:r>
              <a:rPr lang="pt-BR" altLang="zh-CN" dirty="0"/>
              <a:t>A=10, B=20, C=30</a:t>
            </a:r>
            <a:endParaRPr lang="en-US" altLang="zh-CN" dirty="0"/>
          </a:p>
          <a:p>
            <a:r>
              <a:rPr lang="en-US" altLang="zh-CN" dirty="0"/>
              <a:t>Average Turnaround Time: (10+20+30)/3 ​= 20 seconds</a:t>
            </a:r>
          </a:p>
          <a:p>
            <a:r>
              <a:rPr lang="en-US" altLang="zh-CN" dirty="0"/>
              <a:t>Gantt Chart: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7E4A0F9-1E17-A11C-9B15-45E7EAE94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959" y="3987629"/>
            <a:ext cx="4550246" cy="218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265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8B557-6371-DB88-4161-799679C7A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1CF4C-007F-3F1B-3861-594FCF85F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First-In, First-Out (FIFO)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04125F-5ED7-9900-EB17-04D411910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53E2ED-16FA-6FD0-8871-A8770B96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BEEF2D-4BB9-C5C3-CF55-F5998C2CD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9</a:t>
            </a:fld>
            <a:endParaRPr lang="en-US"/>
          </a:p>
        </p:txBody>
      </p:sp>
      <p:sp>
        <p:nvSpPr>
          <p:cNvPr id="8" name="文本占位符 5">
            <a:extLst>
              <a:ext uri="{FF2B5EF4-FFF2-40B4-BE49-F238E27FC236}">
                <a16:creationId xmlns:a16="http://schemas.microsoft.com/office/drawing/2014/main" id="{E36B8311-AA1C-9CAE-CEDD-A7820DA61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Relax Assumption 1: </a:t>
            </a:r>
            <a:r>
              <a:rPr lang="en-US" altLang="zh-CN" dirty="0"/>
              <a:t>Jobs Have Different Runtimes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Example 2</a:t>
            </a:r>
            <a:r>
              <a:rPr lang="en-US" altLang="zh-CN" dirty="0"/>
              <a:t>: 3 jobs: A, B, C</a:t>
            </a:r>
          </a:p>
          <a:p>
            <a:pPr marL="0" indent="0">
              <a:buNone/>
            </a:pPr>
            <a:r>
              <a:rPr lang="en-US" altLang="zh-CN" dirty="0"/>
              <a:t>All arrive at T=0</a:t>
            </a:r>
          </a:p>
          <a:p>
            <a:pPr marL="0" indent="0">
              <a:buNone/>
            </a:pPr>
            <a:r>
              <a:rPr lang="en-US" altLang="zh-CN" dirty="0"/>
              <a:t>A runs for 80 seconds, B and C run for 5 seconds each. </a:t>
            </a:r>
          </a:p>
          <a:p>
            <a:pPr marL="0" indent="0">
              <a:buNone/>
            </a:pPr>
            <a:r>
              <a:rPr lang="en-US" altLang="zh-CN" b="1" dirty="0"/>
              <a:t>Calculate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Turnaround Time:</a:t>
            </a:r>
          </a:p>
          <a:p>
            <a:r>
              <a:rPr lang="en-US" altLang="zh-CN" dirty="0"/>
              <a:t>Average Turnaround Time:</a:t>
            </a:r>
          </a:p>
        </p:txBody>
      </p:sp>
    </p:spTree>
    <p:extLst>
      <p:ext uri="{BB962C8B-B14F-4D97-AF65-F5344CB8AC3E}">
        <p14:creationId xmlns:p14="http://schemas.microsoft.com/office/powerpoint/2010/main" val="2605377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EC820-CEB1-92DB-8F48-039CEEF18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86E65A-3D3A-D564-2E37-81288D6F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First-In, First-Out (FIFO)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211BDC0-B11C-6CAB-E45D-F08C9B8B1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75A332-7CAE-F3B1-9C88-F694B0455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School of AI and Advanced Computing, XJTLU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5AFF00-3AE3-94A1-40C8-E5FB10F6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10</a:t>
            </a:fld>
            <a:endParaRPr lang="en-US"/>
          </a:p>
        </p:txBody>
      </p:sp>
      <p:sp>
        <p:nvSpPr>
          <p:cNvPr id="8" name="文本占位符 5">
            <a:extLst>
              <a:ext uri="{FF2B5EF4-FFF2-40B4-BE49-F238E27FC236}">
                <a16:creationId xmlns:a16="http://schemas.microsoft.com/office/drawing/2014/main" id="{51C53D2F-914A-B6A1-4AAF-750950A29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1" dirty="0"/>
              <a:t>Example 2</a:t>
            </a:r>
            <a:r>
              <a:rPr lang="en-US" altLang="zh-CN" dirty="0"/>
              <a:t>: 3 jobs: A, B, C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All arrive at T=0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A runs for 80 seconds, B and C run for 5 seconds each. 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Turnaround Time: A = 80, B = 85, C = 90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Average Turnaround Time: (80 + 85 + 90)/3 = 85</a:t>
            </a:r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This problem is generally referred to as the </a:t>
            </a:r>
            <a:r>
              <a:rPr lang="en-US" altLang="zh-CN" b="1" dirty="0"/>
              <a:t>convoy effect</a:t>
            </a:r>
            <a:r>
              <a:rPr lang="en-US" altLang="zh-CN" dirty="0"/>
              <a:t>, where a number of </a:t>
            </a:r>
            <a:r>
              <a:rPr lang="en-US" altLang="zh-CN" b="1" dirty="0"/>
              <a:t>relatively-short weight resource consumers </a:t>
            </a:r>
            <a:r>
              <a:rPr lang="en-US" altLang="zh-CN" dirty="0"/>
              <a:t>get queued behind a </a:t>
            </a:r>
            <a:r>
              <a:rPr lang="en-US" altLang="zh-CN" b="1" dirty="0"/>
              <a:t>heavy weight resource consumer</a:t>
            </a:r>
            <a:r>
              <a:rPr lang="en-US" altLang="zh-CN" dirty="0"/>
              <a:t>.</a:t>
            </a:r>
          </a:p>
          <a:p>
            <a:pPr fontAlgn="ctr"/>
            <a:r>
              <a:rPr lang="en-US" altLang="zh-CN" dirty="0"/>
              <a:t>Advantages:</a:t>
            </a:r>
            <a:r>
              <a:rPr lang="zh-CN" altLang="en-US" dirty="0"/>
              <a:t> </a:t>
            </a:r>
            <a:r>
              <a:rPr lang="en-US" altLang="zh-CN" dirty="0"/>
              <a:t>simple to implement</a:t>
            </a:r>
            <a:endParaRPr lang="zh-CN" altLang="zh-CN" dirty="0"/>
          </a:p>
          <a:p>
            <a:pPr fontAlgn="ctr"/>
            <a:r>
              <a:rPr lang="en-US" altLang="zh-CN" dirty="0"/>
              <a:t>Limitations:</a:t>
            </a:r>
            <a:r>
              <a:rPr lang="zh-CN" altLang="en-US" dirty="0"/>
              <a:t> </a:t>
            </a:r>
            <a:r>
              <a:rPr lang="en-US" altLang="zh-CN" dirty="0"/>
              <a:t>performs poorly when job runtimes vary</a:t>
            </a:r>
            <a:endParaRPr lang="zh-CN" altLang="zh-CN" dirty="0"/>
          </a:p>
          <a:p>
            <a:pPr marL="0" indent="0">
              <a:lnSpc>
                <a:spcPct val="120000"/>
              </a:lnSpc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21955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79774-7BD9-3B14-49F9-0AE82260E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C5027C-9310-3F99-BF29-07947295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Shortest Job First (SJF)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AD87B2-EF8E-6054-0025-59AC9B816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448FE3-B553-71A1-130F-08A3095F2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84E305-4C82-E1C0-7B68-3DBEC2C7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11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F27402B-D4E2-8064-7902-67BCA94C6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Run the job with the shortest total runtime first, then the next shortest, and so on. Non-preemptive: once a job starts, it runs to completion.</a:t>
            </a:r>
          </a:p>
          <a:p>
            <a:pPr marL="0" indent="0">
              <a:buNone/>
            </a:pPr>
            <a:r>
              <a:rPr lang="en-US" altLang="zh-CN" b="1" dirty="0"/>
              <a:t>Example</a:t>
            </a:r>
            <a:r>
              <a:rPr lang="en-US" altLang="zh-CN" dirty="0"/>
              <a:t>:</a:t>
            </a:r>
          </a:p>
          <a:p>
            <a:pPr marL="0" indent="0">
              <a:buNone/>
            </a:pPr>
            <a:r>
              <a:rPr lang="en-US" altLang="zh-CN" dirty="0"/>
              <a:t>3 jobs: A (80s), B (5s), C (5s), all arrive at T=0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Calculations</a:t>
            </a:r>
          </a:p>
          <a:p>
            <a:pPr marL="0" indent="0">
              <a:buNone/>
            </a:pPr>
            <a:r>
              <a:rPr lang="en-US" altLang="zh-CN" dirty="0"/>
              <a:t>Turnaround Time</a:t>
            </a:r>
          </a:p>
          <a:p>
            <a:pPr marL="0" indent="0">
              <a:buNone/>
            </a:pPr>
            <a:r>
              <a:rPr lang="en-US" altLang="zh-CN" dirty="0"/>
              <a:t>Average Turnaround Time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8496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9A5F2-50E7-CB27-D17B-8F2006AE1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09FD6E-12AD-ABC9-1A76-6CC4A87BD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Shortest Job First (SJF)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8E39C0-5268-719D-67E2-1077CF9A2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A287D7-A08E-6D92-3BC3-7AB9A572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5E655D-13DD-B8C8-AE8D-D79B83685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12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DD7C8BB-419F-F0B1-8296-F4E5D7B2A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CN" dirty="0"/>
              <a:t>Run the job with the shortest total runtime first, then the next shortest, and so on. Non-preemptive: once a job starts, it runs to completion.</a:t>
            </a:r>
          </a:p>
          <a:p>
            <a:pPr marL="0" indent="0">
              <a:buNone/>
            </a:pPr>
            <a:r>
              <a:rPr lang="en-US" altLang="zh-CN" b="1" dirty="0"/>
              <a:t>Example</a:t>
            </a:r>
            <a:r>
              <a:rPr lang="en-US" altLang="zh-CN" dirty="0"/>
              <a:t>:</a:t>
            </a:r>
          </a:p>
          <a:p>
            <a:pPr marL="0" indent="0">
              <a:buNone/>
            </a:pPr>
            <a:r>
              <a:rPr lang="en-US" altLang="zh-CN" dirty="0"/>
              <a:t>3 jobs: A (80s), B (5s), C (5s), all arrive at T=0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Calculations</a:t>
            </a:r>
          </a:p>
          <a:p>
            <a:pPr marL="0" indent="0">
              <a:buNone/>
            </a:pPr>
            <a:r>
              <a:rPr lang="en-US" altLang="zh-CN" dirty="0"/>
              <a:t>Turnaround Time: B=5, C=10, A=90</a:t>
            </a:r>
          </a:p>
          <a:p>
            <a:pPr marL="0" indent="0">
              <a:buNone/>
            </a:pPr>
            <a:r>
              <a:rPr lang="en-US" altLang="zh-CN" dirty="0"/>
              <a:t>Average Turnaround Time: (5 + 10 + 90)/3 = 35 seconds</a:t>
            </a:r>
          </a:p>
          <a:p>
            <a:pPr marL="0" indent="0">
              <a:buNone/>
            </a:pPr>
            <a:r>
              <a:rPr lang="en-US" altLang="zh-CN" dirty="0"/>
              <a:t>85 / 35 = ~ 2.4x performance improvement!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409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7974A-1452-B0A0-7FB7-04360BAF5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D6D74-4CAF-49AF-1A0B-5E1ED4E98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Shortest Job First (SJF)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B231F8-666F-C5CF-EAF7-ABDFC96A8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5B4239-A057-5D7C-E189-B5A034D0A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87C464-5656-E901-6C11-4F2BAFD92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13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3EDD454-742D-151B-A32E-83DF6E070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Relax Assumption 2: Jobs Arrive At Different Times</a:t>
            </a:r>
          </a:p>
          <a:p>
            <a:pPr marL="0" indent="0">
              <a:buNone/>
            </a:pPr>
            <a:r>
              <a:rPr lang="en-US" altLang="zh-CN" b="1" dirty="0"/>
              <a:t>Example</a:t>
            </a:r>
            <a:r>
              <a:rPr lang="en-US" altLang="zh-CN" dirty="0"/>
              <a:t>:</a:t>
            </a:r>
          </a:p>
          <a:p>
            <a:pPr marL="0" indent="0">
              <a:buNone/>
            </a:pPr>
            <a:r>
              <a:rPr lang="en-US" altLang="zh-CN" dirty="0"/>
              <a:t>Job A arrives at T=0, runs for 80 seconds</a:t>
            </a:r>
          </a:p>
          <a:p>
            <a:pPr marL="0" indent="0">
              <a:buNone/>
            </a:pPr>
            <a:r>
              <a:rPr lang="en-US" altLang="zh-CN" dirty="0"/>
              <a:t>Jobs B and C arrive at T=10, each runs for 5 seconds</a:t>
            </a:r>
          </a:p>
          <a:p>
            <a:pPr marL="0" indent="0">
              <a:buNone/>
            </a:pPr>
            <a:r>
              <a:rPr lang="en-US" altLang="zh-CN" b="1" dirty="0"/>
              <a:t>Calculation</a:t>
            </a:r>
            <a:r>
              <a:rPr lang="en-US" altLang="zh-CN" dirty="0"/>
              <a:t>:</a:t>
            </a:r>
          </a:p>
          <a:p>
            <a:pPr marL="0" indent="0">
              <a:buNone/>
            </a:pPr>
            <a:r>
              <a:rPr lang="en-US" altLang="zh-CN" dirty="0"/>
              <a:t>Turnaround Time</a:t>
            </a:r>
          </a:p>
          <a:p>
            <a:pPr marL="0" indent="0">
              <a:buNone/>
            </a:pPr>
            <a:r>
              <a:rPr lang="en-US" altLang="zh-CN" dirty="0"/>
              <a:t>Average Turnaround Time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5418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C33FF-0B4A-FC71-AC3D-FEE47CC02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3211CB-4A69-1BB0-11A1-24A931DEE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Shortest Job First (SJF)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AF5107-E387-F6DF-3A1A-989F0B129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EC72A4E-72C2-5A86-6C3E-13A24F873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6D7D17-14E9-CAB1-0111-61F30E0DF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14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9E8CDE2-B828-DB37-9CBA-430DEDD64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b="1" dirty="0"/>
              <a:t>Example</a:t>
            </a:r>
            <a:r>
              <a:rPr lang="en-US" altLang="zh-CN" dirty="0"/>
              <a:t>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Average Turnaround Time: (80+75+80)/3 = ~78.33 seconds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Even though B and C are short jobs, they are forced to wait the full 100 seconds for A to finish. We are back to the </a:t>
            </a:r>
            <a:r>
              <a:rPr lang="en-US" altLang="zh-CN" b="1" dirty="0"/>
              <a:t>convoy effect</a:t>
            </a:r>
            <a:r>
              <a:rPr lang="en-US" altLang="zh-CN" dirty="0"/>
              <a:t>!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zh-CN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b="1" dirty="0"/>
              <a:t>Advantages</a:t>
            </a:r>
            <a:r>
              <a:rPr lang="en-US" altLang="zh-CN" dirty="0"/>
              <a:t>: Provably optimal for average turnaround time when all jobs arrive simultaneously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b="1" dirty="0"/>
              <a:t>Limitations</a:t>
            </a:r>
            <a:r>
              <a:rPr lang="en-US" altLang="zh-CN" dirty="0"/>
              <a:t>: Still suffers from convoy effects when jobs arrive over time</a:t>
            </a:r>
          </a:p>
          <a:p>
            <a:pPr marL="0" indent="0">
              <a:lnSpc>
                <a:spcPct val="110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9266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91DEC-5859-FAE6-1EDB-FDB2C65B9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EF9110-113B-34C7-1550-CBEF6D81C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61138" cy="107251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Relax Assumption 3: Preemptive Scheduling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A5D09F-5F92-3994-05CB-3D4D686CE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9BD1F6-69F4-319C-4E69-71445B124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2BFE82-8F1C-141B-EF31-0339AAF76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15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7E640F9-33BB-900E-5041-1E41B0A4B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zh-CN" b="1" dirty="0"/>
              <a:t>Non-preemptive</a:t>
            </a:r>
            <a:r>
              <a:rPr lang="en-US" altLang="zh-CN" dirty="0"/>
              <a:t>: Once a job starts running, it runs to completion (FIFO, SJF)</a:t>
            </a:r>
          </a:p>
          <a:p>
            <a:pPr>
              <a:lnSpc>
                <a:spcPct val="100000"/>
              </a:lnSpc>
            </a:pPr>
            <a:r>
              <a:rPr lang="en-US" altLang="zh-CN" b="1" dirty="0"/>
              <a:t>Preemptive</a:t>
            </a:r>
            <a:r>
              <a:rPr lang="en-US" altLang="zh-CN" dirty="0"/>
              <a:t>: The OS can pause (preempt) a running job at any time, and switch to another job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Enabled by the </a:t>
            </a:r>
            <a:r>
              <a:rPr lang="en-US" altLang="zh-CN" b="1" dirty="0"/>
              <a:t>timer interrupt </a:t>
            </a:r>
            <a:r>
              <a:rPr lang="en-US" altLang="zh-CN" dirty="0"/>
              <a:t>and </a:t>
            </a:r>
            <a:r>
              <a:rPr lang="en-US" altLang="zh-CN" b="1" dirty="0"/>
              <a:t>context switch </a:t>
            </a:r>
            <a:r>
              <a:rPr lang="en-US" altLang="zh-CN" dirty="0"/>
              <a:t>mechanisms we learned previously</a:t>
            </a:r>
          </a:p>
          <a:p>
            <a:pPr>
              <a:lnSpc>
                <a:spcPct val="100000"/>
              </a:lnSpc>
            </a:pPr>
            <a:r>
              <a:rPr lang="en-US" altLang="zh-CN" b="1" dirty="0"/>
              <a:t>Virtually all modern operating systems use preemptive scheduling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We need a scheduler that can preempt a long-running job when a new, shorter job arrives.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5429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2D357-3F69-AD90-0348-498054D9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DECFD2-D2E9-0672-9275-43CE58572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36306" cy="107251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Shortest Time-to-Completion First (STCF)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F31907-28E6-3491-EA1F-35E03C54E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05109B-B7C7-ACAB-A85F-7A115C840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B43282-1391-6470-1306-6E8E70960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16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6CA140C-741E-1573-7734-329081593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Also called Preemptive Shortest Job First (PSJF). At any time (when a new job arrives, or a job finishes), the scheduler runs the job with the </a:t>
            </a:r>
            <a:r>
              <a:rPr lang="en-US" altLang="zh-CN" b="1" dirty="0"/>
              <a:t>shortest remaining time left to complete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Example</a:t>
            </a:r>
          </a:p>
          <a:p>
            <a:pPr marL="0" indent="0">
              <a:buNone/>
            </a:pPr>
            <a:r>
              <a:rPr lang="en-US" altLang="zh-CN" dirty="0"/>
              <a:t>Job A arrives at T=0, runs for 80 seconds</a:t>
            </a:r>
          </a:p>
          <a:p>
            <a:pPr marL="0" indent="0">
              <a:buNone/>
            </a:pPr>
            <a:r>
              <a:rPr lang="en-US" altLang="zh-CN" dirty="0"/>
              <a:t>Jobs B and C arrive at T=10, each runs for 5 seconds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4962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542BB-E49A-B7D0-25C8-BE60A99A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877C7-1299-2751-18C7-8D99158E1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36306" cy="107251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Shortest Time-to-Completion First (STCF)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E24683E-C149-BE43-AF07-7750DBD78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B13C1E-DCC0-D33E-572F-6A2225B6D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A22440-5750-F243-68D9-A50C9A5A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79A154D-3411-52F4-B323-46EAFECA6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Example</a:t>
            </a:r>
            <a:r>
              <a:rPr lang="en-US" altLang="zh-CN" dirty="0"/>
              <a:t>:</a:t>
            </a:r>
          </a:p>
          <a:p>
            <a:pPr marL="0" indent="0">
              <a:buNone/>
            </a:pPr>
            <a:r>
              <a:rPr lang="en-US" altLang="zh-CN" dirty="0"/>
              <a:t>Job A arrives at T=0, runs for 80 seconds</a:t>
            </a:r>
          </a:p>
          <a:p>
            <a:pPr marL="0" indent="0">
              <a:buNone/>
            </a:pPr>
            <a:r>
              <a:rPr lang="en-US" altLang="zh-CN" dirty="0"/>
              <a:t>Jobs B and C arrive at T=10, each runs for 5 seconds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Calculations</a:t>
            </a:r>
            <a:r>
              <a:rPr lang="en-US" altLang="zh-CN" dirty="0"/>
              <a:t>:</a:t>
            </a:r>
          </a:p>
          <a:p>
            <a:pPr marL="0" indent="0">
              <a:buNone/>
            </a:pPr>
            <a:r>
              <a:rPr lang="en-US" altLang="zh-CN" dirty="0"/>
              <a:t>Turnaround Time: A=90, B=15-10=5, C=20-10=10</a:t>
            </a:r>
          </a:p>
          <a:p>
            <a:pPr marL="0" indent="0">
              <a:buNone/>
            </a:pPr>
            <a:r>
              <a:rPr lang="en-US" altLang="zh-CN" dirty="0"/>
              <a:t>Average Turnaround Time: (90+5+10)/3​=35 seconds</a:t>
            </a:r>
          </a:p>
          <a:p>
            <a:pPr marL="0" indent="0">
              <a:buNone/>
            </a:pPr>
            <a:r>
              <a:rPr lang="en-US" altLang="zh-CN" dirty="0"/>
              <a:t>78.33/35 = ~ 2.2x performance improvement!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2974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CF2CA-2539-C2D5-9682-60397F22D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5D3E5D-F92D-3821-264E-229D26A6F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23612" cy="1072515"/>
          </a:xfrm>
        </p:spPr>
        <p:txBody>
          <a:bodyPr>
            <a:normAutofit/>
          </a:bodyPr>
          <a:lstStyle/>
          <a:p>
            <a:r>
              <a:rPr lang="en-US" altLang="zh-CN" dirty="0"/>
              <a:t>Next Metric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BED71B-9D5B-66A0-258A-A04F4979E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80D321B-9629-1AC3-DF76-5FFB2038E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School of AI and Advanced Computing, XJTLU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DB448A-DF13-ADA2-55B3-54CD26D26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18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19EDC40-A26B-6689-48C4-E06D2FDBC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Any limitation to STCF?</a:t>
            </a:r>
          </a:p>
          <a:p>
            <a:pPr lvl="1"/>
            <a:r>
              <a:rPr lang="en-US" altLang="zh-CN" dirty="0"/>
              <a:t>Still requires knowing job runtimes in advance (Assumption 5 still holds)</a:t>
            </a:r>
          </a:p>
          <a:p>
            <a:pPr lvl="1"/>
            <a:r>
              <a:rPr lang="en-US" altLang="zh-CN" dirty="0"/>
              <a:t>Terrible for interactive performance</a:t>
            </a:r>
          </a:p>
          <a:p>
            <a:endParaRPr lang="en-US" altLang="zh-CN" dirty="0"/>
          </a:p>
          <a:p>
            <a:r>
              <a:rPr lang="en-US" altLang="zh-CN" dirty="0"/>
              <a:t>The rise of time-shared and interactive systems (terminals, modern PCs) created a new requirement: responsiveness</a:t>
            </a:r>
          </a:p>
          <a:p>
            <a:r>
              <a:rPr lang="en-US" altLang="zh-CN" dirty="0"/>
              <a:t>Users sitting at a terminal need to see a response immediately when they type, not wait 10+ seconds for a long job to finish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138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FDE0E-BF0F-AA91-99CA-42A609232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ADEDE5-3E6E-6E35-6728-13E25AC1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Response Time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8449E7-0836-F70D-7868-F5F98C577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75DA66-F06F-1BB5-2280-D88ADF32D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7D9718-95BE-A832-7E1D-465C09236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D5506510-FEF8-0F8C-06C8-687B36F9A2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The time from when a job arrives in the system to the </a:t>
                </a:r>
                <a:r>
                  <a:rPr lang="en-US" altLang="zh-CN" b="1" dirty="0"/>
                  <a:t>first time it is scheduled to run on the CPU</a:t>
                </a:r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𝑟𝑒𝑠𝑝𝑜𝑛𝑠𝑒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​=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𝑓𝑖𝑟𝑠𝑡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𝑟𝑢𝑛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​−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𝑎𝑟𝑟𝑖𝑣𝑎𝑙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​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D5506510-FEF8-0F8C-06C8-687B36F9A2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217" t="-2381" r="-16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7568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DC6400-7A45-AD5A-6414-CEB17A8CC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93545" cy="107251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Shortest Time-to-Completion First (STCF)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932EC29-1DEF-65CC-E771-CD6A102E5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82DB3E1-28F7-7A15-0456-05530B76E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CE6644-D2AE-3884-0AD1-26E21FF74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20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C1FD938-1DEA-7CC0-55F9-0E0C13375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Example</a:t>
            </a:r>
            <a:r>
              <a:rPr lang="en-US" altLang="zh-CN" dirty="0"/>
              <a:t>: 3 jobs: A, B, C</a:t>
            </a:r>
          </a:p>
          <a:p>
            <a:pPr marL="0" indent="0">
              <a:buNone/>
            </a:pPr>
            <a:r>
              <a:rPr lang="en-US" altLang="zh-CN" dirty="0"/>
              <a:t>All arrive at T=0, each runs for 5 seconds total</a:t>
            </a:r>
          </a:p>
          <a:p>
            <a:pPr marL="0" indent="0">
              <a:buNone/>
            </a:pPr>
            <a:r>
              <a:rPr lang="en-US" altLang="zh-CN" b="1" dirty="0"/>
              <a:t>Response Time</a:t>
            </a:r>
            <a:r>
              <a:rPr lang="en-US" altLang="zh-CN" dirty="0"/>
              <a:t>: A=0, B=5, C=10</a:t>
            </a:r>
          </a:p>
          <a:p>
            <a:pPr marL="0" indent="0">
              <a:buNone/>
            </a:pPr>
            <a:r>
              <a:rPr lang="en-US" altLang="zh-CN" b="1" dirty="0"/>
              <a:t>Average Response Time</a:t>
            </a:r>
            <a:r>
              <a:rPr lang="en-US" altLang="zh-CN" dirty="0"/>
              <a:t>: (0+5+10​)/3 = 5 seconds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344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7A351-E988-8A41-B8AC-EB82C7ED8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6B6A2C-9164-D82D-0871-3263BA276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Round Robin (RR)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82063E-0ECA-C36E-A02A-DB4F0249A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DDFE18-64FF-B54C-B205-CA2161F68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F794198-EC8B-87CE-24BA-07DA5DDD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21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F02C36A-D097-5446-A896-223387783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Also called time-slicing. The scheduler runs each job for a fixed </a:t>
            </a:r>
            <a:r>
              <a:rPr lang="en-US" altLang="zh-CN" b="1" dirty="0"/>
              <a:t>time slice (scheduling quantum)</a:t>
            </a:r>
            <a:r>
              <a:rPr lang="en-US" altLang="zh-CN" dirty="0"/>
              <a:t>, then switches to the next job in the ready queue. It repeats this cycle until all jobs are complete.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The time slice must be a multiple of the timer interrupt period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Example: 10ms timer interrupt → time slice can be 10ms, 20ms, 100ms, etc.</a:t>
            </a:r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40961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0EBE6-B60A-C675-2E95-FD48EA372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Round Robin (RR)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C9B49C-6376-B897-D58B-E66A6F0C1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0FB2E1-FD2A-25AD-B8F6-2C474223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School of AI and Advanced Computing, XJTLU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2193FA-1549-7344-0420-5FE6E2AEF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22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74B1EE5-D015-7087-BB48-BF0EF9A0C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Example</a:t>
            </a:r>
            <a:r>
              <a:rPr lang="en-US" altLang="zh-CN" dirty="0"/>
              <a:t>: 3 jobs: A, B, C</a:t>
            </a:r>
          </a:p>
          <a:p>
            <a:pPr marL="0" indent="0">
              <a:buNone/>
            </a:pPr>
            <a:r>
              <a:rPr lang="en-US" altLang="zh-CN" dirty="0"/>
              <a:t>All arrive at T=0, each runs for 5 seconds total</a:t>
            </a:r>
          </a:p>
          <a:p>
            <a:pPr marL="0" indent="0">
              <a:buNone/>
            </a:pPr>
            <a:r>
              <a:rPr lang="en-US" altLang="zh-CN" dirty="0"/>
              <a:t>Time slice = 1 second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en-US" altLang="zh-CN" b="1" dirty="0"/>
              <a:t>Response Time Calculations</a:t>
            </a:r>
          </a:p>
          <a:p>
            <a:r>
              <a:rPr lang="en-US" altLang="zh-CN" dirty="0"/>
              <a:t>Response Time: A=0, B=1, C=2</a:t>
            </a:r>
          </a:p>
          <a:p>
            <a:r>
              <a:rPr lang="en-US" altLang="zh-CN" dirty="0"/>
              <a:t>Average Response Time: 30+1+2​=1 second</a:t>
            </a:r>
          </a:p>
          <a:p>
            <a:r>
              <a:rPr lang="en-US" altLang="zh-CN" dirty="0"/>
              <a:t>5x improvement over SJF!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0647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14058-615E-8CDD-0082-FA169DC8A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E4CF6-2016-B706-28B9-74452DFE0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RR Tradeoffs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D42DFE-18CF-67D1-3C36-57D023820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41E62EB-EA40-3B73-B67E-C664677A6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786D52-4742-FBAF-80AC-6927275B6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23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ED17E29-7328-9B85-97A3-DD84C547C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b="1" dirty="0"/>
              <a:t>Time Slice Length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Shorter time slice: Better (lower) response time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Longer time slice: Better (lower) turnaround time, less overhead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b="1" dirty="0"/>
              <a:t>Context Switch Cost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Context switching has a fixed cost: saving/restoring registers, flushing CPU caches/TLBs/branch predictors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/>
              <a:t>Amortization Principle</a:t>
            </a:r>
            <a:r>
              <a:rPr lang="en-US" altLang="zh-CN" dirty="0"/>
              <a:t>: Increase the time slice to amortize the fixed cost of context switching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/>
              <a:t>Example</a:t>
            </a:r>
            <a:r>
              <a:rPr lang="en-US" altLang="zh-CN" dirty="0"/>
              <a:t>: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1ms context switch cost, 10ms time slice → 10% of time wasted on switching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1ms context switch cost, 100ms time slice → &lt;1% of time wasted on switching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/>
              <a:t>Key Takeaway</a:t>
            </a:r>
            <a:r>
              <a:rPr lang="en-US" altLang="zh-CN" dirty="0"/>
              <a:t>: RR is the worst policy for turnaround time, but the best policy for response time. This is the fundamental scheduling tradeoff: </a:t>
            </a:r>
            <a:r>
              <a:rPr lang="en-US" altLang="zh-CN" b="1" dirty="0"/>
              <a:t>you cannot optimize for both turnaround time and response time at the same time.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448234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4B53D-6B6D-0755-04FC-35E309F87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8FC33D-D7E9-1035-1190-52779B96C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Assumption 4: Jobs Perform I/O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E5A0FD-EB40-F0A1-984D-8C453CA3D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5BE8B37-DA6F-D6F7-C599-9A590738C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1CB6C5-911F-5906-1D66-217C91B8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24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AC9A54E-9905-1EBB-6E7C-1B4C349C7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When a job initiates an I/O request (e.g., to disk, network), it becomes blocked waiting for the I/O to complete.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The CPU sits idle during this time.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We are wasting precious CPU resources!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The Solution</a:t>
            </a:r>
            <a:r>
              <a:rPr lang="en-US" altLang="zh-CN" dirty="0"/>
              <a:t>: Treat Each CPU Burst As A Separate Job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A job that performs I/O is split into multiple short "sub-jobs", each corresponding to a single CPU burst between I/O operations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The scheduler treats each CPU burst as an independent job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When a job blocks for I/O, the scheduler runs another job on the CPU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When the I/O completes, the job is moved back to the ready queue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2142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C89D6-E8E6-C7E3-510E-D925C465A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1D6D6-6CA0-978B-B34C-A95DE2CF9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Assumption 4: Jobs Perform I/O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1E6DC5A-C6ED-C33B-8B55-F6AEB6428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1E93AA-DFDA-C76F-5B65-A16DEC93E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8654F7-28AB-5A24-1518-3AE40E35E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25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E09A422-8513-BFF1-FF32-C5AE94DB7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Example</a:t>
            </a:r>
            <a:r>
              <a:rPr lang="en-US" altLang="zh-CN" dirty="0"/>
              <a:t>: Overlap CPU and I/O</a:t>
            </a:r>
          </a:p>
          <a:p>
            <a:r>
              <a:rPr lang="en-US" altLang="zh-CN" dirty="0"/>
              <a:t>2 jobs: A and B, each need 50ms of total CPU time</a:t>
            </a:r>
          </a:p>
          <a:p>
            <a:r>
              <a:rPr lang="en-US" altLang="zh-CN" dirty="0"/>
              <a:t>Job A: 10ms CPU burst → 10ms I/O → repeat (5 total bursts)</a:t>
            </a:r>
          </a:p>
          <a:p>
            <a:r>
              <a:rPr lang="en-US" altLang="zh-CN" dirty="0"/>
              <a:t>Job B: 50ms continuous CPU burst, no I/O</a:t>
            </a:r>
          </a:p>
          <a:p>
            <a:r>
              <a:rPr lang="en-US" altLang="zh-CN" dirty="0"/>
              <a:t>STCF scheduler: Runs A’s 10ms bursts, preempts B when A’s I/O completes</a:t>
            </a:r>
          </a:p>
          <a:p>
            <a:r>
              <a:rPr lang="en-US" altLang="zh-CN" dirty="0"/>
              <a:t>Result: CPU is never idle! We overlap A’s I/O with B’s CPU execution, doubling system utilization.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05117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1A198-AA9A-CCBE-9AFE-9E482F3F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Relax Assumption 5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3F472D-1369-2E5A-0DEF-B446EEE5A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522234-DBFD-F24D-9841-ADD25EF18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2D20F9-8E5E-7FF0-E850-700E165E5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26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3D44A18-0B93-FF00-D85E-2539A3EBE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The Final, Most Unrealistic Assumption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All of our optimal algorithms (SJF, STCF) require the scheduler to know the </a:t>
            </a:r>
            <a:r>
              <a:rPr lang="en-US" altLang="zh-CN" b="1" dirty="0"/>
              <a:t>total runtime of every job in advance</a:t>
            </a:r>
            <a:r>
              <a:rPr lang="en-US" altLang="zh-CN" dirty="0"/>
              <a:t>.</a:t>
            </a:r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In real general-purpose operating systems, this is impossible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The OS has no way to see into the future and know how long a job will run, or how long its next CPU burst will be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How can we build a scheduler that behaves like SJF/STCF (optimizes turnaround time) without knowing job runtimes in advance? How can we also incorporate the responsiveness of RR for interactive workloads?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72018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0FDD-E137-4EB7-AF93-6F8D40B2B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77041" cy="1072515"/>
          </a:xfrm>
        </p:spPr>
        <p:txBody>
          <a:bodyPr>
            <a:normAutofit/>
          </a:bodyPr>
          <a:lstStyle/>
          <a:p>
            <a:r>
              <a:rPr lang="en-US" dirty="0"/>
              <a:t>Multi-Level Feedback Queue (MLFQ)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DE6D73-00CF-4411-8CB2-BFF77DF0E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679F3E-1D06-4AAB-AAF0-B563CF8B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1777B-3B24-465F-9BE1-10E1ADA6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27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B0532D-2E0F-43F8-B592-883AF4F32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The Multi-Level Feedback Queue (MLFQ) has a number of distinct queues, each assigned a different priority level.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At any given time, a job that is ready to run is on a single queue.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MLFQ uses priorities to decide which job should run at a given time: a job with higher priority is chosen to run.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Basic Rules: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Rule 1: If Priority(A) &gt; Priority(B), A runs (B doesn’t).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Rule 2: If Priority(A) = Priority(B), A &amp; B run in Round-Robin (RR) scheduling.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MLFQ varies the priority of a job based on its observed behavior.</a:t>
            </a:r>
          </a:p>
        </p:txBody>
      </p:sp>
    </p:spTree>
    <p:extLst>
      <p:ext uri="{BB962C8B-B14F-4D97-AF65-F5344CB8AC3E}">
        <p14:creationId xmlns:p14="http://schemas.microsoft.com/office/powerpoint/2010/main" val="3133621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0FDD-E137-4EB7-AF93-6F8D40B2B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999"/>
            <a:ext cx="8305165" cy="1072515"/>
          </a:xfrm>
        </p:spPr>
        <p:txBody>
          <a:bodyPr/>
          <a:lstStyle/>
          <a:p>
            <a:r>
              <a:rPr lang="en-US" dirty="0"/>
              <a:t>How To Change Priority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DE6D73-00CF-4411-8CB2-BFF77DF0E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679F3E-1D06-4AAB-AAF0-B563CF8B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1777B-3B24-465F-9BE1-10E1ADA6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28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B0532D-2E0F-43F8-B592-883AF4F32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We define a job's </a:t>
            </a:r>
            <a:r>
              <a:rPr lang="en-US" sz="2400" b="1" dirty="0"/>
              <a:t>allotment</a:t>
            </a:r>
            <a:r>
              <a:rPr lang="en-US" sz="2400" dirty="0"/>
              <a:t> as the </a:t>
            </a:r>
            <a:r>
              <a:rPr lang="en-US" sz="2400" b="1" dirty="0"/>
              <a:t>amount of time a job can spend at a given priority level before the scheduler reduces its priority</a:t>
            </a:r>
            <a:r>
              <a:rPr lang="en-US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Our first attempt at a </a:t>
            </a:r>
            <a:r>
              <a:rPr lang="en-US" sz="2400" b="1" dirty="0"/>
              <a:t>priority-adjustment algorithm</a:t>
            </a:r>
            <a:r>
              <a:rPr lang="en-US" sz="2400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sz="2000" b="1" dirty="0"/>
              <a:t>Rule 3</a:t>
            </a:r>
            <a:r>
              <a:rPr lang="en-US" sz="2000" dirty="0"/>
              <a:t>: When a job enters the system, it is placed at the highest priority (the topmost queue).</a:t>
            </a:r>
          </a:p>
          <a:p>
            <a:pPr lvl="1">
              <a:lnSpc>
                <a:spcPct val="100000"/>
              </a:lnSpc>
            </a:pPr>
            <a:r>
              <a:rPr lang="en-US" sz="2000" b="1" dirty="0"/>
              <a:t>Rule 4a</a:t>
            </a:r>
            <a:r>
              <a:rPr lang="en-US" sz="2000" dirty="0"/>
              <a:t>: If a job uses up its allotment while running, its priority is reduced (i.e., it moves down one queue).</a:t>
            </a:r>
          </a:p>
          <a:p>
            <a:pPr lvl="1">
              <a:lnSpc>
                <a:spcPct val="100000"/>
              </a:lnSpc>
            </a:pPr>
            <a:r>
              <a:rPr lang="en-US" sz="2000" b="1" dirty="0"/>
              <a:t>Rule 4b</a:t>
            </a:r>
            <a:r>
              <a:rPr lang="en-US" sz="2000" dirty="0"/>
              <a:t>: If a job gives up the CPU (for example, by performing an I/O operation) before the allotment is up, it stays at the same priority level (i.e., its allotment is reset).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This approach assumes an unknown job might be short, giving it high priority first to approximate SJF.</a:t>
            </a:r>
          </a:p>
        </p:txBody>
      </p:sp>
    </p:spTree>
    <p:extLst>
      <p:ext uri="{BB962C8B-B14F-4D97-AF65-F5344CB8AC3E}">
        <p14:creationId xmlns:p14="http://schemas.microsoft.com/office/powerpoint/2010/main" val="16019321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0FDD-E137-4EB7-AF93-6F8D40B2B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DE6D73-00CF-4411-8CB2-BFF77DF0E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679F3E-1D06-4AAB-AAF0-B563CF8B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1777B-3B24-465F-9BE1-10E1ADA6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29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B0532D-2E0F-43F8-B592-883AF4F32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What’s the potential issue?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200" b="1" dirty="0"/>
              <a:t>Starvation</a:t>
            </a:r>
            <a:r>
              <a:rPr lang="en-US" sz="2200" dirty="0"/>
              <a:t>: If there are "too many" interactive jobs in the system, they will combine to consume all CPU time. Long-running jobs will never receive any CPU time (they starve).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200" b="1" dirty="0"/>
              <a:t>Gaming the Scheduler</a:t>
            </a:r>
            <a:r>
              <a:rPr lang="en-US" sz="2200" dirty="0"/>
              <a:t>: A smart user could do something sneaky to trick the scheduler into giving them more than their fair share of the resource. By issuing an I/O operation before the allotment is used, a job can relinquish the CPU and stay in the same queue indefinitely.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200" b="1" dirty="0"/>
              <a:t>Program Phase Changes</a:t>
            </a:r>
            <a:r>
              <a:rPr lang="en-US" sz="2200" dirty="0"/>
              <a:t>: A program may change its behavior over time. A CPU-bound job that transitions to a phase of interactivity would be out of luck and stuck at the lowest priority.</a:t>
            </a:r>
          </a:p>
        </p:txBody>
      </p:sp>
    </p:spTree>
    <p:extLst>
      <p:ext uri="{BB962C8B-B14F-4D97-AF65-F5344CB8AC3E}">
        <p14:creationId xmlns:p14="http://schemas.microsoft.com/office/powerpoint/2010/main" val="397543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0FDD-E137-4EB7-AF93-6F8D40B2B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Boost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DE6D73-00CF-4411-8CB2-BFF77DF0E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679F3E-1D06-4AAB-AAF0-B563CF8B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1777B-3B24-465F-9BE1-10E1ADA6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30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B0532D-2E0F-43F8-B592-883AF4F32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To solve starvation, we need to guarantee that CPU-bound jobs will make some progress.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Rule 5: After some time period S, move all the jobs in the system to the topmost queue.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Benefits: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Processes are guaranteed not to starve.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If a CPU-bound job has become interactive, the scheduler treats it properly once it has received the priority boost.</a:t>
            </a:r>
          </a:p>
          <a:p>
            <a:pPr>
              <a:lnSpc>
                <a:spcPct val="110000"/>
              </a:lnSpc>
            </a:pPr>
            <a:r>
              <a:rPr lang="en-US" dirty="0"/>
              <a:t>Challenge (</a:t>
            </a:r>
            <a:r>
              <a:rPr lang="en-US" b="1" dirty="0" err="1"/>
              <a:t>Ousterhout's</a:t>
            </a:r>
            <a:r>
              <a:rPr lang="en-US" b="1" dirty="0"/>
              <a:t> Law</a:t>
            </a:r>
            <a:r>
              <a:rPr lang="en-US" dirty="0"/>
              <a:t>): What should the time period S be set to? It acts as a "</a:t>
            </a:r>
            <a:r>
              <a:rPr lang="en-US" dirty="0" err="1"/>
              <a:t>voo</a:t>
            </a:r>
            <a:r>
              <a:rPr lang="en-US" dirty="0"/>
              <a:t>-doo constant". If set too high, long jobs starve; if too low, interactive jobs suffer.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1392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0FDD-E137-4EB7-AF93-6F8D40B2B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Gaming the Scheduler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DE6D73-00CF-4411-8CB2-BFF77DF0E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679F3E-1D06-4AAB-AAF0-B563CF8B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1777B-3B24-465F-9BE1-10E1ADA6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31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B0532D-2E0F-43F8-B592-883AF4F32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To prevent gaming the scheduler, we must perform better accounting of CPU time at each level.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Instead of forgetting how much of its allotment a process used when it performs I/O, the scheduler should keep track.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We combine and rewrite Rules 4a and 4b:</a:t>
            </a:r>
          </a:p>
          <a:p>
            <a:pPr lvl="1">
              <a:lnSpc>
                <a:spcPct val="100000"/>
              </a:lnSpc>
            </a:pPr>
            <a:r>
              <a:rPr lang="en-US" sz="2000" b="1" dirty="0"/>
              <a:t>Rule 4</a:t>
            </a:r>
            <a:r>
              <a:rPr lang="en-US" sz="2000" dirty="0"/>
              <a:t>: Once a job uses up its time allotment at a given level (regardless of how many times it has given up the CPU), its priority is reduced (i.e., it moves down one queue).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With better accounting, regardless of I/O behavior, a job slowly moves down the queues and cannot gain an unfair share of the CPU.</a:t>
            </a:r>
          </a:p>
        </p:txBody>
      </p:sp>
    </p:spTree>
    <p:extLst>
      <p:ext uri="{BB962C8B-B14F-4D97-AF65-F5344CB8AC3E}">
        <p14:creationId xmlns:p14="http://schemas.microsoft.com/office/powerpoint/2010/main" val="3874248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0FDD-E137-4EB7-AF93-6F8D40B2B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 MLFQ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DE6D73-00CF-4411-8CB2-BFF77DF0E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679F3E-1D06-4AAB-AAF0-B563CF8B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1777B-3B24-465F-9BE1-10E1ADA6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32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B0532D-2E0F-43F8-B592-883AF4F32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Configuring an MLFQ requires answering several parameterization questions.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How many queues should there be?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How big should the time slice and allotment be?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How often should priority be boosted?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Varying Time Slices: Most MLFQ variants allow for varying time-slice lengths across different queues.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High-priority queues are usually given short time slices (e.g., 10 or fewer milliseconds) for interactive jobs.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Low-priority queues contain long-running CPU-bound jobs, so longer time slices work well (e.g., 100s of </a:t>
            </a:r>
            <a:r>
              <a:rPr lang="en-US" sz="1800" dirty="0" err="1"/>
              <a:t>ms</a:t>
            </a:r>
            <a:r>
              <a:rPr lang="en-US" sz="1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5563919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0FDD-E137-4EB7-AF93-6F8D40B2B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MLFQ Rules Summary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DE6D73-00CF-4411-8CB2-BFF77DF0E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679F3E-1D06-4AAB-AAF0-B563CF8B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1777B-3B24-465F-9BE1-10E1ADA6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33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B0532D-2E0F-43F8-B592-883AF4F32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The MLFQ Rules: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b="1" dirty="0"/>
              <a:t>Rule 1</a:t>
            </a:r>
            <a:r>
              <a:rPr lang="en-US" sz="2000" dirty="0"/>
              <a:t>: If Priority(A) &gt; Priority(B), A runs (B doesn’t).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b="1" dirty="0"/>
              <a:t>Rule 2</a:t>
            </a:r>
            <a:r>
              <a:rPr lang="en-US" sz="2000" dirty="0"/>
              <a:t>: If Priority(A) = Priority(B), A &amp; B run in round-robin fashion using the time slice (quantum length) of the given queue.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b="1" dirty="0"/>
              <a:t>Rule 3</a:t>
            </a:r>
            <a:r>
              <a:rPr lang="en-US" sz="2000" dirty="0"/>
              <a:t>: When a job enters the system, it is placed at the highest priority (the topmost queue).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b="1" dirty="0"/>
              <a:t>Rule 4</a:t>
            </a:r>
            <a:r>
              <a:rPr lang="en-US" sz="2000" dirty="0"/>
              <a:t>: Once a job uses up its time allotment at a given level (regardless of how many times it has given up the CPU), its priority is reduced (i.e., it moves down one queue).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b="1" dirty="0"/>
              <a:t>Rule 5</a:t>
            </a:r>
            <a:r>
              <a:rPr lang="en-US" sz="2000" dirty="0"/>
              <a:t>: After some time period S, move all the jobs in the system to the topmost queue.</a:t>
            </a:r>
          </a:p>
        </p:txBody>
      </p:sp>
    </p:spTree>
    <p:extLst>
      <p:ext uri="{BB962C8B-B14F-4D97-AF65-F5344CB8AC3E}">
        <p14:creationId xmlns:p14="http://schemas.microsoft.com/office/powerpoint/2010/main" val="26779474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344E9-A0EF-4181-A913-6B72940CB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C00AF6-4222-4EE7-B51C-88C00BE1C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794AA5-B653-4EB8-98EF-0A7A53043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4FE7C-9E4A-499C-986F-ADD3CBBD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34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7EC9C4-C520-4C4C-8DEF-B1029538A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Scheduling Trade-offs: CPU scheduling fundamentally balances conflicting metrics: </a:t>
            </a:r>
            <a:r>
              <a:rPr lang="en-US" sz="1800" b="1" dirty="0"/>
              <a:t>Turnaround Time</a:t>
            </a:r>
            <a:r>
              <a:rPr lang="en-US" sz="1800" dirty="0"/>
              <a:t> (optimized by running shortest jobs first) versus </a:t>
            </a:r>
            <a:r>
              <a:rPr lang="en-US" sz="1800" b="1" dirty="0"/>
              <a:t>Response Time </a:t>
            </a:r>
            <a:r>
              <a:rPr lang="en-US" sz="1800" dirty="0"/>
              <a:t>(optimized by frequent context switching/time-slicing).</a:t>
            </a:r>
          </a:p>
          <a:p>
            <a:pPr>
              <a:lnSpc>
                <a:spcPct val="100000"/>
              </a:lnSpc>
            </a:pPr>
            <a:r>
              <a:rPr lang="en-US" sz="1800" b="1" dirty="0"/>
              <a:t>FIFO</a:t>
            </a:r>
            <a:r>
              <a:rPr lang="en-US" sz="1800" dirty="0"/>
              <a:t> and </a:t>
            </a:r>
            <a:r>
              <a:rPr lang="en-US" sz="1800" b="1" dirty="0"/>
              <a:t>SJF</a:t>
            </a:r>
            <a:r>
              <a:rPr lang="en-US" sz="1800" dirty="0"/>
              <a:t> minimize turnaround time but suffer from the convoy effect when jobs arrive dynamically. Round Robin (RR) delivers excellent responsiveness for interactive users but performs poorly for turnaround time.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The </a:t>
            </a:r>
            <a:r>
              <a:rPr lang="en-US" sz="1800" b="1" dirty="0"/>
              <a:t>Multi-Level Feedback Queue (MLFQ) </a:t>
            </a:r>
            <a:r>
              <a:rPr lang="en-US" sz="1800" dirty="0"/>
              <a:t>approximates SJF without a priori knowledge of job runtimes. It achieves this by learning from a job's history.</a:t>
            </a:r>
          </a:p>
          <a:p>
            <a:pPr>
              <a:lnSpc>
                <a:spcPct val="100000"/>
              </a:lnSpc>
            </a:pPr>
            <a:r>
              <a:rPr lang="en-US" sz="1800" b="1" dirty="0"/>
              <a:t>Dynamic Adaptation</a:t>
            </a:r>
            <a:r>
              <a:rPr lang="en-US" sz="1800" dirty="0"/>
              <a:t>: By utilizing multiple queues, penalizing long CPU bursts (priority reduction), rewarding I/O behaviors, and periodically boosting all priorities, MLFQ prevents starvation, prevents gaming, and perfectly balances both responsiveness and turnaround time.</a:t>
            </a:r>
          </a:p>
        </p:txBody>
      </p:sp>
    </p:spTree>
    <p:extLst>
      <p:ext uri="{BB962C8B-B14F-4D97-AF65-F5344CB8AC3E}">
        <p14:creationId xmlns:p14="http://schemas.microsoft.com/office/powerpoint/2010/main" val="24614107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B03AF-6C50-4AB1-F31A-DE10C899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/>
                <a:ea typeface="等线 Light"/>
                <a:cs typeface="Arial"/>
              </a:rPr>
              <a:t>Next Lecture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F83AC3-4EEF-629B-703D-90BD4F5B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039CF7-57B7-27D5-CFC0-4D3588940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FCE09B-2CCC-442C-BD00-3DAFD2573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35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2C07704-5735-2744-0A3D-6CCA11EE1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dirty="0">
                <a:ea typeface="等线"/>
              </a:rPr>
              <a:t>A deeper look into memory virtualization.</a:t>
            </a:r>
          </a:p>
        </p:txBody>
      </p:sp>
    </p:spTree>
    <p:extLst>
      <p:ext uri="{BB962C8B-B14F-4D97-AF65-F5344CB8AC3E}">
        <p14:creationId xmlns:p14="http://schemas.microsoft.com/office/powerpoint/2010/main" val="4222130008"/>
      </p:ext>
    </p:extLst>
  </p:cSld>
  <p:clrMapOvr>
    <a:masterClrMapping/>
  </p:clrMapOvr>
</p:sld>
</file>

<file path=ppt/theme/theme1.xml><?xml version="1.0" encoding="utf-8"?>
<a:theme xmlns:a="http://schemas.openxmlformats.org/drawingml/2006/main" name="AIAC">
  <a:themeElements>
    <a:clrScheme name="AIAC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3AEF1"/>
      </a:accent1>
      <a:accent2>
        <a:srgbClr val="002060"/>
      </a:accent2>
      <a:accent3>
        <a:srgbClr val="A5A5A5"/>
      </a:accent3>
      <a:accent4>
        <a:srgbClr val="58257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1369</TotalTime>
  <Words>3246</Words>
  <Application>Microsoft Office PowerPoint</Application>
  <PresentationFormat>Widescreen</PresentationFormat>
  <Paragraphs>353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Cambria Math</vt:lpstr>
      <vt:lpstr>AIAC</vt:lpstr>
      <vt:lpstr>Computer Architecture and Operating System</vt:lpstr>
      <vt:lpstr>Review</vt:lpstr>
      <vt:lpstr>Content</vt:lpstr>
      <vt:lpstr>Recall</vt:lpstr>
      <vt:lpstr>Assumptions</vt:lpstr>
      <vt:lpstr>Scheduling Metric</vt:lpstr>
      <vt:lpstr>First-In, First-Out (FIFO)</vt:lpstr>
      <vt:lpstr>First-In, First-Out (FIFO)</vt:lpstr>
      <vt:lpstr>First-In, First-Out (FIFO)</vt:lpstr>
      <vt:lpstr>First-In, First-Out (FIFO)</vt:lpstr>
      <vt:lpstr>Shortest Job First (SJF)</vt:lpstr>
      <vt:lpstr>Shortest Job First (SJF)</vt:lpstr>
      <vt:lpstr>Shortest Job First (SJF)</vt:lpstr>
      <vt:lpstr>Shortest Job First (SJF)</vt:lpstr>
      <vt:lpstr>Relax Assumption 3: Preemptive Scheduling</vt:lpstr>
      <vt:lpstr>Shortest Time-to-Completion First (STCF)</vt:lpstr>
      <vt:lpstr>Shortest Time-to-Completion First (STCF)</vt:lpstr>
      <vt:lpstr>Next Metric</vt:lpstr>
      <vt:lpstr>Response Time</vt:lpstr>
      <vt:lpstr>Shortest Time-to-Completion First (STCF)</vt:lpstr>
      <vt:lpstr>Round Robin (RR)</vt:lpstr>
      <vt:lpstr>Round Robin (RR)</vt:lpstr>
      <vt:lpstr>RR Tradeoffs</vt:lpstr>
      <vt:lpstr>Assumption 4: Jobs Perform I/O</vt:lpstr>
      <vt:lpstr>Assumption 4: Jobs Perform I/O</vt:lpstr>
      <vt:lpstr>Relax Assumption 5</vt:lpstr>
      <vt:lpstr>Multi-Level Feedback Queue (MLFQ)</vt:lpstr>
      <vt:lpstr>How To Change Priority</vt:lpstr>
      <vt:lpstr>Next</vt:lpstr>
      <vt:lpstr>Priority Boost</vt:lpstr>
      <vt:lpstr>Gaming the Scheduler</vt:lpstr>
      <vt:lpstr>Tuning MLFQ</vt:lpstr>
      <vt:lpstr>MLFQ Rules Summary</vt:lpstr>
      <vt:lpstr>Conclusion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Tianming Bai</dc:creator>
  <cp:lastModifiedBy>Tianming Bai</cp:lastModifiedBy>
  <cp:revision>1106</cp:revision>
  <dcterms:created xsi:type="dcterms:W3CDTF">2025-10-22T02:43:00Z</dcterms:created>
  <dcterms:modified xsi:type="dcterms:W3CDTF">2026-04-13T00:56:55Z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3DFBA0E403B8423FB8BFD4C8BC3E42ED_13</vt:lpwstr>
  </property>
  <property fmtid="{D5CDD505-2E9C-101B-9397-08002B2CF9AE}" pid="3" name="KSOProductBuildVer">
    <vt:lpwstr>2052-12.1.0.25225</vt:lpwstr>
  </property>
</Properties>
</file>