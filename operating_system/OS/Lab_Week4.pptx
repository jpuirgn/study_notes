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356" r:id="rId2"/>
    <p:sldId id="367" r:id="rId3"/>
    <p:sldId id="387" r:id="rId4"/>
    <p:sldId id="368" r:id="rId5"/>
    <p:sldId id="375" r:id="rId6"/>
    <p:sldId id="376" r:id="rId7"/>
    <p:sldId id="377" r:id="rId8"/>
    <p:sldId id="369" r:id="rId9"/>
    <p:sldId id="370" r:id="rId10"/>
    <p:sldId id="378" r:id="rId11"/>
    <p:sldId id="371" r:id="rId12"/>
    <p:sldId id="373" r:id="rId13"/>
    <p:sldId id="390" r:id="rId14"/>
    <p:sldId id="374" r:id="rId15"/>
    <p:sldId id="380" r:id="rId16"/>
    <p:sldId id="381" r:id="rId17"/>
    <p:sldId id="382" r:id="rId18"/>
    <p:sldId id="383" r:id="rId19"/>
    <p:sldId id="384" r:id="rId20"/>
    <p:sldId id="372" r:id="rId21"/>
    <p:sldId id="385" r:id="rId22"/>
    <p:sldId id="386" r:id="rId23"/>
    <p:sldId id="388" r:id="rId24"/>
    <p:sldId id="389" r:id="rId25"/>
    <p:sldId id="391" r:id="rId26"/>
    <p:sldId id="392" r:id="rId27"/>
    <p:sldId id="39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AEF1"/>
    <a:srgbClr val="582579"/>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88" d="100"/>
          <a:sy n="88" d="100"/>
        </p:scale>
        <p:origin x="96" y="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A9278-991E-4FC4-A092-547ADFE43B77}"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16CDF-66D6-42F5-82AB-44061AC83CC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79A912-BA0F-455A-9008-30C412343B55}" type="datetimeFigureOut">
              <a:rPr lang="en-US" smtClean="0"/>
              <a:t>3/24/2026</a:t>
            </a:fld>
            <a:endParaRPr lang="en-US"/>
          </a:p>
        </p:txBody>
      </p:sp>
      <p:sp>
        <p:nvSpPr>
          <p:cNvPr id="5" name="Footer Placeholder 4"/>
          <p:cNvSpPr>
            <a:spLocks noGrp="1"/>
          </p:cNvSpPr>
          <p:nvPr>
            <p:ph type="ftr" sz="quarter" idx="11"/>
          </p:nvPr>
        </p:nvSpPr>
        <p:spPr/>
        <p:txBody>
          <a:bodyPr/>
          <a:lstStyle/>
          <a:p>
            <a:r>
              <a:rPr lang="en-US"/>
              <a:t>School of AI and Advanced Computing, XJTLU</a:t>
            </a:r>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pic>
        <p:nvPicPr>
          <p:cNvPr id="7" name="图片 6" descr="AIAC_logo"/>
          <p:cNvPicPr>
            <a:picLocks noChangeAspect="1"/>
          </p:cNvPicPr>
          <p:nvPr userDrawn="1"/>
        </p:nvPicPr>
        <p:blipFill>
          <a:blip r:embed="rId2"/>
          <a:stretch>
            <a:fillRect/>
          </a:stretch>
        </p:blipFill>
        <p:spPr>
          <a:xfrm>
            <a:off x="10549890" y="5742940"/>
            <a:ext cx="1457960" cy="924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79A912-BA0F-455A-9008-30C412343B55}" type="datetimeFigureOut">
              <a:rPr lang="en-US" smtClean="0"/>
              <a:t>3/24/2026</a:t>
            </a:fld>
            <a:endParaRPr lang="en-US"/>
          </a:p>
        </p:txBody>
      </p:sp>
      <p:sp>
        <p:nvSpPr>
          <p:cNvPr id="5" name="Footer Placeholder 4"/>
          <p:cNvSpPr>
            <a:spLocks noGrp="1"/>
          </p:cNvSpPr>
          <p:nvPr>
            <p:ph type="ftr" sz="quarter" idx="11"/>
          </p:nvPr>
        </p:nvSpPr>
        <p:spPr/>
        <p:txBody>
          <a:bodyPr/>
          <a:lstStyle/>
          <a:p>
            <a:r>
              <a:rPr lang="en-US">
                <a:sym typeface="+mn-ea"/>
              </a:rPr>
              <a:t>School of AI and Advanced Computing, XJTLU</a:t>
            </a:r>
            <a:endParaRPr lang="en-US"/>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pic>
        <p:nvPicPr>
          <p:cNvPr id="7" name="图片 6" descr="AIAC_logo"/>
          <p:cNvPicPr>
            <a:picLocks noChangeAspect="1"/>
          </p:cNvPicPr>
          <p:nvPr userDrawn="1"/>
        </p:nvPicPr>
        <p:blipFill>
          <a:blip r:embed="rId2"/>
          <a:stretch>
            <a:fillRect/>
          </a:stretch>
        </p:blipFill>
        <p:spPr>
          <a:xfrm>
            <a:off x="10549890" y="5742940"/>
            <a:ext cx="1457960" cy="9245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79A912-BA0F-455A-9008-30C412343B55}" type="datetimeFigureOut">
              <a:rPr lang="en-US" smtClean="0"/>
              <a:t>3/24/2026</a:t>
            </a:fld>
            <a:endParaRPr lang="en-US"/>
          </a:p>
        </p:txBody>
      </p:sp>
      <p:sp>
        <p:nvSpPr>
          <p:cNvPr id="5" name="Footer Placeholder 4"/>
          <p:cNvSpPr>
            <a:spLocks noGrp="1"/>
          </p:cNvSpPr>
          <p:nvPr>
            <p:ph type="ftr" sz="quarter" idx="11"/>
          </p:nvPr>
        </p:nvSpPr>
        <p:spPr/>
        <p:txBody>
          <a:bodyPr/>
          <a:lstStyle/>
          <a:p>
            <a:r>
              <a:rPr lang="en-US">
                <a:sym typeface="+mn-ea"/>
              </a:rPr>
              <a:t>School of AI and Advanced Computing, XJTLU</a:t>
            </a:r>
            <a:endParaRPr lang="en-US"/>
          </a:p>
          <a:p>
            <a:endParaRPr lang="en-US"/>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79A912-BA0F-455A-9008-30C412343B55}" type="datetimeFigureOut">
              <a:rPr lang="en-US" smtClean="0"/>
              <a:t>3/24/2026</a:t>
            </a:fld>
            <a:endParaRPr lang="en-US"/>
          </a:p>
        </p:txBody>
      </p:sp>
      <p:sp>
        <p:nvSpPr>
          <p:cNvPr id="6" name="Footer Placeholder 5"/>
          <p:cNvSpPr>
            <a:spLocks noGrp="1"/>
          </p:cNvSpPr>
          <p:nvPr>
            <p:ph type="ftr" sz="quarter" idx="11"/>
          </p:nvPr>
        </p:nvSpPr>
        <p:spPr/>
        <p:txBody>
          <a:bodyPr/>
          <a:lstStyle/>
          <a:p>
            <a:r>
              <a:rPr lang="en-US">
                <a:sym typeface="+mn-ea"/>
              </a:rPr>
              <a:t>School of AI and Advanced Computing, XJTLU</a:t>
            </a:r>
            <a:endParaRPr lang="en-US"/>
          </a:p>
        </p:txBody>
      </p:sp>
      <p:sp>
        <p:nvSpPr>
          <p:cNvPr id="7" name="Slide Number Placeholder 6"/>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79A912-BA0F-455A-9008-30C412343B55}"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79A912-BA0F-455A-9008-30C412343B55}"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79A912-BA0F-455A-9008-30C412343B55}"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79A912-BA0F-455A-9008-30C412343B55}"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79A912-BA0F-455A-9008-30C412343B55}"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79A912-BA0F-455A-9008-30C412343B55}"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79A912-BA0F-455A-9008-30C412343B55}"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lnSpc>
                <a:spcPct val="90000"/>
              </a:lnSpc>
              <a:defRPr sz="6000"/>
            </a:lvl1pPr>
          </a:lstStyle>
          <a:p>
            <a:r>
              <a:rPr lang="en-US"/>
              <a:t>Click to edit Master title style</a:t>
            </a:r>
          </a:p>
        </p:txBody>
      </p:sp>
      <p:sp>
        <p:nvSpPr>
          <p:cNvPr id="3" name="Text Placeholder 2"/>
          <p:cNvSpPr>
            <a:spLocks noGrp="1"/>
          </p:cNvSpPr>
          <p:nvPr>
            <p:ph type="body" idx="1"/>
          </p:nvPr>
        </p:nvSpPr>
        <p:spPr>
          <a:xfrm>
            <a:off x="831850" y="4745355"/>
            <a:ext cx="7647305" cy="664210"/>
          </a:xfrm>
        </p:spPr>
        <p:txBody>
          <a:bodyPr/>
          <a:lstStyle>
            <a:lvl1pPr marL="0" indent="0">
              <a:buNone/>
              <a:defRPr sz="4000" b="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79A912-BA0F-455A-9008-30C412343B55}" type="datetime1">
              <a:rPr lang="en-US" smtClean="0"/>
              <a:t>3/24/2026</a:t>
            </a:fld>
            <a:endParaRPr lang="en-US"/>
          </a:p>
        </p:txBody>
      </p:sp>
      <p:sp>
        <p:nvSpPr>
          <p:cNvPr id="5" name="Footer Placeholder 4"/>
          <p:cNvSpPr>
            <a:spLocks noGrp="1"/>
          </p:cNvSpPr>
          <p:nvPr>
            <p:ph type="ftr" sz="quarter" idx="11"/>
          </p:nvPr>
        </p:nvSpPr>
        <p:spPr/>
        <p:txBody>
          <a:bodyPr/>
          <a:lstStyle/>
          <a:p>
            <a:r>
              <a:rPr lang="en-US">
                <a:sym typeface="+mn-ea"/>
              </a:rPr>
              <a:t>School of AI and Advanced Computing, XJTLU</a:t>
            </a:r>
            <a:endParaRPr lang="en-US"/>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sp>
        <p:nvSpPr>
          <p:cNvPr id="8" name="Text Placeholder 2"/>
          <p:cNvSpPr>
            <a:spLocks noGrp="1"/>
          </p:cNvSpPr>
          <p:nvPr>
            <p:ph type="body" idx="13"/>
          </p:nvPr>
        </p:nvSpPr>
        <p:spPr>
          <a:xfrm>
            <a:off x="838200" y="5536565"/>
            <a:ext cx="7647305" cy="664210"/>
          </a:xfrm>
        </p:spPr>
        <p:txBody>
          <a:bodyPr/>
          <a:lstStyle>
            <a:lvl1pPr marL="0" indent="0" algn="r">
              <a:buNone/>
              <a:defRPr sz="2400" b="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6751785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305165" cy="1072515"/>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779A912-BA0F-455A-9008-30C412343B55}" type="datetime1">
              <a:rPr lang="en-US" smtClean="0"/>
              <a:t>3/24/2026</a:t>
            </a:fld>
            <a:endParaRPr lang="en-US"/>
          </a:p>
        </p:txBody>
      </p:sp>
      <p:sp>
        <p:nvSpPr>
          <p:cNvPr id="4" name="Footer Placeholder 3"/>
          <p:cNvSpPr>
            <a:spLocks noGrp="1"/>
          </p:cNvSpPr>
          <p:nvPr>
            <p:ph type="ftr" sz="quarter" idx="11"/>
          </p:nvPr>
        </p:nvSpPr>
        <p:spPr/>
        <p:txBody>
          <a:bodyPr/>
          <a:lstStyle/>
          <a:p>
            <a:r>
              <a:rPr lang="en-US">
                <a:sym typeface="+mn-ea"/>
              </a:rPr>
              <a:t>School of AI and Advanced Computing, XJTLU</a:t>
            </a:r>
            <a:endParaRPr lang="en-US"/>
          </a:p>
        </p:txBody>
      </p:sp>
      <p:sp>
        <p:nvSpPr>
          <p:cNvPr id="5" name="Slide Number Placeholder 4"/>
          <p:cNvSpPr>
            <a:spLocks noGrp="1"/>
          </p:cNvSpPr>
          <p:nvPr>
            <p:ph type="sldNum" sz="quarter" idx="12"/>
          </p:nvPr>
        </p:nvSpPr>
        <p:spPr/>
        <p:txBody>
          <a:bodyPr/>
          <a:lstStyle/>
          <a:p>
            <a:fld id="{9146477A-3083-4652-9A53-6C94B28E95E9}" type="slidenum">
              <a:rPr lang="en-US" smtClean="0"/>
              <a:t>‹#›</a:t>
            </a:fld>
            <a:endParaRPr lang="en-US"/>
          </a:p>
        </p:txBody>
      </p:sp>
      <p:sp>
        <p:nvSpPr>
          <p:cNvPr id="6"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62669"/>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79A912-BA0F-455A-9008-30C412343B55}" type="datetimeFigureOut">
              <a:rPr lang="en-US" smtClean="0"/>
              <a:t>3/24/2026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ym typeface="+mn-ea"/>
              </a:rPr>
              <a:t>School of AI and Advanced Computing, XJTLU</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46477A-3083-4652-9A53-6C94B28E95E9}" type="slidenum">
              <a:rPr lang="en-US" smtClean="0"/>
              <a:t>‹#›</a:t>
            </a:fld>
            <a:endParaRPr lang="en-US"/>
          </a:p>
        </p:txBody>
      </p:sp>
      <p:pic>
        <p:nvPicPr>
          <p:cNvPr id="7" name="图片 6" descr="AIAC_logo"/>
          <p:cNvPicPr>
            <a:picLocks noChangeAspect="1"/>
          </p:cNvPicPr>
          <p:nvPr userDrawn="1"/>
        </p:nvPicPr>
        <p:blipFill>
          <a:blip r:embed="rId16"/>
          <a:stretch>
            <a:fillRect/>
          </a:stretch>
        </p:blipFill>
        <p:spPr>
          <a:xfrm>
            <a:off x="10549890" y="5742940"/>
            <a:ext cx="1457960" cy="924560"/>
          </a:xfrm>
          <a:prstGeom prst="rect">
            <a:avLst/>
          </a:prstGeom>
        </p:spPr>
      </p:pic>
      <p:sp>
        <p:nvSpPr>
          <p:cNvPr id="8" name="矩形 7"/>
          <p:cNvSpPr/>
          <p:nvPr userDrawn="1"/>
        </p:nvSpPr>
        <p:spPr>
          <a:xfrm>
            <a:off x="848995" y="357505"/>
            <a:ext cx="746760" cy="124460"/>
          </a:xfrm>
          <a:prstGeom prst="rect">
            <a:avLst/>
          </a:prstGeom>
          <a:solidFill>
            <a:srgbClr val="53AE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Week 4 Lab</a:t>
            </a:r>
            <a:endParaRPr lang="zh-CN" altLang="en-US" dirty="0"/>
          </a:p>
        </p:txBody>
      </p:sp>
      <p:sp>
        <p:nvSpPr>
          <p:cNvPr id="7" name="文本占位符 6"/>
          <p:cNvSpPr>
            <a:spLocks noGrp="1"/>
          </p:cNvSpPr>
          <p:nvPr>
            <p:ph type="body" idx="13"/>
          </p:nvPr>
        </p:nvSpPr>
        <p:spPr/>
        <p:txBody>
          <a:bodyPr/>
          <a:lstStyle/>
          <a:p>
            <a:r>
              <a:rPr lang="en-US" altLang="zh-CN"/>
              <a:t>Lecturer: Tianming Bai</a:t>
            </a:r>
          </a:p>
        </p:txBody>
      </p:sp>
      <p:sp>
        <p:nvSpPr>
          <p:cNvPr id="2" name="日期占位符 1"/>
          <p:cNvSpPr>
            <a:spLocks noGrp="1"/>
          </p:cNvSpPr>
          <p:nvPr>
            <p:ph type="dt" sz="half" idx="10"/>
          </p:nvPr>
        </p:nvSpPr>
        <p:spPr/>
        <p:txBody>
          <a:bodyPr/>
          <a:lstStyle/>
          <a:p>
            <a:fld id="{C779A912-BA0F-455A-9008-30C412343B55}" type="datetime1">
              <a:rPr lang="en-US" smtClean="0"/>
              <a:t>3/24/2026</a:t>
            </a:fld>
            <a:endParaRPr lang="en-US"/>
          </a:p>
        </p:txBody>
      </p:sp>
      <p:sp>
        <p:nvSpPr>
          <p:cNvPr id="3" name="页脚占位符 2"/>
          <p:cNvSpPr>
            <a:spLocks noGrp="1"/>
          </p:cNvSpPr>
          <p:nvPr>
            <p:ph type="ftr" sz="quarter" idx="11"/>
          </p:nvPr>
        </p:nvSpPr>
        <p:spPr/>
        <p:txBody>
          <a:bodyPr/>
          <a:lstStyle/>
          <a:p>
            <a:r>
              <a:rPr lang="en-US">
                <a:sym typeface="+mn-ea"/>
              </a:rPr>
              <a:t>School of AI and Advanced Computing, XJTLU</a:t>
            </a:r>
            <a:endParaRPr lang="en-US"/>
          </a:p>
        </p:txBody>
      </p:sp>
      <p:sp>
        <p:nvSpPr>
          <p:cNvPr id="4" name="灯片编号占位符 3"/>
          <p:cNvSpPr>
            <a:spLocks noGrp="1"/>
          </p:cNvSpPr>
          <p:nvPr>
            <p:ph type="sldNum" sz="quarter" idx="12"/>
          </p:nvPr>
        </p:nvSpPr>
        <p:spPr/>
        <p:txBody>
          <a:bodyPr/>
          <a:lstStyle/>
          <a:p>
            <a:fld id="{9146477A-3083-4652-9A53-6C94B28E95E9}"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FB064-F10F-E080-3EC5-8ACE29540F6A}"/>
              </a:ext>
            </a:extLst>
          </p:cNvPr>
          <p:cNvSpPr>
            <a:spLocks noGrp="1"/>
          </p:cNvSpPr>
          <p:nvPr>
            <p:ph type="title"/>
          </p:nvPr>
        </p:nvSpPr>
        <p:spPr>
          <a:xfrm>
            <a:off x="838200" y="365125"/>
            <a:ext cx="10818936" cy="1072515"/>
          </a:xfrm>
        </p:spPr>
        <p:txBody>
          <a:bodyPr>
            <a:normAutofit/>
          </a:bodyPr>
          <a:lstStyle/>
          <a:p>
            <a:r>
              <a:rPr lang="en-US" altLang="zh-CN" dirty="0">
                <a:latin typeface="Arial"/>
                <a:ea typeface="等线 Light"/>
                <a:cs typeface="Arial"/>
              </a:rPr>
              <a:t>TO DO</a:t>
            </a:r>
            <a:endParaRPr lang="zh-CN" altLang="en-US" dirty="0">
              <a:latin typeface="Arial"/>
              <a:ea typeface="等线 Light"/>
              <a:cs typeface="Arial"/>
            </a:endParaRPr>
          </a:p>
        </p:txBody>
      </p:sp>
      <p:sp>
        <p:nvSpPr>
          <p:cNvPr id="3" name="日期占位符 2">
            <a:extLst>
              <a:ext uri="{FF2B5EF4-FFF2-40B4-BE49-F238E27FC236}">
                <a16:creationId xmlns:a16="http://schemas.microsoft.com/office/drawing/2014/main" id="{BAA5CDC3-414C-5F7F-FC18-231087A6727F}"/>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269080D4-83E9-B6DE-E039-25C81E93C74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8AE316F8-3107-2405-41B2-105F38CEC844}"/>
              </a:ext>
            </a:extLst>
          </p:cNvPr>
          <p:cNvSpPr>
            <a:spLocks noGrp="1"/>
          </p:cNvSpPr>
          <p:nvPr>
            <p:ph type="sldNum" sz="quarter" idx="12"/>
          </p:nvPr>
        </p:nvSpPr>
        <p:spPr/>
        <p:txBody>
          <a:bodyPr/>
          <a:lstStyle/>
          <a:p>
            <a:fld id="{9146477A-3083-4652-9A53-6C94B28E95E9}" type="slidenum">
              <a:rPr lang="en-US" smtClean="0"/>
              <a:t>2</a:t>
            </a:fld>
            <a:endParaRPr lang="en-US"/>
          </a:p>
        </p:txBody>
      </p:sp>
      <p:sp>
        <p:nvSpPr>
          <p:cNvPr id="6" name="文本占位符 5">
            <a:extLst>
              <a:ext uri="{FF2B5EF4-FFF2-40B4-BE49-F238E27FC236}">
                <a16:creationId xmlns:a16="http://schemas.microsoft.com/office/drawing/2014/main" id="{78C15850-A2DA-9BC4-5A4B-891B4D33CBB2}"/>
              </a:ext>
            </a:extLst>
          </p:cNvPr>
          <p:cNvSpPr>
            <a:spLocks noGrp="1"/>
          </p:cNvSpPr>
          <p:nvPr>
            <p:ph type="body" idx="1"/>
          </p:nvPr>
        </p:nvSpPr>
        <p:spPr>
          <a:xfrm>
            <a:off x="838200" y="1654709"/>
            <a:ext cx="10515600" cy="4351338"/>
          </a:xfrm>
        </p:spPr>
        <p:txBody>
          <a:bodyPr vert="horz" lIns="91440" tIns="45720" rIns="91440" bIns="45720" rtlCol="0" anchor="t">
            <a:normAutofit/>
          </a:bodyPr>
          <a:lstStyle/>
          <a:p>
            <a:pPr marL="0" indent="0">
              <a:buNone/>
            </a:pPr>
            <a:r>
              <a:rPr lang="en-US" altLang="zh-CN" sz="2000" dirty="0"/>
              <a:t>Based on the feedback received during the lecture and through our recent quiz, I know many of you have been struggling to connect the foundational concepts from Week 2 with the more advanced RISC-V and pipeline topics we’ve covered since.</a:t>
            </a:r>
          </a:p>
          <a:p>
            <a:pPr marL="0" indent="0">
              <a:buNone/>
            </a:pPr>
            <a:r>
              <a:rPr lang="en-US" altLang="zh-CN" sz="2000" dirty="0"/>
              <a:t>This lab will be a structured review session designed to help you:</a:t>
            </a:r>
          </a:p>
          <a:p>
            <a:pPr lvl="1"/>
            <a:r>
              <a:rPr lang="en-US" altLang="zh-CN" sz="1800" dirty="0"/>
              <a:t>Diagnose exactly where your knowledge gaps are,</a:t>
            </a:r>
          </a:p>
          <a:p>
            <a:pPr lvl="1"/>
            <a:r>
              <a:rPr lang="en-US" altLang="zh-CN" sz="1800" dirty="0"/>
              <a:t>Re-master the core MARIE and Von Neumann architecture concepts you need to move forward,</a:t>
            </a:r>
          </a:p>
          <a:p>
            <a:pPr lvl="1"/>
            <a:r>
              <a:rPr lang="en-US" altLang="zh-CN" sz="1800" dirty="0"/>
              <a:t>Build confidence with the </a:t>
            </a:r>
            <a:r>
              <a:rPr lang="en-US" altLang="zh-CN" sz="1800" dirty="0" err="1"/>
              <a:t>Ripes</a:t>
            </a:r>
            <a:r>
              <a:rPr lang="en-US" altLang="zh-CN" sz="1800" dirty="0"/>
              <a:t> simulator and assembly logic,</a:t>
            </a:r>
          </a:p>
          <a:p>
            <a:pPr lvl="1"/>
            <a:r>
              <a:rPr lang="en-US" altLang="zh-CN" sz="1800" dirty="0"/>
              <a:t>Get clear, step-by-step answers to the questions you’ve been asking.</a:t>
            </a:r>
          </a:p>
          <a:p>
            <a:pPr marL="0" indent="0">
              <a:buNone/>
            </a:pPr>
            <a:r>
              <a:rPr lang="en-US" altLang="zh-CN" sz="2200" dirty="0"/>
              <a:t>We’ll start with a quick self-check to help you identify what you need to review, then walk through every key concept, tool, and experiment from the past weeks together. Next week, we will finish the Computer Architecture part and have a transition to the Operating System. This is your chance to catch up, ask questions, and make sure you’re fully prepared for the rest of the course.</a:t>
            </a:r>
          </a:p>
          <a:p>
            <a:endParaRPr lang="en-US" altLang="zh-CN" dirty="0">
              <a:ea typeface="等线" panose="02010600030101010101" pitchFamily="2" charset="-122"/>
            </a:endParaRPr>
          </a:p>
          <a:p>
            <a:endParaRPr lang="en-US" altLang="zh-CN" dirty="0">
              <a:ea typeface="等线" panose="02010600030101010101" pitchFamily="2" charset="-122"/>
            </a:endParaRPr>
          </a:p>
        </p:txBody>
      </p:sp>
    </p:spTree>
    <p:extLst>
      <p:ext uri="{BB962C8B-B14F-4D97-AF65-F5344CB8AC3E}">
        <p14:creationId xmlns:p14="http://schemas.microsoft.com/office/powerpoint/2010/main" val="4022955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C1E7FB-2A3A-B6D9-2E34-102FA266574C}"/>
              </a:ext>
            </a:extLst>
          </p:cNvPr>
          <p:cNvSpPr>
            <a:spLocks noGrp="1"/>
          </p:cNvSpPr>
          <p:nvPr>
            <p:ph type="title"/>
          </p:nvPr>
        </p:nvSpPr>
        <p:spPr/>
        <p:txBody>
          <a:bodyPr/>
          <a:lstStyle/>
          <a:p>
            <a:r>
              <a:rPr lang="en-US" altLang="zh-CN" dirty="0"/>
              <a:t>Self-Check Instructions</a:t>
            </a:r>
            <a:endParaRPr lang="zh-CN" altLang="en-US" dirty="0"/>
          </a:p>
        </p:txBody>
      </p:sp>
      <p:sp>
        <p:nvSpPr>
          <p:cNvPr id="3" name="日期占位符 2">
            <a:extLst>
              <a:ext uri="{FF2B5EF4-FFF2-40B4-BE49-F238E27FC236}">
                <a16:creationId xmlns:a16="http://schemas.microsoft.com/office/drawing/2014/main" id="{55DB8C4B-D059-3862-B3A6-D9C0FBA16723}"/>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2D21E8A4-A736-1C87-9636-8062E9DE90CF}"/>
              </a:ext>
            </a:extLst>
          </p:cNvPr>
          <p:cNvSpPr>
            <a:spLocks noGrp="1"/>
          </p:cNvSpPr>
          <p:nvPr>
            <p:ph type="ftr" sz="quarter" idx="11"/>
          </p:nvPr>
        </p:nvSpPr>
        <p:spPr/>
        <p:txBody>
          <a:bodyPr/>
          <a:lstStyle/>
          <a:p>
            <a:r>
              <a:rPr lang="en-US" dirty="0">
                <a:sym typeface="+mn-ea"/>
              </a:rPr>
              <a:t>School of AI and Advanced Computing, XJTLU</a:t>
            </a:r>
            <a:endParaRPr lang="en-US" dirty="0"/>
          </a:p>
        </p:txBody>
      </p:sp>
      <p:sp>
        <p:nvSpPr>
          <p:cNvPr id="5" name="灯片编号占位符 4">
            <a:extLst>
              <a:ext uri="{FF2B5EF4-FFF2-40B4-BE49-F238E27FC236}">
                <a16:creationId xmlns:a16="http://schemas.microsoft.com/office/drawing/2014/main" id="{E5B85FD0-59AB-AC1F-8A4A-B8374F29EE5F}"/>
              </a:ext>
            </a:extLst>
          </p:cNvPr>
          <p:cNvSpPr>
            <a:spLocks noGrp="1"/>
          </p:cNvSpPr>
          <p:nvPr>
            <p:ph type="sldNum" sz="quarter" idx="12"/>
          </p:nvPr>
        </p:nvSpPr>
        <p:spPr/>
        <p:txBody>
          <a:bodyPr/>
          <a:lstStyle/>
          <a:p>
            <a:fld id="{9146477A-3083-4652-9A53-6C94B28E95E9}" type="slidenum">
              <a:rPr lang="en-US" smtClean="0"/>
              <a:t>3</a:t>
            </a:fld>
            <a:endParaRPr lang="en-US"/>
          </a:p>
        </p:txBody>
      </p:sp>
      <p:sp>
        <p:nvSpPr>
          <p:cNvPr id="6" name="文本占位符 5">
            <a:extLst>
              <a:ext uri="{FF2B5EF4-FFF2-40B4-BE49-F238E27FC236}">
                <a16:creationId xmlns:a16="http://schemas.microsoft.com/office/drawing/2014/main" id="{FAFF484E-47B6-789E-631F-B832508068F8}"/>
              </a:ext>
            </a:extLst>
          </p:cNvPr>
          <p:cNvSpPr>
            <a:spLocks noGrp="1"/>
          </p:cNvSpPr>
          <p:nvPr>
            <p:ph type="body" idx="1"/>
          </p:nvPr>
        </p:nvSpPr>
        <p:spPr/>
        <p:txBody>
          <a:bodyPr/>
          <a:lstStyle/>
          <a:p>
            <a:pPr marL="0" indent="0">
              <a:buNone/>
            </a:pPr>
            <a:r>
              <a:rPr lang="en-US" altLang="zh-CN" dirty="0"/>
              <a:t>This self-check is designed to help you assess your current mastery of core concepts from our previous lectures and labs, identify knowledge gaps, and confirm you are fully prepared for this week’s lab activities.</a:t>
            </a:r>
          </a:p>
          <a:p>
            <a:pPr marL="0" indent="0">
              <a:buNone/>
            </a:pPr>
            <a:r>
              <a:rPr lang="en-US" altLang="zh-CN" dirty="0"/>
              <a:t>We have split the self-check into 3 sections, for each section:</a:t>
            </a:r>
          </a:p>
          <a:p>
            <a:pPr lvl="1"/>
            <a:r>
              <a:rPr lang="en-US" altLang="zh-CN" dirty="0"/>
              <a:t>Please complete all questions independently to get an accurate view of your learning progress.</a:t>
            </a:r>
          </a:p>
          <a:p>
            <a:pPr lvl="1"/>
            <a:r>
              <a:rPr lang="en-US" altLang="zh-CN" dirty="0"/>
              <a:t>The correct answers for all questions in this self-check are provided on the page 20 - 22 of this lab PPT. You can check and grade your answers after you finish the full self-check.</a:t>
            </a:r>
            <a:endParaRPr lang="zh-CN" altLang="en-US" dirty="0"/>
          </a:p>
        </p:txBody>
      </p:sp>
    </p:spTree>
    <p:extLst>
      <p:ext uri="{BB962C8B-B14F-4D97-AF65-F5344CB8AC3E}">
        <p14:creationId xmlns:p14="http://schemas.microsoft.com/office/powerpoint/2010/main" val="1499926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EB9725-9BFE-84CD-B9D3-B26DFF1D65D7}"/>
              </a:ext>
            </a:extLst>
          </p:cNvPr>
          <p:cNvSpPr>
            <a:spLocks noGrp="1"/>
          </p:cNvSpPr>
          <p:nvPr>
            <p:ph type="title"/>
          </p:nvPr>
        </p:nvSpPr>
        <p:spPr>
          <a:xfrm>
            <a:off x="838200" y="365125"/>
            <a:ext cx="11890572" cy="1072515"/>
          </a:xfrm>
        </p:spPr>
        <p:txBody>
          <a:bodyPr>
            <a:normAutofit/>
          </a:bodyPr>
          <a:lstStyle/>
          <a:p>
            <a:r>
              <a:rPr lang="en-US" altLang="zh-CN" dirty="0"/>
              <a:t>Section 1: Week 2 Lecture Check</a:t>
            </a:r>
            <a:endParaRPr lang="zh-CN" altLang="en-US" dirty="0"/>
          </a:p>
        </p:txBody>
      </p:sp>
      <p:sp>
        <p:nvSpPr>
          <p:cNvPr id="3" name="日期占位符 2">
            <a:extLst>
              <a:ext uri="{FF2B5EF4-FFF2-40B4-BE49-F238E27FC236}">
                <a16:creationId xmlns:a16="http://schemas.microsoft.com/office/drawing/2014/main" id="{A1BA1827-CF35-82AD-F384-4260A47B698E}"/>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03DC5848-C9AA-A821-6D1D-A1769FEF3C37}"/>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0F2A63F3-CDB6-4663-B910-11EF03F96529}"/>
              </a:ext>
            </a:extLst>
          </p:cNvPr>
          <p:cNvSpPr>
            <a:spLocks noGrp="1"/>
          </p:cNvSpPr>
          <p:nvPr>
            <p:ph type="sldNum" sz="quarter" idx="12"/>
          </p:nvPr>
        </p:nvSpPr>
        <p:spPr/>
        <p:txBody>
          <a:bodyPr/>
          <a:lstStyle/>
          <a:p>
            <a:fld id="{9146477A-3083-4652-9A53-6C94B28E95E9}" type="slidenum">
              <a:rPr lang="en-US" smtClean="0"/>
              <a:t>4</a:t>
            </a:fld>
            <a:endParaRPr lang="en-US"/>
          </a:p>
        </p:txBody>
      </p:sp>
      <p:sp>
        <p:nvSpPr>
          <p:cNvPr id="6" name="文本占位符 5">
            <a:extLst>
              <a:ext uri="{FF2B5EF4-FFF2-40B4-BE49-F238E27FC236}">
                <a16:creationId xmlns:a16="http://schemas.microsoft.com/office/drawing/2014/main" id="{50382255-4393-0C4F-F6BB-954D0AB966C6}"/>
              </a:ext>
            </a:extLst>
          </p:cNvPr>
          <p:cNvSpPr>
            <a:spLocks noGrp="1"/>
          </p:cNvSpPr>
          <p:nvPr>
            <p:ph type="body" idx="1"/>
          </p:nvPr>
        </p:nvSpPr>
        <p:spPr/>
        <p:txBody>
          <a:bodyPr/>
          <a:lstStyle/>
          <a:p>
            <a:r>
              <a:rPr lang="en-US" altLang="zh-CN" dirty="0"/>
              <a:t>What is the core idea of the Von Neumann Architecture?</a:t>
            </a:r>
          </a:p>
          <a:p>
            <a:pPr marL="457200" lvl="1" indent="0">
              <a:buNone/>
            </a:pPr>
            <a:r>
              <a:rPr lang="en-US" altLang="zh-CN" dirty="0"/>
              <a:t>A. Instructions and data are stored in the same memory</a:t>
            </a:r>
          </a:p>
          <a:p>
            <a:pPr marL="457200" lvl="1" indent="0">
              <a:buNone/>
            </a:pPr>
            <a:r>
              <a:rPr lang="en-US" altLang="zh-CN" dirty="0"/>
              <a:t>B. The CPU uses a pipeline to speed up execution</a:t>
            </a:r>
          </a:p>
          <a:p>
            <a:pPr marL="457200" lvl="1" indent="0">
              <a:buNone/>
            </a:pPr>
            <a:r>
              <a:rPr lang="en-US" altLang="zh-CN" dirty="0"/>
              <a:t>C. The CPU has multiple general-purpose registers</a:t>
            </a:r>
          </a:p>
          <a:p>
            <a:pPr marL="457200" lvl="1" indent="0">
              <a:buNone/>
            </a:pPr>
            <a:r>
              <a:rPr lang="en-US" altLang="zh-CN" dirty="0"/>
              <a:t>D. Programs can only run on a single specific processor</a:t>
            </a:r>
            <a:endParaRPr lang="zh-CN" altLang="en-US" dirty="0"/>
          </a:p>
        </p:txBody>
      </p:sp>
    </p:spTree>
    <p:extLst>
      <p:ext uri="{BB962C8B-B14F-4D97-AF65-F5344CB8AC3E}">
        <p14:creationId xmlns:p14="http://schemas.microsoft.com/office/powerpoint/2010/main" val="4052954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EECA5-AF62-51B2-94FF-301899A3E9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E858612-AD35-5D8B-40A4-51B0AFA058F9}"/>
              </a:ext>
            </a:extLst>
          </p:cNvPr>
          <p:cNvSpPr>
            <a:spLocks noGrp="1"/>
          </p:cNvSpPr>
          <p:nvPr>
            <p:ph type="title"/>
          </p:nvPr>
        </p:nvSpPr>
        <p:spPr>
          <a:xfrm>
            <a:off x="838200" y="365125"/>
            <a:ext cx="11890572" cy="1072515"/>
          </a:xfrm>
        </p:spPr>
        <p:txBody>
          <a:bodyPr>
            <a:normAutofit/>
          </a:bodyPr>
          <a:lstStyle/>
          <a:p>
            <a:r>
              <a:rPr lang="en-US" altLang="zh-CN" dirty="0"/>
              <a:t>Section 1: Week 2 Lecture Check</a:t>
            </a:r>
            <a:endParaRPr lang="zh-CN" altLang="en-US" dirty="0"/>
          </a:p>
        </p:txBody>
      </p:sp>
      <p:sp>
        <p:nvSpPr>
          <p:cNvPr id="3" name="日期占位符 2">
            <a:extLst>
              <a:ext uri="{FF2B5EF4-FFF2-40B4-BE49-F238E27FC236}">
                <a16:creationId xmlns:a16="http://schemas.microsoft.com/office/drawing/2014/main" id="{8EA953AC-279B-B94A-A090-2A0649D93AE0}"/>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9718DA9C-451C-25D4-4881-A572FB0FE059}"/>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2647B1E4-2DC3-78A6-BAC9-0104806BF5DC}"/>
              </a:ext>
            </a:extLst>
          </p:cNvPr>
          <p:cNvSpPr>
            <a:spLocks noGrp="1"/>
          </p:cNvSpPr>
          <p:nvPr>
            <p:ph type="sldNum" sz="quarter" idx="12"/>
          </p:nvPr>
        </p:nvSpPr>
        <p:spPr/>
        <p:txBody>
          <a:bodyPr/>
          <a:lstStyle/>
          <a:p>
            <a:fld id="{9146477A-3083-4652-9A53-6C94B28E95E9}" type="slidenum">
              <a:rPr lang="en-US" smtClean="0"/>
              <a:t>5</a:t>
            </a:fld>
            <a:endParaRPr lang="en-US"/>
          </a:p>
        </p:txBody>
      </p:sp>
      <p:sp>
        <p:nvSpPr>
          <p:cNvPr id="6" name="文本占位符 5">
            <a:extLst>
              <a:ext uri="{FF2B5EF4-FFF2-40B4-BE49-F238E27FC236}">
                <a16:creationId xmlns:a16="http://schemas.microsoft.com/office/drawing/2014/main" id="{76436016-3F35-C5DE-F8FF-D16B708C8461}"/>
              </a:ext>
            </a:extLst>
          </p:cNvPr>
          <p:cNvSpPr>
            <a:spLocks noGrp="1"/>
          </p:cNvSpPr>
          <p:nvPr>
            <p:ph type="body" idx="1"/>
          </p:nvPr>
        </p:nvSpPr>
        <p:spPr/>
        <p:txBody>
          <a:bodyPr/>
          <a:lstStyle/>
          <a:p>
            <a:r>
              <a:rPr lang="en-US" altLang="zh-CN" dirty="0"/>
              <a:t>What is an ISA (Instruction Set Architecture)?</a:t>
            </a:r>
          </a:p>
          <a:p>
            <a:pPr marL="457200" lvl="1" indent="0">
              <a:buNone/>
            </a:pPr>
            <a:r>
              <a:rPr lang="en-US" altLang="zh-CN" dirty="0"/>
              <a:t>A. The physical circuit design of the CPU</a:t>
            </a:r>
          </a:p>
          <a:p>
            <a:pPr marL="457200" lvl="1" indent="0">
              <a:buNone/>
            </a:pPr>
            <a:r>
              <a:rPr lang="en-US" altLang="zh-CN" dirty="0"/>
              <a:t>B. The contract between software and hardware, defining what the CPU can do</a:t>
            </a:r>
          </a:p>
          <a:p>
            <a:pPr marL="457200" lvl="1" indent="0">
              <a:buNone/>
            </a:pPr>
            <a:r>
              <a:rPr lang="en-US" altLang="zh-CN" dirty="0"/>
              <a:t>C. The assembly language syntax for a specific processor</a:t>
            </a:r>
          </a:p>
          <a:p>
            <a:pPr marL="457200" lvl="1" indent="0">
              <a:buNone/>
            </a:pPr>
            <a:r>
              <a:rPr lang="en-US" altLang="zh-CN" dirty="0"/>
              <a:t>D. The cache design of a CPU</a:t>
            </a:r>
            <a:endParaRPr lang="zh-CN" altLang="en-US" dirty="0"/>
          </a:p>
        </p:txBody>
      </p:sp>
    </p:spTree>
    <p:extLst>
      <p:ext uri="{BB962C8B-B14F-4D97-AF65-F5344CB8AC3E}">
        <p14:creationId xmlns:p14="http://schemas.microsoft.com/office/powerpoint/2010/main" val="302766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F8FC8-AEB0-CD12-CBF3-09676C2FFAB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F0B2C0-E187-5E45-4687-3480B0EBCD01}"/>
              </a:ext>
            </a:extLst>
          </p:cNvPr>
          <p:cNvSpPr>
            <a:spLocks noGrp="1"/>
          </p:cNvSpPr>
          <p:nvPr>
            <p:ph type="title"/>
          </p:nvPr>
        </p:nvSpPr>
        <p:spPr>
          <a:xfrm>
            <a:off x="838200" y="365125"/>
            <a:ext cx="11890572" cy="1072515"/>
          </a:xfrm>
        </p:spPr>
        <p:txBody>
          <a:bodyPr>
            <a:normAutofit/>
          </a:bodyPr>
          <a:lstStyle/>
          <a:p>
            <a:r>
              <a:rPr lang="en-US" altLang="zh-CN" dirty="0"/>
              <a:t>Section 1: Week 2 Lecture Check</a:t>
            </a:r>
            <a:endParaRPr lang="zh-CN" altLang="en-US" dirty="0"/>
          </a:p>
        </p:txBody>
      </p:sp>
      <p:sp>
        <p:nvSpPr>
          <p:cNvPr id="3" name="日期占位符 2">
            <a:extLst>
              <a:ext uri="{FF2B5EF4-FFF2-40B4-BE49-F238E27FC236}">
                <a16:creationId xmlns:a16="http://schemas.microsoft.com/office/drawing/2014/main" id="{CC2E4114-1B5B-944B-CD89-408F0164B99B}"/>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66C56E6E-5182-474F-ADCF-17B043F976E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2D197A9F-AC7F-B086-045A-E1FE648946CC}"/>
              </a:ext>
            </a:extLst>
          </p:cNvPr>
          <p:cNvSpPr>
            <a:spLocks noGrp="1"/>
          </p:cNvSpPr>
          <p:nvPr>
            <p:ph type="sldNum" sz="quarter" idx="12"/>
          </p:nvPr>
        </p:nvSpPr>
        <p:spPr/>
        <p:txBody>
          <a:bodyPr/>
          <a:lstStyle/>
          <a:p>
            <a:fld id="{9146477A-3083-4652-9A53-6C94B28E95E9}" type="slidenum">
              <a:rPr lang="en-US" smtClean="0"/>
              <a:t>6</a:t>
            </a:fld>
            <a:endParaRPr lang="en-US"/>
          </a:p>
        </p:txBody>
      </p:sp>
      <p:sp>
        <p:nvSpPr>
          <p:cNvPr id="6" name="文本占位符 5">
            <a:extLst>
              <a:ext uri="{FF2B5EF4-FFF2-40B4-BE49-F238E27FC236}">
                <a16:creationId xmlns:a16="http://schemas.microsoft.com/office/drawing/2014/main" id="{4B963F19-A95C-23E7-882C-3DFA8EA3F7A5}"/>
              </a:ext>
            </a:extLst>
          </p:cNvPr>
          <p:cNvSpPr>
            <a:spLocks noGrp="1"/>
          </p:cNvSpPr>
          <p:nvPr>
            <p:ph type="body" idx="1"/>
          </p:nvPr>
        </p:nvSpPr>
        <p:spPr/>
        <p:txBody>
          <a:bodyPr/>
          <a:lstStyle/>
          <a:p>
            <a:r>
              <a:rPr lang="en-US" altLang="zh-CN" dirty="0"/>
              <a:t>Which MARIE register holds the address of the next instruction to be executed?</a:t>
            </a:r>
          </a:p>
          <a:p>
            <a:pPr marL="457200" lvl="1" indent="0">
              <a:buNone/>
            </a:pPr>
            <a:r>
              <a:rPr lang="en-US" altLang="zh-CN" dirty="0"/>
              <a:t>A. AC (Accumulator)</a:t>
            </a:r>
          </a:p>
          <a:p>
            <a:pPr marL="457200" lvl="1" indent="0">
              <a:buNone/>
            </a:pPr>
            <a:r>
              <a:rPr lang="en-US" altLang="zh-CN" dirty="0"/>
              <a:t>B. IR (Instruction Register)</a:t>
            </a:r>
          </a:p>
          <a:p>
            <a:pPr marL="457200" lvl="1" indent="0">
              <a:buNone/>
            </a:pPr>
            <a:r>
              <a:rPr lang="en-US" altLang="zh-CN" dirty="0"/>
              <a:t>C. PC (Program Counter)</a:t>
            </a:r>
          </a:p>
          <a:p>
            <a:pPr marL="457200" lvl="1" indent="0">
              <a:buNone/>
            </a:pPr>
            <a:r>
              <a:rPr lang="en-US" altLang="zh-CN" dirty="0"/>
              <a:t>D. MBR (Memory Buffer Register)</a:t>
            </a:r>
            <a:endParaRPr lang="zh-CN" altLang="en-US" dirty="0"/>
          </a:p>
        </p:txBody>
      </p:sp>
    </p:spTree>
    <p:extLst>
      <p:ext uri="{BB962C8B-B14F-4D97-AF65-F5344CB8AC3E}">
        <p14:creationId xmlns:p14="http://schemas.microsoft.com/office/powerpoint/2010/main" val="27831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E611A-3915-12A4-DB25-6CBAE5339A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53EBBF-68D1-5919-C66C-FE9A5781A7AB}"/>
              </a:ext>
            </a:extLst>
          </p:cNvPr>
          <p:cNvSpPr>
            <a:spLocks noGrp="1"/>
          </p:cNvSpPr>
          <p:nvPr>
            <p:ph type="title"/>
          </p:nvPr>
        </p:nvSpPr>
        <p:spPr>
          <a:xfrm>
            <a:off x="838200" y="365125"/>
            <a:ext cx="11890572" cy="1072515"/>
          </a:xfrm>
        </p:spPr>
        <p:txBody>
          <a:bodyPr>
            <a:normAutofit/>
          </a:bodyPr>
          <a:lstStyle/>
          <a:p>
            <a:r>
              <a:rPr lang="en-US" altLang="zh-CN" dirty="0"/>
              <a:t>Section 1: Week 2 Lecture Check</a:t>
            </a:r>
            <a:endParaRPr lang="zh-CN" altLang="en-US" dirty="0"/>
          </a:p>
        </p:txBody>
      </p:sp>
      <p:sp>
        <p:nvSpPr>
          <p:cNvPr id="3" name="日期占位符 2">
            <a:extLst>
              <a:ext uri="{FF2B5EF4-FFF2-40B4-BE49-F238E27FC236}">
                <a16:creationId xmlns:a16="http://schemas.microsoft.com/office/drawing/2014/main" id="{8BF56737-E1F8-B055-22C8-456F3C65DAE6}"/>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FE730899-A5C6-CAF2-8DC7-ECE5C790E577}"/>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D863E434-EECA-DC3C-4D53-722B19C93406}"/>
              </a:ext>
            </a:extLst>
          </p:cNvPr>
          <p:cNvSpPr>
            <a:spLocks noGrp="1"/>
          </p:cNvSpPr>
          <p:nvPr>
            <p:ph type="sldNum" sz="quarter" idx="12"/>
          </p:nvPr>
        </p:nvSpPr>
        <p:spPr/>
        <p:txBody>
          <a:bodyPr/>
          <a:lstStyle/>
          <a:p>
            <a:fld id="{9146477A-3083-4652-9A53-6C94B28E95E9}" type="slidenum">
              <a:rPr lang="en-US" smtClean="0"/>
              <a:t>7</a:t>
            </a:fld>
            <a:endParaRPr lang="en-US"/>
          </a:p>
        </p:txBody>
      </p:sp>
      <p:sp>
        <p:nvSpPr>
          <p:cNvPr id="6" name="文本占位符 5">
            <a:extLst>
              <a:ext uri="{FF2B5EF4-FFF2-40B4-BE49-F238E27FC236}">
                <a16:creationId xmlns:a16="http://schemas.microsoft.com/office/drawing/2014/main" id="{27D74C24-7B7B-BD85-D813-8BB46ADB2D81}"/>
              </a:ext>
            </a:extLst>
          </p:cNvPr>
          <p:cNvSpPr>
            <a:spLocks noGrp="1"/>
          </p:cNvSpPr>
          <p:nvPr>
            <p:ph type="body" idx="1"/>
          </p:nvPr>
        </p:nvSpPr>
        <p:spPr/>
        <p:txBody>
          <a:bodyPr/>
          <a:lstStyle/>
          <a:p>
            <a:r>
              <a:rPr lang="en-US" altLang="zh-CN" dirty="0"/>
              <a:t>What happens during the Fetch phase of the instruction cycle?</a:t>
            </a:r>
          </a:p>
          <a:p>
            <a:pPr marL="457200" lvl="1" indent="0">
              <a:buNone/>
            </a:pPr>
            <a:r>
              <a:rPr lang="en-US" altLang="zh-CN" dirty="0"/>
              <a:t>A. The CPU performs the math operation defined by the instruction</a:t>
            </a:r>
          </a:p>
          <a:p>
            <a:pPr marL="457200" lvl="1" indent="0">
              <a:buNone/>
            </a:pPr>
            <a:r>
              <a:rPr lang="en-US" altLang="zh-CN" dirty="0"/>
              <a:t>B. The CPU retrieves the next instruction from memory and updates the PC</a:t>
            </a:r>
          </a:p>
          <a:p>
            <a:pPr marL="457200" lvl="1" indent="0">
              <a:buNone/>
            </a:pPr>
            <a:r>
              <a:rPr lang="en-US" altLang="zh-CN" dirty="0"/>
              <a:t>C. The Control Unit decodes the opcode of the instruction</a:t>
            </a:r>
          </a:p>
          <a:p>
            <a:pPr marL="457200" lvl="1" indent="0">
              <a:buNone/>
            </a:pPr>
            <a:r>
              <a:rPr lang="en-US" altLang="zh-CN" dirty="0"/>
              <a:t>D. The result is stored back to memory</a:t>
            </a:r>
            <a:endParaRPr lang="zh-CN" altLang="en-US" dirty="0"/>
          </a:p>
        </p:txBody>
      </p:sp>
    </p:spTree>
    <p:extLst>
      <p:ext uri="{BB962C8B-B14F-4D97-AF65-F5344CB8AC3E}">
        <p14:creationId xmlns:p14="http://schemas.microsoft.com/office/powerpoint/2010/main" val="249257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51AF-B4CF-656E-DE6E-1B89705DA1B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9B1DC2-672F-BA27-62C9-0666F8388684}"/>
              </a:ext>
            </a:extLst>
          </p:cNvPr>
          <p:cNvSpPr>
            <a:spLocks noGrp="1"/>
          </p:cNvSpPr>
          <p:nvPr>
            <p:ph type="title"/>
          </p:nvPr>
        </p:nvSpPr>
        <p:spPr/>
        <p:txBody>
          <a:bodyPr>
            <a:normAutofit fontScale="90000"/>
          </a:bodyPr>
          <a:lstStyle/>
          <a:p>
            <a:r>
              <a:rPr lang="en-US" altLang="zh-CN" dirty="0"/>
              <a:t>Section 1: Week 2 Lecture Check</a:t>
            </a:r>
            <a:endParaRPr lang="zh-CN" altLang="en-US" dirty="0"/>
          </a:p>
        </p:txBody>
      </p:sp>
      <p:sp>
        <p:nvSpPr>
          <p:cNvPr id="3" name="日期占位符 2">
            <a:extLst>
              <a:ext uri="{FF2B5EF4-FFF2-40B4-BE49-F238E27FC236}">
                <a16:creationId xmlns:a16="http://schemas.microsoft.com/office/drawing/2014/main" id="{C45D7F1E-F4F9-7741-B54A-26E8F0A3586E}"/>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A17C3EB3-0A8E-6954-5F47-0FBDD79106A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D2E8ED33-8543-1999-2E57-32112EBC8C0B}"/>
              </a:ext>
            </a:extLst>
          </p:cNvPr>
          <p:cNvSpPr>
            <a:spLocks noGrp="1"/>
          </p:cNvSpPr>
          <p:nvPr>
            <p:ph type="sldNum" sz="quarter" idx="12"/>
          </p:nvPr>
        </p:nvSpPr>
        <p:spPr/>
        <p:txBody>
          <a:bodyPr/>
          <a:lstStyle/>
          <a:p>
            <a:fld id="{9146477A-3083-4652-9A53-6C94B28E95E9}" type="slidenum">
              <a:rPr lang="en-US" smtClean="0"/>
              <a:t>8</a:t>
            </a:fld>
            <a:endParaRPr lang="en-US"/>
          </a:p>
        </p:txBody>
      </p:sp>
      <p:sp>
        <p:nvSpPr>
          <p:cNvPr id="6" name="文本占位符 5">
            <a:extLst>
              <a:ext uri="{FF2B5EF4-FFF2-40B4-BE49-F238E27FC236}">
                <a16:creationId xmlns:a16="http://schemas.microsoft.com/office/drawing/2014/main" id="{CC38CA42-8D5F-3DA7-6C74-41F585186ECE}"/>
              </a:ext>
            </a:extLst>
          </p:cNvPr>
          <p:cNvSpPr>
            <a:spLocks noGrp="1"/>
          </p:cNvSpPr>
          <p:nvPr>
            <p:ph type="body" idx="1"/>
          </p:nvPr>
        </p:nvSpPr>
        <p:spPr/>
        <p:txBody>
          <a:bodyPr/>
          <a:lstStyle/>
          <a:p>
            <a:r>
              <a:rPr lang="en-US" altLang="zh-CN" dirty="0"/>
              <a:t>Which CPU component is responsible for mathematical operations like addition and subtraction?</a:t>
            </a:r>
          </a:p>
          <a:p>
            <a:pPr marL="457200" lvl="1" indent="0">
              <a:buNone/>
            </a:pPr>
            <a:r>
              <a:rPr lang="en-US" altLang="zh-CN" dirty="0"/>
              <a:t>A. Control Unit (CU)</a:t>
            </a:r>
          </a:p>
          <a:p>
            <a:pPr marL="457200" lvl="1" indent="0">
              <a:buNone/>
            </a:pPr>
            <a:r>
              <a:rPr lang="en-US" altLang="zh-CN" dirty="0"/>
              <a:t>B. Arithmetic Logic Unit (ALU)</a:t>
            </a:r>
          </a:p>
          <a:p>
            <a:pPr marL="457200" lvl="1" indent="0">
              <a:buNone/>
            </a:pPr>
            <a:r>
              <a:rPr lang="en-US" altLang="zh-CN" dirty="0"/>
              <a:t>C. Program Counter (PC)</a:t>
            </a:r>
          </a:p>
          <a:p>
            <a:pPr marL="457200" lvl="1" indent="0">
              <a:buNone/>
            </a:pPr>
            <a:r>
              <a:rPr lang="en-US" altLang="zh-CN" dirty="0"/>
              <a:t>D. Memory Address Register (MAR)</a:t>
            </a:r>
            <a:endParaRPr lang="zh-CN" altLang="en-US" dirty="0"/>
          </a:p>
        </p:txBody>
      </p:sp>
    </p:spTree>
    <p:extLst>
      <p:ext uri="{BB962C8B-B14F-4D97-AF65-F5344CB8AC3E}">
        <p14:creationId xmlns:p14="http://schemas.microsoft.com/office/powerpoint/2010/main" val="642722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D31C8-CAAC-E7BF-2E86-8F60CFBE89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2E1422-5118-D795-0C31-DB83CC49A892}"/>
              </a:ext>
            </a:extLst>
          </p:cNvPr>
          <p:cNvSpPr>
            <a:spLocks noGrp="1"/>
          </p:cNvSpPr>
          <p:nvPr>
            <p:ph type="title"/>
          </p:nvPr>
        </p:nvSpPr>
        <p:spPr/>
        <p:txBody>
          <a:bodyPr/>
          <a:lstStyle/>
          <a:p>
            <a:r>
              <a:rPr lang="en-US" altLang="zh-CN" dirty="0"/>
              <a:t>Section 1 Review Guide</a:t>
            </a:r>
            <a:endParaRPr lang="zh-CN" altLang="en-US" dirty="0"/>
          </a:p>
        </p:txBody>
      </p:sp>
      <p:sp>
        <p:nvSpPr>
          <p:cNvPr id="3" name="日期占位符 2">
            <a:extLst>
              <a:ext uri="{FF2B5EF4-FFF2-40B4-BE49-F238E27FC236}">
                <a16:creationId xmlns:a16="http://schemas.microsoft.com/office/drawing/2014/main" id="{128666D3-2B20-CF7D-5204-73D98F3893E9}"/>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E48A5A3E-0678-7B54-8C9E-BFCFE784438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8B942575-BC61-9BC2-0CF7-E7D42F162561}"/>
              </a:ext>
            </a:extLst>
          </p:cNvPr>
          <p:cNvSpPr>
            <a:spLocks noGrp="1"/>
          </p:cNvSpPr>
          <p:nvPr>
            <p:ph type="sldNum" sz="quarter" idx="12"/>
          </p:nvPr>
        </p:nvSpPr>
        <p:spPr/>
        <p:txBody>
          <a:bodyPr/>
          <a:lstStyle/>
          <a:p>
            <a:fld id="{9146477A-3083-4652-9A53-6C94B28E95E9}" type="slidenum">
              <a:rPr lang="en-US" smtClean="0"/>
              <a:t>9</a:t>
            </a:fld>
            <a:endParaRPr lang="en-US"/>
          </a:p>
        </p:txBody>
      </p:sp>
      <p:sp>
        <p:nvSpPr>
          <p:cNvPr id="6" name="文本占位符 5">
            <a:extLst>
              <a:ext uri="{FF2B5EF4-FFF2-40B4-BE49-F238E27FC236}">
                <a16:creationId xmlns:a16="http://schemas.microsoft.com/office/drawing/2014/main" id="{40477F36-6CCB-C366-1A82-4669F694D2EB}"/>
              </a:ext>
            </a:extLst>
          </p:cNvPr>
          <p:cNvSpPr>
            <a:spLocks noGrp="1"/>
          </p:cNvSpPr>
          <p:nvPr>
            <p:ph type="body" idx="1"/>
          </p:nvPr>
        </p:nvSpPr>
        <p:spPr/>
        <p:txBody>
          <a:bodyPr/>
          <a:lstStyle/>
          <a:p>
            <a:pPr marL="0" indent="0">
              <a:buNone/>
            </a:pPr>
            <a:r>
              <a:rPr lang="en-US" altLang="zh-CN" dirty="0"/>
              <a:t>If you got </a:t>
            </a:r>
            <a:r>
              <a:rPr lang="en-US" altLang="zh-CN" b="1" dirty="0"/>
              <a:t>2 or more questions wrong</a:t>
            </a:r>
            <a:r>
              <a:rPr lang="en-US" altLang="zh-CN" dirty="0"/>
              <a:t> in this section:</a:t>
            </a:r>
          </a:p>
          <a:p>
            <a:pPr marL="0" indent="0">
              <a:buNone/>
            </a:pPr>
            <a:r>
              <a:rPr lang="en-US" altLang="zh-CN" dirty="0"/>
              <a:t>Before proceed, please go back to review the Week 2 Lecture slides, focusing on:</a:t>
            </a:r>
          </a:p>
          <a:p>
            <a:pPr lvl="1"/>
            <a:r>
              <a:rPr lang="en-US" altLang="zh-CN" dirty="0"/>
              <a:t>Von Neumann Architecture core rules</a:t>
            </a:r>
          </a:p>
          <a:p>
            <a:pPr lvl="1"/>
            <a:r>
              <a:rPr lang="en-US" altLang="zh-CN" dirty="0"/>
              <a:t>ISA definition and purpose</a:t>
            </a:r>
          </a:p>
          <a:p>
            <a:pPr lvl="1"/>
            <a:r>
              <a:rPr lang="en-US" altLang="zh-CN" dirty="0"/>
              <a:t>CPU core components and their functions</a:t>
            </a:r>
          </a:p>
          <a:p>
            <a:pPr lvl="1"/>
            <a:r>
              <a:rPr lang="en-US" altLang="zh-CN" dirty="0"/>
              <a:t>MARIE register roles</a:t>
            </a:r>
          </a:p>
          <a:p>
            <a:pPr lvl="1"/>
            <a:r>
              <a:rPr lang="en-US" altLang="zh-CN" dirty="0"/>
              <a:t>Fetch-Decode-Execute instruction cycle</a:t>
            </a:r>
          </a:p>
          <a:p>
            <a:endParaRPr lang="zh-CN" altLang="en-US" dirty="0"/>
          </a:p>
        </p:txBody>
      </p:sp>
    </p:spTree>
    <p:extLst>
      <p:ext uri="{BB962C8B-B14F-4D97-AF65-F5344CB8AC3E}">
        <p14:creationId xmlns:p14="http://schemas.microsoft.com/office/powerpoint/2010/main" val="67515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F488E-805D-909E-687D-4742B22A72B7}"/>
            </a:ext>
          </a:extLst>
        </p:cNvPr>
        <p:cNvGrpSpPr/>
        <p:nvPr/>
      </p:nvGrpSpPr>
      <p:grpSpPr>
        <a:xfrm>
          <a:off x="0" y="0"/>
          <a:ext cx="0" cy="0"/>
          <a:chOff x="0" y="0"/>
          <a:chExt cx="0" cy="0"/>
        </a:xfrm>
      </p:grpSpPr>
      <p:sp>
        <p:nvSpPr>
          <p:cNvPr id="9" name="文本占位符 8">
            <a:extLst>
              <a:ext uri="{FF2B5EF4-FFF2-40B4-BE49-F238E27FC236}">
                <a16:creationId xmlns:a16="http://schemas.microsoft.com/office/drawing/2014/main" id="{3C208059-59A7-5C6A-46AE-9C3BE8E70C0F}"/>
              </a:ext>
            </a:extLst>
          </p:cNvPr>
          <p:cNvSpPr>
            <a:spLocks noGrp="1"/>
          </p:cNvSpPr>
          <p:nvPr>
            <p:ph type="body" idx="1"/>
          </p:nvPr>
        </p:nvSpPr>
        <p:spPr>
          <a:xfrm>
            <a:off x="838200" y="1741092"/>
            <a:ext cx="10515600" cy="4351338"/>
          </a:xfrm>
        </p:spPr>
        <p:txBody>
          <a:bodyPr/>
          <a:lstStyle/>
          <a:p>
            <a:r>
              <a:rPr lang="en-US" altLang="zh-CN" dirty="0"/>
              <a:t>Read the screenshot and answer the questions</a:t>
            </a:r>
            <a:endParaRPr lang="zh-CN" altLang="en-US" dirty="0"/>
          </a:p>
        </p:txBody>
      </p:sp>
      <p:sp>
        <p:nvSpPr>
          <p:cNvPr id="2" name="标题 1">
            <a:extLst>
              <a:ext uri="{FF2B5EF4-FFF2-40B4-BE49-F238E27FC236}">
                <a16:creationId xmlns:a16="http://schemas.microsoft.com/office/drawing/2014/main" id="{CE4B9547-8F76-A43E-AD1E-8A5A54BB88C5}"/>
              </a:ext>
            </a:extLst>
          </p:cNvPr>
          <p:cNvSpPr>
            <a:spLocks noGrp="1"/>
          </p:cNvSpPr>
          <p:nvPr>
            <p:ph type="title"/>
          </p:nvPr>
        </p:nvSpPr>
        <p:spPr/>
        <p:txBody>
          <a:bodyPr/>
          <a:lstStyle/>
          <a:p>
            <a:r>
              <a:rPr lang="en-US" altLang="zh-CN" dirty="0"/>
              <a:t>Section 2: Week 2 Lab Check</a:t>
            </a:r>
            <a:endParaRPr lang="zh-CN" altLang="en-US" dirty="0"/>
          </a:p>
        </p:txBody>
      </p:sp>
      <p:sp>
        <p:nvSpPr>
          <p:cNvPr id="3" name="日期占位符 2">
            <a:extLst>
              <a:ext uri="{FF2B5EF4-FFF2-40B4-BE49-F238E27FC236}">
                <a16:creationId xmlns:a16="http://schemas.microsoft.com/office/drawing/2014/main" id="{88D6A63E-1842-2B38-9DDB-7B4E542D01EA}"/>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E40DE249-6748-B919-E116-7178E1FAEDF7}"/>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92E2C9F1-F555-971A-D86F-B397A8EF5E03}"/>
              </a:ext>
            </a:extLst>
          </p:cNvPr>
          <p:cNvSpPr>
            <a:spLocks noGrp="1"/>
          </p:cNvSpPr>
          <p:nvPr>
            <p:ph type="sldNum" sz="quarter" idx="12"/>
          </p:nvPr>
        </p:nvSpPr>
        <p:spPr/>
        <p:txBody>
          <a:bodyPr/>
          <a:lstStyle/>
          <a:p>
            <a:fld id="{9146477A-3083-4652-9A53-6C94B28E95E9}" type="slidenum">
              <a:rPr lang="en-US" smtClean="0"/>
              <a:t>10</a:t>
            </a:fld>
            <a:endParaRPr lang="en-US"/>
          </a:p>
        </p:txBody>
      </p:sp>
      <p:pic>
        <p:nvPicPr>
          <p:cNvPr id="8" name="图片 7">
            <a:extLst>
              <a:ext uri="{FF2B5EF4-FFF2-40B4-BE49-F238E27FC236}">
                <a16:creationId xmlns:a16="http://schemas.microsoft.com/office/drawing/2014/main" id="{163A757A-9237-C4B6-7245-330E1B539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365" y="2274542"/>
            <a:ext cx="7097210" cy="3701482"/>
          </a:xfrm>
          <a:prstGeom prst="rect">
            <a:avLst/>
          </a:prstGeom>
        </p:spPr>
      </p:pic>
    </p:spTree>
    <p:extLst>
      <p:ext uri="{BB962C8B-B14F-4D97-AF65-F5344CB8AC3E}">
        <p14:creationId xmlns:p14="http://schemas.microsoft.com/office/powerpoint/2010/main" val="1844584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AEFFF-60DC-537A-9697-1E95BD3317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3020267-147A-B9AF-86FB-4845BA95A616}"/>
              </a:ext>
            </a:extLst>
          </p:cNvPr>
          <p:cNvSpPr>
            <a:spLocks noGrp="1"/>
          </p:cNvSpPr>
          <p:nvPr>
            <p:ph type="title"/>
          </p:nvPr>
        </p:nvSpPr>
        <p:spPr/>
        <p:txBody>
          <a:bodyPr>
            <a:normAutofit/>
          </a:bodyPr>
          <a:lstStyle/>
          <a:p>
            <a:r>
              <a:rPr lang="en-US" altLang="zh-CN" dirty="0"/>
              <a:t>Section 2: Week 2 Lab Check</a:t>
            </a:r>
            <a:endParaRPr lang="zh-CN" altLang="en-US" dirty="0"/>
          </a:p>
        </p:txBody>
      </p:sp>
      <p:sp>
        <p:nvSpPr>
          <p:cNvPr id="3" name="日期占位符 2">
            <a:extLst>
              <a:ext uri="{FF2B5EF4-FFF2-40B4-BE49-F238E27FC236}">
                <a16:creationId xmlns:a16="http://schemas.microsoft.com/office/drawing/2014/main" id="{5FECB58E-9525-75DB-EEAB-2525905040AE}"/>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8DE15F1E-4B95-BF40-9756-55762E8B71C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46E9C79F-BF30-16B8-A7F9-832E5B5CAA24}"/>
              </a:ext>
            </a:extLst>
          </p:cNvPr>
          <p:cNvSpPr>
            <a:spLocks noGrp="1"/>
          </p:cNvSpPr>
          <p:nvPr>
            <p:ph type="sldNum" sz="quarter" idx="12"/>
          </p:nvPr>
        </p:nvSpPr>
        <p:spPr/>
        <p:txBody>
          <a:bodyPr/>
          <a:lstStyle/>
          <a:p>
            <a:fld id="{9146477A-3083-4652-9A53-6C94B28E95E9}" type="slidenum">
              <a:rPr lang="en-US" smtClean="0"/>
              <a:t>11</a:t>
            </a:fld>
            <a:endParaRPr lang="en-US"/>
          </a:p>
        </p:txBody>
      </p:sp>
      <p:sp>
        <p:nvSpPr>
          <p:cNvPr id="6" name="文本占位符 5">
            <a:extLst>
              <a:ext uri="{FF2B5EF4-FFF2-40B4-BE49-F238E27FC236}">
                <a16:creationId xmlns:a16="http://schemas.microsoft.com/office/drawing/2014/main" id="{02949C8F-C9BB-0BE3-B328-E7B7BE2267C4}"/>
              </a:ext>
            </a:extLst>
          </p:cNvPr>
          <p:cNvSpPr>
            <a:spLocks noGrp="1"/>
          </p:cNvSpPr>
          <p:nvPr>
            <p:ph type="body" idx="1"/>
          </p:nvPr>
        </p:nvSpPr>
        <p:spPr/>
        <p:txBody>
          <a:bodyPr>
            <a:normAutofit/>
          </a:bodyPr>
          <a:lstStyle/>
          <a:p>
            <a:r>
              <a:rPr lang="en-US" altLang="zh-CN" sz="2400" dirty="0"/>
              <a:t>What is the memory address of the Halt instruction?</a:t>
            </a:r>
          </a:p>
          <a:p>
            <a:r>
              <a:rPr lang="en-US" altLang="zh-CN" sz="2400" dirty="0"/>
              <a:t>What data value is stored at memory address 005 (the location of variable Y)?</a:t>
            </a:r>
          </a:p>
          <a:p>
            <a:r>
              <a:rPr lang="en-US" altLang="zh-CN" sz="2400" dirty="0"/>
              <a:t>The instruction at address 002 is Store Z. What is the memory address of variable Z?</a:t>
            </a:r>
          </a:p>
          <a:p>
            <a:r>
              <a:rPr lang="en-US" altLang="zh-CN" sz="2400" dirty="0"/>
              <a:t>What is the value of the Program Counter (PC) register after the program has halted?</a:t>
            </a:r>
          </a:p>
          <a:p>
            <a:r>
              <a:rPr lang="en-US" altLang="zh-CN" sz="2400" dirty="0"/>
              <a:t>What is the opcode for the Add instruction in MARIE?</a:t>
            </a:r>
            <a:endParaRPr lang="zh-CN" altLang="en-US" sz="2400" dirty="0"/>
          </a:p>
        </p:txBody>
      </p:sp>
    </p:spTree>
    <p:extLst>
      <p:ext uri="{BB962C8B-B14F-4D97-AF65-F5344CB8AC3E}">
        <p14:creationId xmlns:p14="http://schemas.microsoft.com/office/powerpoint/2010/main" val="317290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09390-BF3C-B444-EBD6-5FEBCB651F9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9581CC-3C4C-42D3-4152-9C90BBD5FB4D}"/>
              </a:ext>
            </a:extLst>
          </p:cNvPr>
          <p:cNvSpPr>
            <a:spLocks noGrp="1"/>
          </p:cNvSpPr>
          <p:nvPr>
            <p:ph type="title"/>
          </p:nvPr>
        </p:nvSpPr>
        <p:spPr/>
        <p:txBody>
          <a:bodyPr/>
          <a:lstStyle/>
          <a:p>
            <a:r>
              <a:rPr lang="en-US" altLang="zh-CN" dirty="0"/>
              <a:t>Section 2 Review Guide</a:t>
            </a:r>
            <a:endParaRPr lang="zh-CN" altLang="en-US" dirty="0"/>
          </a:p>
        </p:txBody>
      </p:sp>
      <p:sp>
        <p:nvSpPr>
          <p:cNvPr id="3" name="日期占位符 2">
            <a:extLst>
              <a:ext uri="{FF2B5EF4-FFF2-40B4-BE49-F238E27FC236}">
                <a16:creationId xmlns:a16="http://schemas.microsoft.com/office/drawing/2014/main" id="{8C7E9282-7EA7-2A06-DE8A-366FA64F6AF5}"/>
              </a:ext>
            </a:extLst>
          </p:cNvPr>
          <p:cNvSpPr>
            <a:spLocks noGrp="1"/>
          </p:cNvSpPr>
          <p:nvPr>
            <p:ph type="dt" sz="half" idx="10"/>
          </p:nvPr>
        </p:nvSpPr>
        <p:spPr/>
        <p:txBody>
          <a:bodyPr/>
          <a:lstStyle/>
          <a:p>
            <a:fld id="{C779A912-BA0F-455A-9008-30C412343B55}" type="datetime1">
              <a:rPr lang="en-US" smtClean="0"/>
              <a:t>3/24/2026</a:t>
            </a:fld>
            <a:endParaRPr lang="en-US" dirty="0"/>
          </a:p>
        </p:txBody>
      </p:sp>
      <p:sp>
        <p:nvSpPr>
          <p:cNvPr id="4" name="页脚占位符 3">
            <a:extLst>
              <a:ext uri="{FF2B5EF4-FFF2-40B4-BE49-F238E27FC236}">
                <a16:creationId xmlns:a16="http://schemas.microsoft.com/office/drawing/2014/main" id="{E490AA94-AE49-F7E3-889A-CF6FACA130E9}"/>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171E9FB2-7FB1-11DA-9538-982FFB4C59EE}"/>
              </a:ext>
            </a:extLst>
          </p:cNvPr>
          <p:cNvSpPr>
            <a:spLocks noGrp="1"/>
          </p:cNvSpPr>
          <p:nvPr>
            <p:ph type="sldNum" sz="quarter" idx="12"/>
          </p:nvPr>
        </p:nvSpPr>
        <p:spPr/>
        <p:txBody>
          <a:bodyPr/>
          <a:lstStyle/>
          <a:p>
            <a:fld id="{9146477A-3083-4652-9A53-6C94B28E95E9}" type="slidenum">
              <a:rPr lang="en-US" smtClean="0"/>
              <a:t>12</a:t>
            </a:fld>
            <a:endParaRPr lang="en-US"/>
          </a:p>
        </p:txBody>
      </p:sp>
      <p:sp>
        <p:nvSpPr>
          <p:cNvPr id="6" name="文本占位符 5">
            <a:extLst>
              <a:ext uri="{FF2B5EF4-FFF2-40B4-BE49-F238E27FC236}">
                <a16:creationId xmlns:a16="http://schemas.microsoft.com/office/drawing/2014/main" id="{44D588FD-3710-3411-7124-C6A30DE09115}"/>
              </a:ext>
            </a:extLst>
          </p:cNvPr>
          <p:cNvSpPr>
            <a:spLocks noGrp="1"/>
          </p:cNvSpPr>
          <p:nvPr>
            <p:ph type="body" idx="1"/>
          </p:nvPr>
        </p:nvSpPr>
        <p:spPr/>
        <p:txBody>
          <a:bodyPr>
            <a:normAutofit/>
          </a:bodyPr>
          <a:lstStyle/>
          <a:p>
            <a:pPr marL="0" indent="0">
              <a:buNone/>
            </a:pPr>
            <a:r>
              <a:rPr lang="en-US" altLang="zh-CN" dirty="0"/>
              <a:t>If you got </a:t>
            </a:r>
            <a:r>
              <a:rPr lang="en-US" altLang="zh-CN" b="1" dirty="0"/>
              <a:t>2 or more questions wrong</a:t>
            </a:r>
            <a:r>
              <a:rPr lang="en-US" altLang="zh-CN" dirty="0"/>
              <a:t> in this section. </a:t>
            </a:r>
            <a:r>
              <a:rPr lang="en-US" altLang="zh-CN" sz="2400" dirty="0"/>
              <a:t>Please go back to review the </a:t>
            </a:r>
            <a:r>
              <a:rPr lang="en-US" altLang="zh-CN" sz="2400" b="1" dirty="0"/>
              <a:t>Week 2 Lab slides </a:t>
            </a:r>
            <a:r>
              <a:rPr lang="en-US" altLang="zh-CN" sz="2400" dirty="0"/>
              <a:t>and </a:t>
            </a:r>
            <a:r>
              <a:rPr lang="en-US" altLang="zh-CN" sz="2400" b="1" dirty="0"/>
              <a:t>MARIE simulator experiment </a:t>
            </a:r>
            <a:r>
              <a:rPr lang="en-US" altLang="zh-CN" sz="2400" dirty="0"/>
              <a:t>materials, with focused study on these core practical concepts:</a:t>
            </a:r>
          </a:p>
          <a:p>
            <a:pPr marL="914400" lvl="1" indent="-457200">
              <a:buFont typeface="+mj-lt"/>
              <a:buAutoNum type="arabicPeriod"/>
            </a:pPr>
            <a:r>
              <a:rPr lang="en-US" altLang="zh-CN" sz="2000" dirty="0"/>
              <a:t>The </a:t>
            </a:r>
            <a:r>
              <a:rPr lang="en-US" altLang="zh-CN" sz="2000" b="1" dirty="0"/>
              <a:t>Fetch-Decode-Execute cycle</a:t>
            </a:r>
            <a:r>
              <a:rPr lang="en-US" altLang="zh-CN" sz="2000" dirty="0"/>
              <a:t> (step-by-step hardware execution and register interactions for each phase)</a:t>
            </a:r>
          </a:p>
          <a:p>
            <a:pPr marL="914400" lvl="1" indent="-457200">
              <a:buFont typeface="+mj-lt"/>
              <a:buAutoNum type="arabicPeriod"/>
            </a:pPr>
            <a:r>
              <a:rPr lang="en-US" altLang="zh-CN" sz="2000" dirty="0"/>
              <a:t>How </a:t>
            </a:r>
            <a:r>
              <a:rPr lang="en-US" altLang="zh-CN" sz="2000" b="1" dirty="0"/>
              <a:t>instructions and data are stored in memory</a:t>
            </a:r>
            <a:endParaRPr lang="en-US" altLang="zh-CN" sz="2000" dirty="0"/>
          </a:p>
          <a:p>
            <a:pPr marL="914400" lvl="1" indent="-457200">
              <a:buFont typeface="+mj-lt"/>
              <a:buAutoNum type="arabicPeriod"/>
            </a:pPr>
            <a:r>
              <a:rPr lang="en-US" altLang="zh-CN" sz="2000" dirty="0"/>
              <a:t>Basic </a:t>
            </a:r>
            <a:r>
              <a:rPr lang="en-US" altLang="zh-CN" sz="2000" b="1" dirty="0"/>
              <a:t>RTL (Register-Transfer Level) logic</a:t>
            </a:r>
            <a:r>
              <a:rPr lang="en-US" altLang="zh-CN" sz="2000" dirty="0"/>
              <a:t> for MARIE instructions</a:t>
            </a:r>
            <a:endParaRPr lang="zh-CN" altLang="en-US" dirty="0"/>
          </a:p>
        </p:txBody>
      </p:sp>
    </p:spTree>
    <p:extLst>
      <p:ext uri="{BB962C8B-B14F-4D97-AF65-F5344CB8AC3E}">
        <p14:creationId xmlns:p14="http://schemas.microsoft.com/office/powerpoint/2010/main" val="3416176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3FDC2-2523-48F3-AF73-1A0F5BFCF2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804CE01-C359-8088-3ACC-8F79607AEC8F}"/>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3F5DD76C-38F5-27DA-1550-54F79636D17A}"/>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94A3D2CF-6896-B411-CD81-E0CE1EBC479E}"/>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0B090A34-9B51-82C3-DEB3-17C7D06D851B}"/>
              </a:ext>
            </a:extLst>
          </p:cNvPr>
          <p:cNvSpPr>
            <a:spLocks noGrp="1"/>
          </p:cNvSpPr>
          <p:nvPr>
            <p:ph type="sldNum" sz="quarter" idx="12"/>
          </p:nvPr>
        </p:nvSpPr>
        <p:spPr/>
        <p:txBody>
          <a:bodyPr/>
          <a:lstStyle/>
          <a:p>
            <a:fld id="{9146477A-3083-4652-9A53-6C94B28E95E9}" type="slidenum">
              <a:rPr lang="en-US" smtClean="0"/>
              <a:t>13</a:t>
            </a:fld>
            <a:endParaRPr lang="en-US"/>
          </a:p>
        </p:txBody>
      </p:sp>
      <p:sp>
        <p:nvSpPr>
          <p:cNvPr id="6" name="文本占位符 5">
            <a:extLst>
              <a:ext uri="{FF2B5EF4-FFF2-40B4-BE49-F238E27FC236}">
                <a16:creationId xmlns:a16="http://schemas.microsoft.com/office/drawing/2014/main" id="{89A2AF10-FB51-0B9E-741A-1B70630CA368}"/>
              </a:ext>
            </a:extLst>
          </p:cNvPr>
          <p:cNvSpPr>
            <a:spLocks noGrp="1"/>
          </p:cNvSpPr>
          <p:nvPr>
            <p:ph type="body" idx="1"/>
          </p:nvPr>
        </p:nvSpPr>
        <p:spPr/>
        <p:txBody>
          <a:bodyPr>
            <a:normAutofit/>
          </a:bodyPr>
          <a:lstStyle/>
          <a:p>
            <a:pPr>
              <a:lnSpc>
                <a:spcPct val="110000"/>
              </a:lnSpc>
            </a:pPr>
            <a:r>
              <a:rPr lang="en-US" altLang="zh-CN" sz="2400" dirty="0"/>
              <a:t>Tests your mastery of Week 3 Lecture and Lab content, including the differences between RISC-V GPR and MARIE Accumulator architectures, single-cycle vs pipelined processor design, CPI and pipeline speedup calculations, endianness rules, RISC-V instruction categories, the impact of pipeline hazards on performance, and navigation of the </a:t>
            </a:r>
            <a:r>
              <a:rPr lang="en-US" altLang="zh-CN" sz="2400" dirty="0" err="1"/>
              <a:t>Ripes</a:t>
            </a:r>
            <a:r>
              <a:rPr lang="en-US" altLang="zh-CN" sz="2400" dirty="0"/>
              <a:t> simulator. If you struggle with this section, please review the Week 3 Lecture and Lab slides together.</a:t>
            </a:r>
            <a:endParaRPr lang="en-US" altLang="zh-CN" sz="2400" dirty="0">
              <a:solidFill>
                <a:srgbClr val="C00000"/>
              </a:solidFill>
            </a:endParaRPr>
          </a:p>
          <a:p>
            <a:pPr>
              <a:lnSpc>
                <a:spcPct val="110000"/>
              </a:lnSpc>
            </a:pPr>
            <a:r>
              <a:rPr lang="en-US" altLang="zh-CN" sz="2400" dirty="0">
                <a:solidFill>
                  <a:srgbClr val="C00000"/>
                </a:solidFill>
              </a:rPr>
              <a:t>If you cannot copy paste the assembly code into </a:t>
            </a:r>
            <a:r>
              <a:rPr lang="en-US" altLang="zh-CN" sz="2400" dirty="0" err="1">
                <a:solidFill>
                  <a:srgbClr val="C00000"/>
                </a:solidFill>
              </a:rPr>
              <a:t>Ripes</a:t>
            </a:r>
            <a:r>
              <a:rPr lang="en-US" altLang="zh-CN" sz="2400" dirty="0">
                <a:solidFill>
                  <a:srgbClr val="C00000"/>
                </a:solidFill>
              </a:rPr>
              <a:t> simulator’s website, check </a:t>
            </a:r>
            <a:r>
              <a:rPr lang="en-US" altLang="zh-CN" sz="2400" b="1" dirty="0">
                <a:solidFill>
                  <a:srgbClr val="C00000"/>
                </a:solidFill>
              </a:rPr>
              <a:t>Week1 Lab Slides </a:t>
            </a:r>
            <a:r>
              <a:rPr lang="en-US" altLang="zh-CN" sz="2400" dirty="0">
                <a:solidFill>
                  <a:srgbClr val="C00000"/>
                </a:solidFill>
              </a:rPr>
              <a:t>and download the software (remember to download the correct OS versions, i.e. Windows/Mac).</a:t>
            </a:r>
            <a:endParaRPr lang="zh-CN" altLang="en-US" sz="2400" dirty="0">
              <a:solidFill>
                <a:srgbClr val="C00000"/>
              </a:solidFill>
            </a:endParaRPr>
          </a:p>
        </p:txBody>
      </p:sp>
    </p:spTree>
    <p:extLst>
      <p:ext uri="{BB962C8B-B14F-4D97-AF65-F5344CB8AC3E}">
        <p14:creationId xmlns:p14="http://schemas.microsoft.com/office/powerpoint/2010/main" val="2355561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01521-25B0-5608-FE05-2452A278D8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1237EEF-88FB-4545-1036-01DB643783B8}"/>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D6E13913-90FC-8C92-DDDE-13A6CBD97F39}"/>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4513028C-1BEF-1B86-3A8A-C77538EB851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CB631CF-01DF-7611-744E-DF086CC33BD4}"/>
              </a:ext>
            </a:extLst>
          </p:cNvPr>
          <p:cNvSpPr>
            <a:spLocks noGrp="1"/>
          </p:cNvSpPr>
          <p:nvPr>
            <p:ph type="sldNum" sz="quarter" idx="12"/>
          </p:nvPr>
        </p:nvSpPr>
        <p:spPr/>
        <p:txBody>
          <a:bodyPr/>
          <a:lstStyle/>
          <a:p>
            <a:fld id="{9146477A-3083-4652-9A53-6C94B28E95E9}" type="slidenum">
              <a:rPr lang="en-US" smtClean="0"/>
              <a:t>14</a:t>
            </a:fld>
            <a:endParaRPr lang="en-US"/>
          </a:p>
        </p:txBody>
      </p:sp>
      <p:sp>
        <p:nvSpPr>
          <p:cNvPr id="6" name="文本占位符 5">
            <a:extLst>
              <a:ext uri="{FF2B5EF4-FFF2-40B4-BE49-F238E27FC236}">
                <a16:creationId xmlns:a16="http://schemas.microsoft.com/office/drawing/2014/main" id="{5ABDC346-43F5-C001-0DE7-1800210D3FA0}"/>
              </a:ext>
            </a:extLst>
          </p:cNvPr>
          <p:cNvSpPr>
            <a:spLocks noGrp="1"/>
          </p:cNvSpPr>
          <p:nvPr>
            <p:ph type="body" idx="1"/>
          </p:nvPr>
        </p:nvSpPr>
        <p:spPr/>
        <p:txBody>
          <a:bodyPr>
            <a:normAutofit/>
          </a:bodyPr>
          <a:lstStyle/>
          <a:p>
            <a:r>
              <a:rPr lang="en-US" altLang="zh-CN" dirty="0"/>
              <a:t>What is the key difference between the RISC-V (GPR Architecture) and MARIE (Accumulator Architecture) when performing an addition operation?</a:t>
            </a:r>
          </a:p>
          <a:p>
            <a:pPr marL="457200" lvl="1" indent="0">
              <a:buNone/>
            </a:pPr>
            <a:r>
              <a:rPr lang="en-US" altLang="zh-CN" dirty="0"/>
              <a:t>A. RISC-V requires all math operations to use a single dedicated Accumulator register</a:t>
            </a:r>
          </a:p>
          <a:p>
            <a:pPr marL="457200" lvl="1" indent="0">
              <a:buNone/>
            </a:pPr>
            <a:r>
              <a:rPr lang="en-US" altLang="zh-CN" dirty="0"/>
              <a:t>B. RISC-V can perform addition directly between multiple general-purpose registers, no need to load every value into a single accumulator</a:t>
            </a:r>
          </a:p>
          <a:p>
            <a:pPr marL="457200" lvl="1" indent="0">
              <a:buNone/>
            </a:pPr>
            <a:r>
              <a:rPr lang="en-US" altLang="zh-CN" dirty="0"/>
              <a:t>C. MARIE can store intermediate results in multiple general-purpose registers</a:t>
            </a:r>
          </a:p>
          <a:p>
            <a:pPr marL="457200" lvl="1" indent="0">
              <a:buNone/>
            </a:pPr>
            <a:r>
              <a:rPr lang="en-US" altLang="zh-CN" dirty="0"/>
              <a:t>D. MARIE uses 3-address instructions for addition, while RISC-V uses 1-address instructions</a:t>
            </a:r>
            <a:endParaRPr lang="zh-CN" altLang="en-US" dirty="0"/>
          </a:p>
        </p:txBody>
      </p:sp>
    </p:spTree>
    <p:extLst>
      <p:ext uri="{BB962C8B-B14F-4D97-AF65-F5344CB8AC3E}">
        <p14:creationId xmlns:p14="http://schemas.microsoft.com/office/powerpoint/2010/main" val="192941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9CE54-03E2-328A-6AE4-F61E83A593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926FC9-8AFB-F419-A216-C7E1A2B0A668}"/>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B282CE5D-FBC5-7F34-A43B-61CACD91B64D}"/>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9ADFB081-05BC-0E4E-4E44-507CCBCA439F}"/>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B504D4B0-9108-25B3-40C0-29C3ABE07CCF}"/>
              </a:ext>
            </a:extLst>
          </p:cNvPr>
          <p:cNvSpPr>
            <a:spLocks noGrp="1"/>
          </p:cNvSpPr>
          <p:nvPr>
            <p:ph type="sldNum" sz="quarter" idx="12"/>
          </p:nvPr>
        </p:nvSpPr>
        <p:spPr/>
        <p:txBody>
          <a:bodyPr/>
          <a:lstStyle/>
          <a:p>
            <a:fld id="{9146477A-3083-4652-9A53-6C94B28E95E9}" type="slidenum">
              <a:rPr lang="en-US" smtClean="0"/>
              <a:t>15</a:t>
            </a:fld>
            <a:endParaRPr lang="en-US"/>
          </a:p>
        </p:txBody>
      </p:sp>
      <p:sp>
        <p:nvSpPr>
          <p:cNvPr id="6" name="文本占位符 5">
            <a:extLst>
              <a:ext uri="{FF2B5EF4-FFF2-40B4-BE49-F238E27FC236}">
                <a16:creationId xmlns:a16="http://schemas.microsoft.com/office/drawing/2014/main" id="{6CF1D0DA-B466-82B8-31B0-27E833B9FE2A}"/>
              </a:ext>
            </a:extLst>
          </p:cNvPr>
          <p:cNvSpPr>
            <a:spLocks noGrp="1"/>
          </p:cNvSpPr>
          <p:nvPr>
            <p:ph type="body" idx="1"/>
          </p:nvPr>
        </p:nvSpPr>
        <p:spPr/>
        <p:txBody>
          <a:bodyPr>
            <a:normAutofit/>
          </a:bodyPr>
          <a:lstStyle/>
          <a:p>
            <a:r>
              <a:rPr lang="en-US" altLang="zh-CN" dirty="0"/>
              <a:t>For a single-cycle processor, the CPI (Cycles Per Instruction) is always 1.0. What is the core reason for this?</a:t>
            </a:r>
          </a:p>
          <a:p>
            <a:pPr marL="457200" lvl="1" indent="0">
              <a:buNone/>
            </a:pPr>
            <a:r>
              <a:rPr lang="en-US" altLang="zh-CN" dirty="0"/>
              <a:t>A. The processor uses pipelining to overlap instruction execution</a:t>
            </a:r>
          </a:p>
          <a:p>
            <a:pPr marL="457200" lvl="1" indent="0">
              <a:buNone/>
            </a:pPr>
            <a:r>
              <a:rPr lang="en-US" altLang="zh-CN" dirty="0"/>
              <a:t>B. The processor never has cache misses</a:t>
            </a:r>
          </a:p>
          <a:p>
            <a:pPr marL="457200" lvl="1" indent="0">
              <a:buNone/>
            </a:pPr>
            <a:r>
              <a:rPr lang="en-US" altLang="zh-CN" dirty="0"/>
              <a:t>C. The processor can execute multiple instructions at the same time</a:t>
            </a:r>
          </a:p>
          <a:p>
            <a:pPr marL="457200" lvl="1" indent="0">
              <a:buNone/>
            </a:pPr>
            <a:r>
              <a:rPr lang="en-US" altLang="zh-CN" dirty="0"/>
              <a:t>D. The processor executes one full instruction from start to finish in a single clock cycle</a:t>
            </a:r>
          </a:p>
          <a:p>
            <a:pPr marL="457200" lvl="1" indent="0">
              <a:buNone/>
            </a:pPr>
            <a:endParaRPr lang="zh-CN" altLang="en-US" dirty="0"/>
          </a:p>
        </p:txBody>
      </p:sp>
    </p:spTree>
    <p:extLst>
      <p:ext uri="{BB962C8B-B14F-4D97-AF65-F5344CB8AC3E}">
        <p14:creationId xmlns:p14="http://schemas.microsoft.com/office/powerpoint/2010/main" val="1141733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59723-3F64-69EC-1101-C94D66E957A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AC278A-ED6D-F39B-6846-EF208CE20A02}"/>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7B5FA851-B363-20BC-166F-ABC0E6B2AC28}"/>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6EA583CD-4F47-F4D5-ECA8-F6F86D02BE84}"/>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F901599E-D1C0-E6F0-58FC-D01D1BF320DE}"/>
              </a:ext>
            </a:extLst>
          </p:cNvPr>
          <p:cNvSpPr>
            <a:spLocks noGrp="1"/>
          </p:cNvSpPr>
          <p:nvPr>
            <p:ph type="sldNum" sz="quarter" idx="12"/>
          </p:nvPr>
        </p:nvSpPr>
        <p:spPr/>
        <p:txBody>
          <a:bodyPr/>
          <a:lstStyle/>
          <a:p>
            <a:fld id="{9146477A-3083-4652-9A53-6C94B28E95E9}" type="slidenum">
              <a:rPr lang="en-US" smtClean="0"/>
              <a:t>16</a:t>
            </a:fld>
            <a:endParaRPr lang="en-US"/>
          </a:p>
        </p:txBody>
      </p:sp>
      <p:sp>
        <p:nvSpPr>
          <p:cNvPr id="6" name="文本占位符 5">
            <a:extLst>
              <a:ext uri="{FF2B5EF4-FFF2-40B4-BE49-F238E27FC236}">
                <a16:creationId xmlns:a16="http://schemas.microsoft.com/office/drawing/2014/main" id="{F1714F70-7A4F-531C-C4D4-97A0CE7D92F3}"/>
              </a:ext>
            </a:extLst>
          </p:cNvPr>
          <p:cNvSpPr>
            <a:spLocks noGrp="1"/>
          </p:cNvSpPr>
          <p:nvPr>
            <p:ph type="body" idx="1"/>
          </p:nvPr>
        </p:nvSpPr>
        <p:spPr/>
        <p:txBody>
          <a:bodyPr>
            <a:normAutofit/>
          </a:bodyPr>
          <a:lstStyle/>
          <a:p>
            <a:r>
              <a:rPr lang="en-US" altLang="zh-CN" dirty="0"/>
              <a:t>We store the 32-bit hex value 0x12345678 in memory. If we observe the byte at the lowest memory address is 0x78, what endianness is this processor using?</a:t>
            </a:r>
          </a:p>
          <a:p>
            <a:pPr marL="457200" lvl="1" indent="0">
              <a:buNone/>
            </a:pPr>
            <a:r>
              <a:rPr lang="en-US" altLang="zh-CN" dirty="0"/>
              <a:t>A. Big-Endian</a:t>
            </a:r>
          </a:p>
          <a:p>
            <a:pPr marL="457200" lvl="1" indent="0">
              <a:buNone/>
            </a:pPr>
            <a:r>
              <a:rPr lang="en-US" altLang="zh-CN" dirty="0"/>
              <a:t>B. Little-Endian</a:t>
            </a:r>
          </a:p>
        </p:txBody>
      </p:sp>
    </p:spTree>
    <p:extLst>
      <p:ext uri="{BB962C8B-B14F-4D97-AF65-F5344CB8AC3E}">
        <p14:creationId xmlns:p14="http://schemas.microsoft.com/office/powerpoint/2010/main" val="4194672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C7D87-7512-9F33-F1B1-B63301A31C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27162C7-70D8-F5EC-CAFE-C1473A72B6FB}"/>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2FE5A2F4-FBA7-8658-C733-EEE727B89423}"/>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6D0E1D35-F2B7-9FB8-2547-4ECE521C0542}"/>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EBFD3946-958A-8C79-AFCA-FB821B14E0A3}"/>
              </a:ext>
            </a:extLst>
          </p:cNvPr>
          <p:cNvSpPr>
            <a:spLocks noGrp="1"/>
          </p:cNvSpPr>
          <p:nvPr>
            <p:ph type="sldNum" sz="quarter" idx="12"/>
          </p:nvPr>
        </p:nvSpPr>
        <p:spPr/>
        <p:txBody>
          <a:bodyPr/>
          <a:lstStyle/>
          <a:p>
            <a:fld id="{9146477A-3083-4652-9A53-6C94B28E95E9}" type="slidenum">
              <a:rPr lang="en-US" smtClean="0"/>
              <a:t>17</a:t>
            </a:fld>
            <a:endParaRPr lang="en-US"/>
          </a:p>
        </p:txBody>
      </p:sp>
      <p:sp>
        <p:nvSpPr>
          <p:cNvPr id="6" name="文本占位符 5">
            <a:extLst>
              <a:ext uri="{FF2B5EF4-FFF2-40B4-BE49-F238E27FC236}">
                <a16:creationId xmlns:a16="http://schemas.microsoft.com/office/drawing/2014/main" id="{DCC423B2-ABA0-5AF3-1C81-BE670D8AB741}"/>
              </a:ext>
            </a:extLst>
          </p:cNvPr>
          <p:cNvSpPr>
            <a:spLocks noGrp="1"/>
          </p:cNvSpPr>
          <p:nvPr>
            <p:ph type="body" idx="1"/>
          </p:nvPr>
        </p:nvSpPr>
        <p:spPr/>
        <p:txBody>
          <a:bodyPr>
            <a:normAutofit/>
          </a:bodyPr>
          <a:lstStyle/>
          <a:p>
            <a:r>
              <a:rPr lang="en-US" altLang="zh-CN" dirty="0"/>
              <a:t>In a 5-stage pipeline, when a branch instruction decides to jump, the pre-fetched instructions after the branch are flushed (discarded). What is the direct impact of this flush?</a:t>
            </a:r>
          </a:p>
          <a:p>
            <a:pPr marL="457200" lvl="1" indent="0">
              <a:buNone/>
            </a:pPr>
            <a:r>
              <a:rPr lang="en-US" altLang="zh-CN" dirty="0"/>
              <a:t>A. It reduces the total number of instructions executed</a:t>
            </a:r>
          </a:p>
          <a:p>
            <a:pPr marL="457200" lvl="1" indent="0">
              <a:buNone/>
            </a:pPr>
            <a:r>
              <a:rPr lang="en-US" altLang="zh-CN" dirty="0"/>
              <a:t>B. It makes the CPI (Cycles Per Instruction) greater than 1.0</a:t>
            </a:r>
          </a:p>
          <a:p>
            <a:pPr marL="457200" lvl="1" indent="0">
              <a:buNone/>
            </a:pPr>
            <a:r>
              <a:rPr lang="en-US" altLang="zh-CN" dirty="0"/>
              <a:t>C. It increases the speedup of the pipeline</a:t>
            </a:r>
          </a:p>
          <a:p>
            <a:pPr marL="457200" lvl="1" indent="0">
              <a:buNone/>
            </a:pPr>
            <a:r>
              <a:rPr lang="en-US" altLang="zh-CN" dirty="0"/>
              <a:t>D. It eliminates all data dependencies between instructions</a:t>
            </a:r>
            <a:endParaRPr lang="zh-CN" altLang="en-US" dirty="0"/>
          </a:p>
        </p:txBody>
      </p:sp>
    </p:spTree>
    <p:extLst>
      <p:ext uri="{BB962C8B-B14F-4D97-AF65-F5344CB8AC3E}">
        <p14:creationId xmlns:p14="http://schemas.microsoft.com/office/powerpoint/2010/main" val="793898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0B579-262B-A73D-17E4-2A7C980CD1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921DC9-D7CA-3A05-6A90-FD4AB7DA4D1E}"/>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234C72D9-7A28-445A-2B44-DFB4ED72403F}"/>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63448E87-D291-60C7-1D6A-56EABFC879C6}"/>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C4528100-50A9-6365-3446-6C0704E45287}"/>
              </a:ext>
            </a:extLst>
          </p:cNvPr>
          <p:cNvSpPr>
            <a:spLocks noGrp="1"/>
          </p:cNvSpPr>
          <p:nvPr>
            <p:ph type="sldNum" sz="quarter" idx="12"/>
          </p:nvPr>
        </p:nvSpPr>
        <p:spPr/>
        <p:txBody>
          <a:bodyPr/>
          <a:lstStyle/>
          <a:p>
            <a:fld id="{9146477A-3083-4652-9A53-6C94B28E95E9}" type="slidenum">
              <a:rPr lang="en-US" smtClean="0"/>
              <a:t>18</a:t>
            </a:fld>
            <a:endParaRPr lang="en-US"/>
          </a:p>
        </p:txBody>
      </p:sp>
      <p:sp>
        <p:nvSpPr>
          <p:cNvPr id="6" name="文本占位符 5">
            <a:extLst>
              <a:ext uri="{FF2B5EF4-FFF2-40B4-BE49-F238E27FC236}">
                <a16:creationId xmlns:a16="http://schemas.microsoft.com/office/drawing/2014/main" id="{24003AB7-00B1-CD72-89BA-54A2EAF13ED9}"/>
              </a:ext>
            </a:extLst>
          </p:cNvPr>
          <p:cNvSpPr>
            <a:spLocks noGrp="1"/>
          </p:cNvSpPr>
          <p:nvPr>
            <p:ph type="body" idx="1"/>
          </p:nvPr>
        </p:nvSpPr>
        <p:spPr/>
        <p:txBody>
          <a:bodyPr>
            <a:normAutofit/>
          </a:bodyPr>
          <a:lstStyle/>
          <a:p>
            <a:r>
              <a:rPr lang="en-US" altLang="zh-CN" dirty="0"/>
              <a:t>Which of the following RISC-V instructions belongs to the Control Flow category (changes the Program Counter to create loops/branches)?</a:t>
            </a:r>
          </a:p>
          <a:p>
            <a:pPr marL="457200" lvl="1" indent="0">
              <a:buNone/>
            </a:pPr>
            <a:r>
              <a:rPr lang="en-US" altLang="zh-CN" dirty="0"/>
              <a:t>A. </a:t>
            </a:r>
            <a:r>
              <a:rPr lang="en-US" altLang="zh-CN" dirty="0" err="1"/>
              <a:t>lw</a:t>
            </a:r>
            <a:r>
              <a:rPr lang="en-US" altLang="zh-CN" dirty="0"/>
              <a:t> x5, 0(x10)</a:t>
            </a:r>
          </a:p>
          <a:p>
            <a:pPr marL="457200" lvl="1" indent="0">
              <a:buNone/>
            </a:pPr>
            <a:r>
              <a:rPr lang="en-US" altLang="zh-CN" dirty="0"/>
              <a:t>B. add x7, x7, x6</a:t>
            </a:r>
          </a:p>
          <a:p>
            <a:pPr marL="457200" lvl="1" indent="0">
              <a:buNone/>
            </a:pPr>
            <a:r>
              <a:rPr lang="en-US" altLang="zh-CN" dirty="0"/>
              <a:t>C. </a:t>
            </a:r>
            <a:r>
              <a:rPr lang="en-US" altLang="zh-CN" dirty="0" err="1"/>
              <a:t>blt</a:t>
            </a:r>
            <a:r>
              <a:rPr lang="en-US" altLang="zh-CN" dirty="0"/>
              <a:t> x6, x5, loop</a:t>
            </a:r>
          </a:p>
          <a:p>
            <a:pPr marL="457200" lvl="1" indent="0">
              <a:buNone/>
            </a:pPr>
            <a:r>
              <a:rPr lang="en-US" altLang="zh-CN" dirty="0"/>
              <a:t>D. </a:t>
            </a:r>
            <a:r>
              <a:rPr lang="en-US" altLang="zh-CN" dirty="0" err="1"/>
              <a:t>sw</a:t>
            </a:r>
            <a:r>
              <a:rPr lang="en-US" altLang="zh-CN" dirty="0"/>
              <a:t> x7, 0(x11)</a:t>
            </a:r>
            <a:endParaRPr lang="zh-CN" altLang="en-US" dirty="0"/>
          </a:p>
        </p:txBody>
      </p:sp>
    </p:spTree>
    <p:extLst>
      <p:ext uri="{BB962C8B-B14F-4D97-AF65-F5344CB8AC3E}">
        <p14:creationId xmlns:p14="http://schemas.microsoft.com/office/powerpoint/2010/main" val="4283734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10B8-9808-9F88-3CA4-36628950A2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F3C577-C41C-B482-CAE8-ADA259A536BC}"/>
              </a:ext>
            </a:extLst>
          </p:cNvPr>
          <p:cNvSpPr>
            <a:spLocks noGrp="1"/>
          </p:cNvSpPr>
          <p:nvPr>
            <p:ph type="title"/>
          </p:nvPr>
        </p:nvSpPr>
        <p:spPr/>
        <p:txBody>
          <a:bodyPr>
            <a:normAutofit fontScale="90000"/>
          </a:bodyPr>
          <a:lstStyle/>
          <a:p>
            <a:r>
              <a:rPr lang="en-US" altLang="zh-CN" dirty="0"/>
              <a:t>Section 3: Week 3 Lecture &amp; Lab</a:t>
            </a:r>
            <a:endParaRPr lang="zh-CN" altLang="en-US" dirty="0"/>
          </a:p>
        </p:txBody>
      </p:sp>
      <p:sp>
        <p:nvSpPr>
          <p:cNvPr id="3" name="日期占位符 2">
            <a:extLst>
              <a:ext uri="{FF2B5EF4-FFF2-40B4-BE49-F238E27FC236}">
                <a16:creationId xmlns:a16="http://schemas.microsoft.com/office/drawing/2014/main" id="{97914EE4-5577-5658-1827-6D8FC2372228}"/>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29F87DA3-8A64-4646-FDB8-E7AC98D8B9CA}"/>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BA4EE714-0B00-7200-F525-A329A40A4127}"/>
              </a:ext>
            </a:extLst>
          </p:cNvPr>
          <p:cNvSpPr>
            <a:spLocks noGrp="1"/>
          </p:cNvSpPr>
          <p:nvPr>
            <p:ph type="sldNum" sz="quarter" idx="12"/>
          </p:nvPr>
        </p:nvSpPr>
        <p:spPr/>
        <p:txBody>
          <a:bodyPr/>
          <a:lstStyle/>
          <a:p>
            <a:fld id="{9146477A-3083-4652-9A53-6C94B28E95E9}" type="slidenum">
              <a:rPr lang="en-US" smtClean="0"/>
              <a:t>19</a:t>
            </a:fld>
            <a:endParaRPr lang="en-US"/>
          </a:p>
        </p:txBody>
      </p:sp>
      <p:sp>
        <p:nvSpPr>
          <p:cNvPr id="6" name="文本占位符 5">
            <a:extLst>
              <a:ext uri="{FF2B5EF4-FFF2-40B4-BE49-F238E27FC236}">
                <a16:creationId xmlns:a16="http://schemas.microsoft.com/office/drawing/2014/main" id="{62DA62B6-7F2A-5E5B-B247-2FC938F53DB0}"/>
              </a:ext>
            </a:extLst>
          </p:cNvPr>
          <p:cNvSpPr>
            <a:spLocks noGrp="1"/>
          </p:cNvSpPr>
          <p:nvPr>
            <p:ph type="body" idx="1"/>
          </p:nvPr>
        </p:nvSpPr>
        <p:spPr/>
        <p:txBody>
          <a:bodyPr>
            <a:normAutofit/>
          </a:bodyPr>
          <a:lstStyle/>
          <a:p>
            <a:r>
              <a:rPr lang="en-US" altLang="zh-CN" dirty="0"/>
              <a:t>What is the theoretical maximum speedup of a 5-stage pipelined processor, compared to a non-pipelined single-cycle processor?</a:t>
            </a:r>
          </a:p>
          <a:p>
            <a:pPr marL="457200" lvl="1" indent="0">
              <a:buNone/>
            </a:pPr>
            <a:r>
              <a:rPr lang="en-US" altLang="zh-CN" dirty="0"/>
              <a:t>A. 2x</a:t>
            </a:r>
          </a:p>
          <a:p>
            <a:pPr marL="457200" lvl="1" indent="0">
              <a:buNone/>
            </a:pPr>
            <a:r>
              <a:rPr lang="en-US" altLang="zh-CN" dirty="0"/>
              <a:t>B. 5x</a:t>
            </a:r>
          </a:p>
          <a:p>
            <a:pPr marL="457200" lvl="1" indent="0">
              <a:buNone/>
            </a:pPr>
            <a:r>
              <a:rPr lang="en-US" altLang="zh-CN" dirty="0"/>
              <a:t>C. 10x</a:t>
            </a:r>
          </a:p>
          <a:p>
            <a:pPr marL="457200" lvl="1" indent="0">
              <a:buNone/>
            </a:pPr>
            <a:r>
              <a:rPr lang="en-US" altLang="zh-CN" dirty="0"/>
              <a:t>D. 1x (no speedup)</a:t>
            </a:r>
            <a:endParaRPr lang="zh-CN" altLang="en-US" dirty="0"/>
          </a:p>
        </p:txBody>
      </p:sp>
    </p:spTree>
    <p:extLst>
      <p:ext uri="{BB962C8B-B14F-4D97-AF65-F5344CB8AC3E}">
        <p14:creationId xmlns:p14="http://schemas.microsoft.com/office/powerpoint/2010/main" val="3367443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0C6B3-2E51-36F0-D886-4231DAE9DD5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D90C00-171A-54C4-9C81-C06E3E7DE510}"/>
              </a:ext>
            </a:extLst>
          </p:cNvPr>
          <p:cNvSpPr>
            <a:spLocks noGrp="1"/>
          </p:cNvSpPr>
          <p:nvPr>
            <p:ph type="title"/>
          </p:nvPr>
        </p:nvSpPr>
        <p:spPr/>
        <p:txBody>
          <a:bodyPr/>
          <a:lstStyle/>
          <a:p>
            <a:r>
              <a:rPr lang="en-US" altLang="zh-CN" dirty="0"/>
              <a:t>Answers</a:t>
            </a:r>
            <a:endParaRPr lang="zh-CN" altLang="en-US" dirty="0"/>
          </a:p>
        </p:txBody>
      </p:sp>
      <p:sp>
        <p:nvSpPr>
          <p:cNvPr id="3" name="日期占位符 2">
            <a:extLst>
              <a:ext uri="{FF2B5EF4-FFF2-40B4-BE49-F238E27FC236}">
                <a16:creationId xmlns:a16="http://schemas.microsoft.com/office/drawing/2014/main" id="{CF82975F-409F-D7AA-5BC3-8F1AE3B818D3}"/>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A0DFF001-AFFE-8B6B-2B7D-80FD2A71EA2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691B9743-A5AA-3AC1-F0D6-2C63999AB98E}"/>
              </a:ext>
            </a:extLst>
          </p:cNvPr>
          <p:cNvSpPr>
            <a:spLocks noGrp="1"/>
          </p:cNvSpPr>
          <p:nvPr>
            <p:ph type="sldNum" sz="quarter" idx="12"/>
          </p:nvPr>
        </p:nvSpPr>
        <p:spPr/>
        <p:txBody>
          <a:bodyPr/>
          <a:lstStyle/>
          <a:p>
            <a:fld id="{9146477A-3083-4652-9A53-6C94B28E95E9}" type="slidenum">
              <a:rPr lang="en-US" smtClean="0"/>
              <a:t>20</a:t>
            </a:fld>
            <a:endParaRPr lang="en-US"/>
          </a:p>
        </p:txBody>
      </p:sp>
      <p:sp>
        <p:nvSpPr>
          <p:cNvPr id="6" name="文本占位符 5">
            <a:extLst>
              <a:ext uri="{FF2B5EF4-FFF2-40B4-BE49-F238E27FC236}">
                <a16:creationId xmlns:a16="http://schemas.microsoft.com/office/drawing/2014/main" id="{62C2588A-B8D2-3C71-9696-9CED52EF7D1B}"/>
              </a:ext>
            </a:extLst>
          </p:cNvPr>
          <p:cNvSpPr>
            <a:spLocks noGrp="1"/>
          </p:cNvSpPr>
          <p:nvPr>
            <p:ph type="body" idx="1"/>
          </p:nvPr>
        </p:nvSpPr>
        <p:spPr/>
        <p:txBody>
          <a:bodyPr/>
          <a:lstStyle/>
          <a:p>
            <a:r>
              <a:rPr lang="en-US" altLang="zh-CN" dirty="0"/>
              <a:t>Section 1: A,B,C,B,B</a:t>
            </a:r>
          </a:p>
        </p:txBody>
      </p:sp>
    </p:spTree>
    <p:extLst>
      <p:ext uri="{BB962C8B-B14F-4D97-AF65-F5344CB8AC3E}">
        <p14:creationId xmlns:p14="http://schemas.microsoft.com/office/powerpoint/2010/main" val="4096882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445C9-D589-B05A-B157-C1FC1C6211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FD4FB7D-5146-DD2E-B79F-BE2BF5B252CC}"/>
              </a:ext>
            </a:extLst>
          </p:cNvPr>
          <p:cNvSpPr>
            <a:spLocks noGrp="1"/>
          </p:cNvSpPr>
          <p:nvPr>
            <p:ph type="title"/>
          </p:nvPr>
        </p:nvSpPr>
        <p:spPr/>
        <p:txBody>
          <a:bodyPr/>
          <a:lstStyle/>
          <a:p>
            <a:r>
              <a:rPr lang="en-US" altLang="zh-CN" dirty="0"/>
              <a:t>Answers</a:t>
            </a:r>
            <a:endParaRPr lang="zh-CN" altLang="en-US" dirty="0"/>
          </a:p>
        </p:txBody>
      </p:sp>
      <p:sp>
        <p:nvSpPr>
          <p:cNvPr id="3" name="日期占位符 2">
            <a:extLst>
              <a:ext uri="{FF2B5EF4-FFF2-40B4-BE49-F238E27FC236}">
                <a16:creationId xmlns:a16="http://schemas.microsoft.com/office/drawing/2014/main" id="{CCD6FF14-EE4B-2528-89DD-7A612EF57198}"/>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112F72E5-B439-3C59-3742-C9146890B859}"/>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1EF25D99-DE1C-F256-64EC-53626A318DB3}"/>
              </a:ext>
            </a:extLst>
          </p:cNvPr>
          <p:cNvSpPr>
            <a:spLocks noGrp="1"/>
          </p:cNvSpPr>
          <p:nvPr>
            <p:ph type="sldNum" sz="quarter" idx="12"/>
          </p:nvPr>
        </p:nvSpPr>
        <p:spPr/>
        <p:txBody>
          <a:bodyPr/>
          <a:lstStyle/>
          <a:p>
            <a:fld id="{9146477A-3083-4652-9A53-6C94B28E95E9}" type="slidenum">
              <a:rPr lang="en-US" smtClean="0"/>
              <a:t>21</a:t>
            </a:fld>
            <a:endParaRPr lang="en-US"/>
          </a:p>
        </p:txBody>
      </p:sp>
      <p:sp>
        <p:nvSpPr>
          <p:cNvPr id="6" name="文本占位符 5">
            <a:extLst>
              <a:ext uri="{FF2B5EF4-FFF2-40B4-BE49-F238E27FC236}">
                <a16:creationId xmlns:a16="http://schemas.microsoft.com/office/drawing/2014/main" id="{441D5ACA-2E00-A8E5-4417-DADBF53EB822}"/>
              </a:ext>
            </a:extLst>
          </p:cNvPr>
          <p:cNvSpPr>
            <a:spLocks noGrp="1"/>
          </p:cNvSpPr>
          <p:nvPr>
            <p:ph type="body" idx="1"/>
          </p:nvPr>
        </p:nvSpPr>
        <p:spPr/>
        <p:txBody>
          <a:bodyPr/>
          <a:lstStyle/>
          <a:p>
            <a:r>
              <a:rPr lang="en-US" altLang="zh-CN" dirty="0"/>
              <a:t>Section 2: </a:t>
            </a:r>
          </a:p>
          <a:p>
            <a:pPr marL="914400" lvl="1" indent="-457200">
              <a:buFont typeface="+mj-lt"/>
              <a:buAutoNum type="arabicPeriod"/>
            </a:pPr>
            <a:r>
              <a:rPr lang="en-US" altLang="zh-CN" dirty="0"/>
              <a:t>003 (or 0003, 0x003)</a:t>
            </a:r>
          </a:p>
          <a:p>
            <a:pPr marL="914400" lvl="1" indent="-457200">
              <a:buFont typeface="+mj-lt"/>
              <a:buAutoNum type="arabicPeriod"/>
            </a:pPr>
            <a:r>
              <a:rPr lang="en-US" altLang="zh-CN" dirty="0"/>
              <a:t>0003 (or 3)</a:t>
            </a:r>
          </a:p>
          <a:p>
            <a:pPr marL="914400" lvl="1" indent="-457200">
              <a:buFont typeface="+mj-lt"/>
              <a:buAutoNum type="arabicPeriod"/>
            </a:pPr>
            <a:r>
              <a:rPr lang="en-US" altLang="zh-CN" dirty="0"/>
              <a:t>006 (or 0006, 0x006)</a:t>
            </a:r>
          </a:p>
          <a:p>
            <a:pPr marL="914400" lvl="1" indent="-457200">
              <a:buFont typeface="+mj-lt"/>
              <a:buAutoNum type="arabicPeriod"/>
            </a:pPr>
            <a:r>
              <a:rPr lang="en-US" altLang="zh-CN" dirty="0"/>
              <a:t>004 (or 0004, 0x004)</a:t>
            </a:r>
          </a:p>
          <a:p>
            <a:pPr marL="914400" lvl="1" indent="-457200">
              <a:buFont typeface="+mj-lt"/>
              <a:buAutoNum type="arabicPeriod"/>
            </a:pPr>
            <a:r>
              <a:rPr lang="en-US" altLang="zh-CN" dirty="0"/>
              <a:t>3</a:t>
            </a:r>
          </a:p>
        </p:txBody>
      </p:sp>
    </p:spTree>
    <p:extLst>
      <p:ext uri="{BB962C8B-B14F-4D97-AF65-F5344CB8AC3E}">
        <p14:creationId xmlns:p14="http://schemas.microsoft.com/office/powerpoint/2010/main" val="379572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658D6-9E6E-35D8-079D-F828B871E7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3836AC-BEB0-E1AB-6B06-494EAE5981EF}"/>
              </a:ext>
            </a:extLst>
          </p:cNvPr>
          <p:cNvSpPr>
            <a:spLocks noGrp="1"/>
          </p:cNvSpPr>
          <p:nvPr>
            <p:ph type="title"/>
          </p:nvPr>
        </p:nvSpPr>
        <p:spPr/>
        <p:txBody>
          <a:bodyPr/>
          <a:lstStyle/>
          <a:p>
            <a:r>
              <a:rPr lang="en-US" altLang="zh-CN" dirty="0"/>
              <a:t>Answers</a:t>
            </a:r>
            <a:endParaRPr lang="zh-CN" altLang="en-US" dirty="0"/>
          </a:p>
        </p:txBody>
      </p:sp>
      <p:sp>
        <p:nvSpPr>
          <p:cNvPr id="3" name="日期占位符 2">
            <a:extLst>
              <a:ext uri="{FF2B5EF4-FFF2-40B4-BE49-F238E27FC236}">
                <a16:creationId xmlns:a16="http://schemas.microsoft.com/office/drawing/2014/main" id="{E0462D2E-5E95-2D14-4097-6CBCAA99F7D3}"/>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AC813CFC-CD0C-A723-3334-E1B5113251C5}"/>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AA19C1E2-BC98-C52A-1B28-E549333EAF48}"/>
              </a:ext>
            </a:extLst>
          </p:cNvPr>
          <p:cNvSpPr>
            <a:spLocks noGrp="1"/>
          </p:cNvSpPr>
          <p:nvPr>
            <p:ph type="sldNum" sz="quarter" idx="12"/>
          </p:nvPr>
        </p:nvSpPr>
        <p:spPr/>
        <p:txBody>
          <a:bodyPr/>
          <a:lstStyle/>
          <a:p>
            <a:fld id="{9146477A-3083-4652-9A53-6C94B28E95E9}" type="slidenum">
              <a:rPr lang="en-US" smtClean="0"/>
              <a:t>22</a:t>
            </a:fld>
            <a:endParaRPr lang="en-US"/>
          </a:p>
        </p:txBody>
      </p:sp>
      <p:sp>
        <p:nvSpPr>
          <p:cNvPr id="6" name="文本占位符 5">
            <a:extLst>
              <a:ext uri="{FF2B5EF4-FFF2-40B4-BE49-F238E27FC236}">
                <a16:creationId xmlns:a16="http://schemas.microsoft.com/office/drawing/2014/main" id="{0C6E88B0-6CC8-7994-10CE-C6BDC2CF2DA4}"/>
              </a:ext>
            </a:extLst>
          </p:cNvPr>
          <p:cNvSpPr>
            <a:spLocks noGrp="1"/>
          </p:cNvSpPr>
          <p:nvPr>
            <p:ph type="body" idx="1"/>
          </p:nvPr>
        </p:nvSpPr>
        <p:spPr/>
        <p:txBody>
          <a:bodyPr/>
          <a:lstStyle/>
          <a:p>
            <a:r>
              <a:rPr lang="en-US" altLang="zh-CN" dirty="0"/>
              <a:t>Section 3:B,D,B,B,C,B</a:t>
            </a:r>
          </a:p>
        </p:txBody>
      </p:sp>
    </p:spTree>
    <p:extLst>
      <p:ext uri="{BB962C8B-B14F-4D97-AF65-F5344CB8AC3E}">
        <p14:creationId xmlns:p14="http://schemas.microsoft.com/office/powerpoint/2010/main" val="966892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5147-850C-C7B7-DC96-B994608B02CE}"/>
              </a:ext>
            </a:extLst>
          </p:cNvPr>
          <p:cNvSpPr>
            <a:spLocks noGrp="1"/>
          </p:cNvSpPr>
          <p:nvPr>
            <p:ph type="title"/>
          </p:nvPr>
        </p:nvSpPr>
        <p:spPr/>
        <p:txBody>
          <a:bodyPr/>
          <a:lstStyle/>
          <a:p>
            <a:r>
              <a:rPr lang="en-US" altLang="zh-CN" dirty="0"/>
              <a:t>Great Work!</a:t>
            </a:r>
            <a:endParaRPr lang="zh-CN" altLang="en-US" dirty="0"/>
          </a:p>
        </p:txBody>
      </p:sp>
      <p:sp>
        <p:nvSpPr>
          <p:cNvPr id="3" name="日期占位符 2">
            <a:extLst>
              <a:ext uri="{FF2B5EF4-FFF2-40B4-BE49-F238E27FC236}">
                <a16:creationId xmlns:a16="http://schemas.microsoft.com/office/drawing/2014/main" id="{B8051A7E-23BC-64A8-27AD-F095F98E25BF}"/>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8CE052D4-7C03-B540-C923-870B4F5DE843}"/>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F20EE42E-E619-808D-D798-569A21B9ACCC}"/>
              </a:ext>
            </a:extLst>
          </p:cNvPr>
          <p:cNvSpPr>
            <a:spLocks noGrp="1"/>
          </p:cNvSpPr>
          <p:nvPr>
            <p:ph type="sldNum" sz="quarter" idx="12"/>
          </p:nvPr>
        </p:nvSpPr>
        <p:spPr/>
        <p:txBody>
          <a:bodyPr/>
          <a:lstStyle/>
          <a:p>
            <a:fld id="{9146477A-3083-4652-9A53-6C94B28E95E9}" type="slidenum">
              <a:rPr lang="en-US" smtClean="0"/>
              <a:t>23</a:t>
            </a:fld>
            <a:endParaRPr lang="en-US"/>
          </a:p>
        </p:txBody>
      </p:sp>
      <p:sp>
        <p:nvSpPr>
          <p:cNvPr id="6" name="文本占位符 5">
            <a:extLst>
              <a:ext uri="{FF2B5EF4-FFF2-40B4-BE49-F238E27FC236}">
                <a16:creationId xmlns:a16="http://schemas.microsoft.com/office/drawing/2014/main" id="{8162B45F-69C5-C6AD-D9B7-EAF92F09F4BB}"/>
              </a:ext>
            </a:extLst>
          </p:cNvPr>
          <p:cNvSpPr>
            <a:spLocks noGrp="1"/>
          </p:cNvSpPr>
          <p:nvPr>
            <p:ph type="body" idx="1"/>
          </p:nvPr>
        </p:nvSpPr>
        <p:spPr/>
        <p:txBody>
          <a:bodyPr/>
          <a:lstStyle/>
          <a:p>
            <a:r>
              <a:rPr lang="en-US" altLang="zh-CN" dirty="0"/>
              <a:t>If you’ve successfully completed all three sections of the self-check and confirmed your understanding of the core concepts, congratulations!</a:t>
            </a:r>
          </a:p>
          <a:p>
            <a:r>
              <a:rPr lang="en-US" altLang="zh-CN" dirty="0"/>
              <a:t>You’ve built a rock-solid foundation in processor architecture fundamentals — from the Fetch-Decode-Execute cycle and MARIE’s accumulator design, to RISC-V’s GPR architecture, pipelined processor behavior, and the core rules of ISA design. </a:t>
            </a:r>
          </a:p>
          <a:p>
            <a:endParaRPr lang="zh-CN" altLang="en-US" dirty="0"/>
          </a:p>
        </p:txBody>
      </p:sp>
    </p:spTree>
    <p:extLst>
      <p:ext uri="{BB962C8B-B14F-4D97-AF65-F5344CB8AC3E}">
        <p14:creationId xmlns:p14="http://schemas.microsoft.com/office/powerpoint/2010/main" val="2248745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A8A65-A8DB-C254-40CF-74E601DD5321}"/>
              </a:ext>
            </a:extLst>
          </p:cNvPr>
          <p:cNvSpPr>
            <a:spLocks noGrp="1"/>
          </p:cNvSpPr>
          <p:nvPr>
            <p:ph type="title"/>
          </p:nvPr>
        </p:nvSpPr>
        <p:spPr/>
        <p:txBody>
          <a:bodyPr/>
          <a:lstStyle/>
          <a:p>
            <a:r>
              <a:rPr lang="en-US" altLang="zh-CN" dirty="0"/>
              <a:t>Week 4 Exercises</a:t>
            </a:r>
            <a:endParaRPr lang="zh-CN" altLang="en-US" dirty="0"/>
          </a:p>
        </p:txBody>
      </p:sp>
      <p:sp>
        <p:nvSpPr>
          <p:cNvPr id="3" name="日期占位符 2">
            <a:extLst>
              <a:ext uri="{FF2B5EF4-FFF2-40B4-BE49-F238E27FC236}">
                <a16:creationId xmlns:a16="http://schemas.microsoft.com/office/drawing/2014/main" id="{FB7D092E-E5F9-0C5C-3DF9-7282C25243C3}"/>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ED45B3E2-07FD-0641-6D7D-5DB4208C1183}"/>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D0AF615B-54BD-E512-3986-9F462C7AC71F}"/>
              </a:ext>
            </a:extLst>
          </p:cNvPr>
          <p:cNvSpPr>
            <a:spLocks noGrp="1"/>
          </p:cNvSpPr>
          <p:nvPr>
            <p:ph type="sldNum" sz="quarter" idx="12"/>
          </p:nvPr>
        </p:nvSpPr>
        <p:spPr/>
        <p:txBody>
          <a:bodyPr/>
          <a:lstStyle/>
          <a:p>
            <a:fld id="{9146477A-3083-4652-9A53-6C94B28E95E9}" type="slidenum">
              <a:rPr lang="en-US" smtClean="0"/>
              <a:t>24</a:t>
            </a:fld>
            <a:endParaRPr lang="en-US"/>
          </a:p>
        </p:txBody>
      </p:sp>
      <p:sp>
        <p:nvSpPr>
          <p:cNvPr id="6" name="文本占位符 5">
            <a:extLst>
              <a:ext uri="{FF2B5EF4-FFF2-40B4-BE49-F238E27FC236}">
                <a16:creationId xmlns:a16="http://schemas.microsoft.com/office/drawing/2014/main" id="{DE49D6E4-D393-F7E9-0EEF-03DFFA06B332}"/>
              </a:ext>
            </a:extLst>
          </p:cNvPr>
          <p:cNvSpPr>
            <a:spLocks noGrp="1"/>
          </p:cNvSpPr>
          <p:nvPr>
            <p:ph type="body" idx="1"/>
          </p:nvPr>
        </p:nvSpPr>
        <p:spPr/>
        <p:txBody>
          <a:bodyPr/>
          <a:lstStyle/>
          <a:p>
            <a:pPr marL="0" indent="0">
              <a:buNone/>
            </a:pPr>
            <a:r>
              <a:rPr lang="en-US" altLang="zh-CN" dirty="0"/>
              <a:t>These exercises will help you master core cache mapping calculations, including:</a:t>
            </a:r>
          </a:p>
          <a:p>
            <a:pPr lvl="1"/>
            <a:r>
              <a:rPr lang="en-US" altLang="zh-CN" dirty="0"/>
              <a:t>Main memory block count calculation</a:t>
            </a:r>
          </a:p>
          <a:p>
            <a:pPr lvl="1"/>
            <a:r>
              <a:rPr lang="en-US" altLang="zh-CN" dirty="0"/>
              <a:t>Memory address field splitting (Tag / Block / Set / Word)</a:t>
            </a:r>
          </a:p>
          <a:p>
            <a:pPr lvl="1"/>
            <a:r>
              <a:rPr lang="en-US" altLang="zh-CN" dirty="0"/>
              <a:t>Cache block mapping for given memory addresses</a:t>
            </a:r>
          </a:p>
          <a:p>
            <a:pPr lvl="1"/>
            <a:r>
              <a:rPr lang="en-US" altLang="zh-CN" dirty="0"/>
              <a:t>Direct Mapped, Fully Associative, and Set Associative cache schemes</a:t>
            </a:r>
          </a:p>
          <a:p>
            <a:endParaRPr lang="zh-CN" altLang="en-US" dirty="0"/>
          </a:p>
        </p:txBody>
      </p:sp>
    </p:spTree>
    <p:extLst>
      <p:ext uri="{BB962C8B-B14F-4D97-AF65-F5344CB8AC3E}">
        <p14:creationId xmlns:p14="http://schemas.microsoft.com/office/powerpoint/2010/main" val="138450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D1EC0D-6AB9-7F9C-1CB8-2AE0C197C252}"/>
              </a:ext>
            </a:extLst>
          </p:cNvPr>
          <p:cNvSpPr>
            <a:spLocks noGrp="1"/>
          </p:cNvSpPr>
          <p:nvPr>
            <p:ph type="title"/>
          </p:nvPr>
        </p:nvSpPr>
        <p:spPr/>
        <p:txBody>
          <a:bodyPr/>
          <a:lstStyle/>
          <a:p>
            <a:r>
              <a:rPr lang="en-US" altLang="zh-CN" dirty="0"/>
              <a:t>Exercise 1: Direct Mapped</a:t>
            </a:r>
            <a:endParaRPr lang="zh-CN" altLang="en-US" dirty="0"/>
          </a:p>
        </p:txBody>
      </p:sp>
      <p:sp>
        <p:nvSpPr>
          <p:cNvPr id="3" name="日期占位符 2">
            <a:extLst>
              <a:ext uri="{FF2B5EF4-FFF2-40B4-BE49-F238E27FC236}">
                <a16:creationId xmlns:a16="http://schemas.microsoft.com/office/drawing/2014/main" id="{3755D23C-5146-FDB1-14B5-AAA83E5CE3B0}"/>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AFACAC44-BDED-2038-C414-80F20BECC44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E15DD1B1-5EE3-A27C-280C-EA37C93A5C91}"/>
              </a:ext>
            </a:extLst>
          </p:cNvPr>
          <p:cNvSpPr>
            <a:spLocks noGrp="1"/>
          </p:cNvSpPr>
          <p:nvPr>
            <p:ph type="sldNum" sz="quarter" idx="12"/>
          </p:nvPr>
        </p:nvSpPr>
        <p:spPr/>
        <p:txBody>
          <a:bodyPr/>
          <a:lstStyle/>
          <a:p>
            <a:fld id="{9146477A-3083-4652-9A53-6C94B28E95E9}" type="slidenum">
              <a:rPr lang="en-US" smtClean="0"/>
              <a:t>25</a:t>
            </a:fld>
            <a:endParaRPr lang="en-US"/>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BC2534EF-FF09-02EB-290F-9143AAC5EDE0}"/>
                  </a:ext>
                </a:extLst>
              </p:cNvPr>
              <p:cNvSpPr>
                <a:spLocks noGrp="1"/>
              </p:cNvSpPr>
              <p:nvPr>
                <p:ph type="body" idx="1"/>
              </p:nvPr>
            </p:nvSpPr>
            <p:spPr/>
            <p:txBody>
              <a:bodyPr/>
              <a:lstStyle/>
              <a:p>
                <a:pPr marL="0" indent="0">
                  <a:buNone/>
                </a:pPr>
                <a:r>
                  <a:rPr lang="en-US" altLang="zh-CN" dirty="0"/>
                  <a:t>Suppose a computer using direct mapped cache has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2</m:t>
                        </m:r>
                      </m:e>
                      <m:sup>
                        <m:r>
                          <a:rPr lang="en-US" altLang="zh-CN" i="1" dirty="0" smtClean="0">
                            <a:latin typeface="Cambria Math" panose="02040503050406030204" pitchFamily="18" charset="0"/>
                          </a:rPr>
                          <m:t>20</m:t>
                        </m:r>
                      </m:sup>
                    </m:sSup>
                  </m:oMath>
                </a14:m>
                <a:r>
                  <a:rPr lang="en-US" altLang="zh-CN" dirty="0"/>
                  <a:t> words of main memory, and a cache of 32 blocks, where each cache block contains 16 words.</a:t>
                </a:r>
              </a:p>
              <a:p>
                <a:pPr marL="457200" lvl="1" indent="0">
                  <a:buNone/>
                </a:pPr>
                <a:r>
                  <a:rPr lang="en-US" altLang="zh-CN" dirty="0"/>
                  <a:t>a)  How many blocks of main memory are there?</a:t>
                </a:r>
              </a:p>
              <a:p>
                <a:pPr marL="457200" lvl="1" indent="0">
                  <a:buNone/>
                </a:pPr>
                <a:r>
                  <a:rPr lang="en-US" altLang="zh-CN" dirty="0"/>
                  <a:t>b)  What is the format of a memory address as seen by the cache? State the sizes of the tag, block, and word fields.</a:t>
                </a:r>
              </a:p>
              <a:p>
                <a:pPr marL="457200" lvl="1" indent="0">
                  <a:buNone/>
                </a:pPr>
                <a:r>
                  <a:rPr lang="en-US" altLang="zh-CN" dirty="0"/>
                  <a:t>c)  To which cache block will the memory reference </a:t>
                </a:r>
                <a14:m>
                  <m:oMath xmlns:m="http://schemas.openxmlformats.org/officeDocument/2006/math">
                    <m:r>
                      <a:rPr lang="en-US" altLang="zh-CN" i="1" dirty="0" smtClean="0">
                        <a:latin typeface="Cambria Math" panose="02040503050406030204" pitchFamily="18" charset="0"/>
                      </a:rPr>
                      <m:t>0</m:t>
                    </m:r>
                    <m:r>
                      <a:rPr lang="en-US" altLang="zh-CN" i="1" dirty="0" smtClean="0">
                        <a:latin typeface="Cambria Math" panose="02040503050406030204" pitchFamily="18" charset="0"/>
                      </a:rPr>
                      <m:t>𝐷𝐵</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63</m:t>
                        </m:r>
                      </m:e>
                      <m:sub>
                        <m:r>
                          <a:rPr lang="en-US" altLang="zh-CN" i="1" dirty="0" smtClean="0">
                            <a:latin typeface="Cambria Math" panose="02040503050406030204" pitchFamily="18" charset="0"/>
                          </a:rPr>
                          <m:t>16</m:t>
                        </m:r>
                      </m:sub>
                    </m:sSub>
                  </m:oMath>
                </a14:m>
                <a:r>
                  <a:rPr lang="en-US" altLang="zh-CN" dirty="0"/>
                  <a:t>​ map?</a:t>
                </a:r>
                <a:endParaRPr lang="zh-CN" altLang="en-US" dirty="0"/>
              </a:p>
            </p:txBody>
          </p:sp>
        </mc:Choice>
        <mc:Fallback xmlns="">
          <p:sp>
            <p:nvSpPr>
              <p:cNvPr id="6" name="文本占位符 5">
                <a:extLst>
                  <a:ext uri="{FF2B5EF4-FFF2-40B4-BE49-F238E27FC236}">
                    <a16:creationId xmlns:a16="http://schemas.microsoft.com/office/drawing/2014/main" id="{BC2534EF-FF09-02EB-290F-9143AAC5EDE0}"/>
                  </a:ext>
                </a:extLst>
              </p:cNvPr>
              <p:cNvSpPr>
                <a:spLocks noGrp="1" noRot="1" noChangeAspect="1" noMove="1" noResize="1" noEditPoints="1" noAdjustHandles="1" noChangeArrowheads="1" noChangeShapeType="1" noTextEdit="1"/>
              </p:cNvSpPr>
              <p:nvPr>
                <p:ph type="body" idx="1"/>
              </p:nvPr>
            </p:nvSpPr>
            <p:spPr>
              <a:blipFill>
                <a:blip r:embed="rId2"/>
                <a:stretch>
                  <a:fillRect l="-1217" t="-2381" r="-870"/>
                </a:stretch>
              </a:blipFill>
            </p:spPr>
            <p:txBody>
              <a:bodyPr/>
              <a:lstStyle/>
              <a:p>
                <a:r>
                  <a:rPr lang="en-US">
                    <a:noFill/>
                  </a:rPr>
                  <a:t> </a:t>
                </a:r>
              </a:p>
            </p:txBody>
          </p:sp>
        </mc:Fallback>
      </mc:AlternateContent>
    </p:spTree>
    <p:extLst>
      <p:ext uri="{BB962C8B-B14F-4D97-AF65-F5344CB8AC3E}">
        <p14:creationId xmlns:p14="http://schemas.microsoft.com/office/powerpoint/2010/main" val="1584133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7B58E3-CDD4-892E-D1D8-3844740E0B2E}"/>
              </a:ext>
            </a:extLst>
          </p:cNvPr>
          <p:cNvSpPr>
            <a:spLocks noGrp="1"/>
          </p:cNvSpPr>
          <p:nvPr>
            <p:ph type="title"/>
          </p:nvPr>
        </p:nvSpPr>
        <p:spPr>
          <a:xfrm>
            <a:off x="838200" y="365125"/>
            <a:ext cx="9701676" cy="1072515"/>
          </a:xfrm>
        </p:spPr>
        <p:txBody>
          <a:bodyPr>
            <a:normAutofit/>
          </a:bodyPr>
          <a:lstStyle/>
          <a:p>
            <a:r>
              <a:rPr lang="en-US" altLang="zh-CN" dirty="0"/>
              <a:t>Exercise 2: Fully Associative</a:t>
            </a:r>
            <a:endParaRPr lang="zh-CN" altLang="en-US" dirty="0"/>
          </a:p>
        </p:txBody>
      </p:sp>
      <p:sp>
        <p:nvSpPr>
          <p:cNvPr id="3" name="日期占位符 2">
            <a:extLst>
              <a:ext uri="{FF2B5EF4-FFF2-40B4-BE49-F238E27FC236}">
                <a16:creationId xmlns:a16="http://schemas.microsoft.com/office/drawing/2014/main" id="{F1B36BC4-6E17-6322-FE68-D5A8C12237DD}"/>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CACCCEFC-837F-273F-A2C9-62CD5AC78612}"/>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4101B5C-645D-0E6E-5546-D8E1556D957D}"/>
              </a:ext>
            </a:extLst>
          </p:cNvPr>
          <p:cNvSpPr>
            <a:spLocks noGrp="1"/>
          </p:cNvSpPr>
          <p:nvPr>
            <p:ph type="sldNum" sz="quarter" idx="12"/>
          </p:nvPr>
        </p:nvSpPr>
        <p:spPr/>
        <p:txBody>
          <a:bodyPr/>
          <a:lstStyle/>
          <a:p>
            <a:fld id="{9146477A-3083-4652-9A53-6C94B28E95E9}" type="slidenum">
              <a:rPr lang="en-US" smtClean="0"/>
              <a:t>26</a:t>
            </a:fld>
            <a:endParaRPr lang="en-US"/>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32F9563B-33B2-B537-1BCE-AE3AEA7F69E8}"/>
                  </a:ext>
                </a:extLst>
              </p:cNvPr>
              <p:cNvSpPr>
                <a:spLocks noGrp="1"/>
              </p:cNvSpPr>
              <p:nvPr>
                <p:ph type="body" idx="1"/>
              </p:nvPr>
            </p:nvSpPr>
            <p:spPr/>
            <p:txBody>
              <a:bodyPr/>
              <a:lstStyle/>
              <a:p>
                <a:pPr marL="0" indent="0">
                  <a:buNone/>
                </a:pPr>
                <a:r>
                  <a:rPr lang="en-US" altLang="zh-CN" dirty="0"/>
                  <a:t>Suppose a computer using fully associative cache has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2</m:t>
                        </m:r>
                      </m:e>
                      <m:sup>
                        <m:r>
                          <a:rPr lang="en-US" altLang="zh-CN" i="1" dirty="0" smtClean="0">
                            <a:latin typeface="Cambria Math" panose="02040503050406030204" pitchFamily="18" charset="0"/>
                          </a:rPr>
                          <m:t>16</m:t>
                        </m:r>
                      </m:sup>
                    </m:sSup>
                  </m:oMath>
                </a14:m>
                <a:r>
                  <a:rPr lang="en-US" altLang="zh-CN" dirty="0"/>
                  <a:t>  words of main memory, and a cache of 64 blocks, where each cache block contains 32 words.</a:t>
                </a:r>
              </a:p>
              <a:p>
                <a:pPr marL="457200" lvl="1" indent="0">
                  <a:buNone/>
                </a:pPr>
                <a:r>
                  <a:rPr lang="en-US" altLang="zh-CN" dirty="0"/>
                  <a:t>a)  How many blocks of main memory are there?</a:t>
                </a:r>
              </a:p>
              <a:p>
                <a:pPr marL="457200" lvl="1" indent="0">
                  <a:buNone/>
                </a:pPr>
                <a:r>
                  <a:rPr lang="en-US" altLang="zh-CN" dirty="0"/>
                  <a:t>b)  What is the format of a memory address as seen by the cache? State the sizes of the tag and word fields.</a:t>
                </a:r>
              </a:p>
              <a:p>
                <a:pPr marL="457200" lvl="1" indent="0">
                  <a:buNone/>
                </a:pPr>
                <a:r>
                  <a:rPr lang="en-US" altLang="zh-CN" dirty="0"/>
                  <a:t>c)  To which cache block will the memory reference </a:t>
                </a:r>
                <a14:m>
                  <m:oMath xmlns:m="http://schemas.openxmlformats.org/officeDocument/2006/math">
                    <m:r>
                      <a:rPr lang="en-US" altLang="zh-CN" i="1" dirty="0" smtClean="0">
                        <a:latin typeface="Cambria Math" panose="02040503050406030204" pitchFamily="18" charset="0"/>
                      </a:rPr>
                      <m:t>𝐹</m:t>
                    </m:r>
                    <m:r>
                      <a:rPr lang="en-US" altLang="zh-CN" i="1" dirty="0" smtClean="0">
                        <a:latin typeface="Cambria Math" panose="02040503050406030204" pitchFamily="18" charset="0"/>
                      </a:rPr>
                      <m:t>8</m:t>
                    </m:r>
                    <m:r>
                      <a:rPr lang="en-US" altLang="zh-CN" i="1" dirty="0" smtClean="0">
                        <a:latin typeface="Cambria Math" panose="02040503050406030204" pitchFamily="18" charset="0"/>
                      </a:rPr>
                      <m:t>𝐶</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9</m:t>
                        </m:r>
                      </m:e>
                      <m:sub>
                        <m:r>
                          <a:rPr lang="en-US" altLang="zh-CN" i="1" dirty="0" smtClean="0">
                            <a:latin typeface="Cambria Math" panose="02040503050406030204" pitchFamily="18" charset="0"/>
                          </a:rPr>
                          <m:t>16</m:t>
                        </m:r>
                      </m:sub>
                    </m:sSub>
                  </m:oMath>
                </a14:m>
                <a:r>
                  <a:rPr lang="en-US" altLang="zh-CN" dirty="0"/>
                  <a:t>​ map?</a:t>
                </a:r>
                <a:endParaRPr lang="zh-CN" altLang="en-US" dirty="0"/>
              </a:p>
            </p:txBody>
          </p:sp>
        </mc:Choice>
        <mc:Fallback xmlns="">
          <p:sp>
            <p:nvSpPr>
              <p:cNvPr id="6" name="文本占位符 5">
                <a:extLst>
                  <a:ext uri="{FF2B5EF4-FFF2-40B4-BE49-F238E27FC236}">
                    <a16:creationId xmlns:a16="http://schemas.microsoft.com/office/drawing/2014/main" id="{32F9563B-33B2-B537-1BCE-AE3AEA7F69E8}"/>
                  </a:ext>
                </a:extLst>
              </p:cNvPr>
              <p:cNvSpPr>
                <a:spLocks noGrp="1" noRot="1" noChangeAspect="1" noMove="1" noResize="1" noEditPoints="1" noAdjustHandles="1" noChangeArrowheads="1" noChangeShapeType="1" noTextEdit="1"/>
              </p:cNvSpPr>
              <p:nvPr>
                <p:ph type="body" idx="1"/>
              </p:nvPr>
            </p:nvSpPr>
            <p:spPr>
              <a:blipFill>
                <a:blip r:embed="rId2"/>
                <a:stretch>
                  <a:fillRect l="-1217" t="-2381" r="-1855"/>
                </a:stretch>
              </a:blipFill>
            </p:spPr>
            <p:txBody>
              <a:bodyPr/>
              <a:lstStyle/>
              <a:p>
                <a:r>
                  <a:rPr lang="en-US">
                    <a:noFill/>
                  </a:rPr>
                  <a:t> </a:t>
                </a:r>
              </a:p>
            </p:txBody>
          </p:sp>
        </mc:Fallback>
      </mc:AlternateContent>
    </p:spTree>
    <p:extLst>
      <p:ext uri="{BB962C8B-B14F-4D97-AF65-F5344CB8AC3E}">
        <p14:creationId xmlns:p14="http://schemas.microsoft.com/office/powerpoint/2010/main" val="3334602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72B011-8FA5-CF64-642C-24795FCBEEC0}"/>
              </a:ext>
            </a:extLst>
          </p:cNvPr>
          <p:cNvSpPr>
            <a:spLocks noGrp="1"/>
          </p:cNvSpPr>
          <p:nvPr>
            <p:ph type="title"/>
          </p:nvPr>
        </p:nvSpPr>
        <p:spPr>
          <a:xfrm>
            <a:off x="838200" y="365125"/>
            <a:ext cx="10713181" cy="1072515"/>
          </a:xfrm>
        </p:spPr>
        <p:txBody>
          <a:bodyPr>
            <a:normAutofit/>
          </a:bodyPr>
          <a:lstStyle/>
          <a:p>
            <a:r>
              <a:rPr lang="en-US" altLang="zh-CN" dirty="0"/>
              <a:t>Exercise 3: 2-Way Set Associative</a:t>
            </a:r>
            <a:endParaRPr lang="zh-CN" altLang="en-US" dirty="0"/>
          </a:p>
        </p:txBody>
      </p:sp>
      <p:sp>
        <p:nvSpPr>
          <p:cNvPr id="3" name="日期占位符 2">
            <a:extLst>
              <a:ext uri="{FF2B5EF4-FFF2-40B4-BE49-F238E27FC236}">
                <a16:creationId xmlns:a16="http://schemas.microsoft.com/office/drawing/2014/main" id="{23A425FD-DF2F-F22E-C232-16420004B540}"/>
              </a:ext>
            </a:extLst>
          </p:cNvPr>
          <p:cNvSpPr>
            <a:spLocks noGrp="1"/>
          </p:cNvSpPr>
          <p:nvPr>
            <p:ph type="dt" sz="half" idx="10"/>
          </p:nvPr>
        </p:nvSpPr>
        <p:spPr/>
        <p:txBody>
          <a:bodyPr/>
          <a:lstStyle/>
          <a:p>
            <a:fld id="{C779A912-BA0F-455A-9008-30C412343B55}" type="datetime1">
              <a:rPr lang="en-US" smtClean="0"/>
              <a:t>3/24/2026</a:t>
            </a:fld>
            <a:endParaRPr lang="en-US"/>
          </a:p>
        </p:txBody>
      </p:sp>
      <p:sp>
        <p:nvSpPr>
          <p:cNvPr id="4" name="页脚占位符 3">
            <a:extLst>
              <a:ext uri="{FF2B5EF4-FFF2-40B4-BE49-F238E27FC236}">
                <a16:creationId xmlns:a16="http://schemas.microsoft.com/office/drawing/2014/main" id="{FE7E8420-FA8B-6680-D4DA-BB9C2EF83646}"/>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A4A4609C-E806-BC4C-DF24-3C4758ACA3E9}"/>
              </a:ext>
            </a:extLst>
          </p:cNvPr>
          <p:cNvSpPr>
            <a:spLocks noGrp="1"/>
          </p:cNvSpPr>
          <p:nvPr>
            <p:ph type="sldNum" sz="quarter" idx="12"/>
          </p:nvPr>
        </p:nvSpPr>
        <p:spPr/>
        <p:txBody>
          <a:bodyPr/>
          <a:lstStyle/>
          <a:p>
            <a:fld id="{9146477A-3083-4652-9A53-6C94B28E95E9}" type="slidenum">
              <a:rPr lang="en-US" smtClean="0"/>
              <a:t>27</a:t>
            </a:fld>
            <a:endParaRPr lang="en-US"/>
          </a:p>
        </p:txBody>
      </p:sp>
      <p:sp>
        <p:nvSpPr>
          <p:cNvPr id="6" name="文本占位符 5">
            <a:extLst>
              <a:ext uri="{FF2B5EF4-FFF2-40B4-BE49-F238E27FC236}">
                <a16:creationId xmlns:a16="http://schemas.microsoft.com/office/drawing/2014/main" id="{C93C2076-2755-9916-E23B-ACD3A5EF3E77}"/>
              </a:ext>
            </a:extLst>
          </p:cNvPr>
          <p:cNvSpPr>
            <a:spLocks noGrp="1"/>
          </p:cNvSpPr>
          <p:nvPr>
            <p:ph type="body" idx="1"/>
          </p:nvPr>
        </p:nvSpPr>
        <p:spPr/>
        <p:txBody>
          <a:bodyPr/>
          <a:lstStyle/>
          <a:p>
            <a:pPr marL="0" indent="0">
              <a:buNone/>
            </a:pPr>
            <a:r>
              <a:rPr lang="en-US" altLang="zh-CN" dirty="0"/>
              <a:t>Assume a system’s memory has 128M words. Blocks are 64 words in length and the cache consists of 32K blocks.</a:t>
            </a:r>
          </a:p>
          <a:p>
            <a:pPr marL="0" indent="0">
              <a:buNone/>
            </a:pPr>
            <a:r>
              <a:rPr lang="en-US" altLang="zh-CN" dirty="0"/>
              <a:t>Show the format for a main memory address assuming a 2-way set associative cache mapping scheme. Be sure to include the fields as well as their sizes.</a:t>
            </a:r>
          </a:p>
          <a:p>
            <a:endParaRPr lang="zh-CN" altLang="en-US" dirty="0"/>
          </a:p>
        </p:txBody>
      </p:sp>
    </p:spTree>
    <p:extLst>
      <p:ext uri="{BB962C8B-B14F-4D97-AF65-F5344CB8AC3E}">
        <p14:creationId xmlns:p14="http://schemas.microsoft.com/office/powerpoint/2010/main" val="3838186303"/>
      </p:ext>
    </p:extLst>
  </p:cSld>
  <p:clrMapOvr>
    <a:masterClrMapping/>
  </p:clrMapOvr>
</p:sld>
</file>

<file path=ppt/theme/theme1.xml><?xml version="1.0" encoding="utf-8"?>
<a:theme xmlns:a="http://schemas.openxmlformats.org/drawingml/2006/main" name="AIAC">
  <a:themeElements>
    <a:clrScheme name="AIAC">
      <a:dk1>
        <a:srgbClr val="000000"/>
      </a:dk1>
      <a:lt1>
        <a:srgbClr val="FFFFFF"/>
      </a:lt1>
      <a:dk2>
        <a:srgbClr val="44546A"/>
      </a:dk2>
      <a:lt2>
        <a:srgbClr val="E7E6E6"/>
      </a:lt2>
      <a:accent1>
        <a:srgbClr val="53AEF1"/>
      </a:accent1>
      <a:accent2>
        <a:srgbClr val="002060"/>
      </a:accent2>
      <a:accent3>
        <a:srgbClr val="A5A5A5"/>
      </a:accent3>
      <a:accent4>
        <a:srgbClr val="582579"/>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TotalTime>
  <Words>1992</Words>
  <Application>Microsoft Office PowerPoint</Application>
  <PresentationFormat>Widescreen</PresentationFormat>
  <Paragraphs>217</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等线</vt:lpstr>
      <vt:lpstr>Arial</vt:lpstr>
      <vt:lpstr>Calibri</vt:lpstr>
      <vt:lpstr>Cambria Math</vt:lpstr>
      <vt:lpstr>AIAC</vt:lpstr>
      <vt:lpstr>Week 4 Lab</vt:lpstr>
      <vt:lpstr>TO DO</vt:lpstr>
      <vt:lpstr>Self-Check Instructions</vt:lpstr>
      <vt:lpstr>Section 1: Week 2 Lecture Check</vt:lpstr>
      <vt:lpstr>Section 1: Week 2 Lecture Check</vt:lpstr>
      <vt:lpstr>Section 1: Week 2 Lecture Check</vt:lpstr>
      <vt:lpstr>Section 1: Week 2 Lecture Check</vt:lpstr>
      <vt:lpstr>Section 1: Week 2 Lecture Check</vt:lpstr>
      <vt:lpstr>Section 1 Review Guide</vt:lpstr>
      <vt:lpstr>Section 2: Week 2 Lab Check</vt:lpstr>
      <vt:lpstr>Section 2: Week 2 Lab Check</vt:lpstr>
      <vt:lpstr>Section 2 Review Guide</vt:lpstr>
      <vt:lpstr>Section 3: Week 3 Lecture &amp; Lab</vt:lpstr>
      <vt:lpstr>Section 3: Week 3 Lecture &amp; Lab</vt:lpstr>
      <vt:lpstr>Section 3: Week 3 Lecture &amp; Lab</vt:lpstr>
      <vt:lpstr>Section 3: Week 3 Lecture &amp; Lab</vt:lpstr>
      <vt:lpstr>Section 3: Week 3 Lecture &amp; Lab</vt:lpstr>
      <vt:lpstr>Section 3: Week 3 Lecture &amp; Lab</vt:lpstr>
      <vt:lpstr>Section 3: Week 3 Lecture &amp; Lab</vt:lpstr>
      <vt:lpstr>Answers</vt:lpstr>
      <vt:lpstr>Answers</vt:lpstr>
      <vt:lpstr>Answers</vt:lpstr>
      <vt:lpstr>Great Work!</vt:lpstr>
      <vt:lpstr>Week 4 Exercises</vt:lpstr>
      <vt:lpstr>Exercise 1: Direct Mapped</vt:lpstr>
      <vt:lpstr>Exercise 2: Fully Associative</vt:lpstr>
      <vt:lpstr>Exercise 3: 2-Way Set Associative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Tianming Bai</dc:creator>
  <cp:lastModifiedBy>Tianming Bai</cp:lastModifiedBy>
  <cp:revision>69</cp:revision>
  <dcterms:created xsi:type="dcterms:W3CDTF">2025-10-22T02:43:00Z</dcterms:created>
  <dcterms:modified xsi:type="dcterms:W3CDTF">2026-03-24T11:01:58Z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D54924A72EA5414ABBE088D1CC4432A3_13</vt:lpwstr>
  </property>
  <property fmtid="{D5CDD505-2E9C-101B-9397-08002B2CF9AE}" pid="3" name="KSOProductBuildVer">
    <vt:lpwstr>2052-12.1.0.24657</vt:lpwstr>
  </property>
</Properties>
</file>