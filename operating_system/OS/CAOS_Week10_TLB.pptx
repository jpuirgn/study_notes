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356" r:id="rId2"/>
    <p:sldId id="486" r:id="rId3"/>
    <p:sldId id="487" r:id="rId4"/>
    <p:sldId id="488" r:id="rId5"/>
    <p:sldId id="489" r:id="rId6"/>
    <p:sldId id="515" r:id="rId7"/>
    <p:sldId id="516" r:id="rId8"/>
    <p:sldId id="514" r:id="rId9"/>
    <p:sldId id="517" r:id="rId10"/>
    <p:sldId id="491" r:id="rId11"/>
    <p:sldId id="492" r:id="rId12"/>
    <p:sldId id="493" r:id="rId13"/>
    <p:sldId id="494" r:id="rId14"/>
    <p:sldId id="495" r:id="rId15"/>
    <p:sldId id="496" r:id="rId16"/>
    <p:sldId id="497" r:id="rId17"/>
    <p:sldId id="498" r:id="rId18"/>
    <p:sldId id="499" r:id="rId19"/>
    <p:sldId id="500" r:id="rId20"/>
    <p:sldId id="501" r:id="rId21"/>
    <p:sldId id="502" r:id="rId22"/>
    <p:sldId id="503" r:id="rId23"/>
    <p:sldId id="504" r:id="rId24"/>
    <p:sldId id="505" r:id="rId25"/>
    <p:sldId id="506" r:id="rId26"/>
    <p:sldId id="518" r:id="rId27"/>
    <p:sldId id="507" r:id="rId28"/>
    <p:sldId id="508" r:id="rId29"/>
    <p:sldId id="509" r:id="rId30"/>
    <p:sldId id="519" r:id="rId31"/>
    <p:sldId id="510" r:id="rId32"/>
    <p:sldId id="520" r:id="rId33"/>
    <p:sldId id="521" r:id="rId34"/>
    <p:sldId id="511" r:id="rId35"/>
    <p:sldId id="522" r:id="rId36"/>
    <p:sldId id="523" r:id="rId37"/>
    <p:sldId id="513" r:id="rId38"/>
    <p:sldId id="386" r:id="rId3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FCD9B1D-7B9A-4D58-995E-AFA475280652}">
          <p14:sldIdLst>
            <p14:sldId id="356"/>
            <p14:sldId id="486"/>
          </p14:sldIdLst>
        </p14:section>
        <p14:section name="TLB" id="{7F84BA80-6D35-443A-BE5C-9BE5D43F9D2B}">
          <p14:sldIdLst>
            <p14:sldId id="487"/>
            <p14:sldId id="488"/>
            <p14:sldId id="489"/>
            <p14:sldId id="515"/>
            <p14:sldId id="516"/>
            <p14:sldId id="514"/>
            <p14:sldId id="517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18"/>
            <p14:sldId id="507"/>
            <p14:sldId id="508"/>
            <p14:sldId id="509"/>
            <p14:sldId id="519"/>
            <p14:sldId id="510"/>
            <p14:sldId id="520"/>
            <p14:sldId id="521"/>
            <p14:sldId id="511"/>
            <p14:sldId id="522"/>
            <p14:sldId id="523"/>
            <p14:sldId id="513"/>
            <p14:sldId id="3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E5FC"/>
    <a:srgbClr val="53AEF1"/>
    <a:srgbClr val="582579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7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A9278-991E-4FC4-A092-547ADFE43B7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16CDF-66D6-42F5-82AB-44061AC83CC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9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745355"/>
            <a:ext cx="7647305" cy="66421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838200" y="5536565"/>
            <a:ext cx="7647305" cy="664210"/>
          </a:xfrm>
        </p:spPr>
        <p:txBody>
          <a:bodyPr/>
          <a:lstStyle>
            <a:lvl1pPr marL="0" indent="0" algn="r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05165" cy="10725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AI and Advanced Computing, XJTLU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822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AIAC_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9890" y="5742940"/>
            <a:ext cx="1457960" cy="9245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40105" y="357505"/>
            <a:ext cx="746760" cy="124460"/>
          </a:xfrm>
          <a:prstGeom prst="rect">
            <a:avLst/>
          </a:prstGeom>
          <a:solidFill>
            <a:srgbClr val="53AE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33540"/>
            <a:ext cx="12192635" cy="124460"/>
          </a:xfrm>
          <a:prstGeom prst="rect">
            <a:avLst/>
          </a:prstGeom>
          <a:solidFill>
            <a:srgbClr val="53AE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ages.cs.wisc.edu/~remzi/OSTEP/vm-beyondphys-policy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Computer Architecture and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Operating System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>
                <a:latin typeface="Arial"/>
                <a:ea typeface="等线"/>
                <a:cs typeface="Arial"/>
              </a:rPr>
              <a:t>TLB, Concurrency</a:t>
            </a:r>
            <a:endParaRPr lang="en-US" altLang="zh-CN" dirty="0">
              <a:ea typeface="等线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zh-CN" dirty="0"/>
              <a:t>Lecturer: Tianming Bai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3EA7F-16FD-4C2A-B5DE-D4130A28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等线 Light"/>
              </a:rPr>
              <a:t>Review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297171-BC6D-452A-8DC1-2D94CBB29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5C49D-2590-4A56-B065-D7F050160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D4D1A-52E0-459D-8DC2-BE0D1923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952195-D049-48FF-8C84-D7B70AA1D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Free Space Management </a:t>
            </a:r>
            <a:r>
              <a:rPr lang="en-US" dirty="0"/>
              <a:t>(Variable-Sized Allocation)</a:t>
            </a:r>
          </a:p>
          <a:p>
            <a:pPr marL="457200" lvl="1" indent="0">
              <a:buNone/>
            </a:pPr>
            <a:r>
              <a:rPr lang="en-US" b="1" dirty="0"/>
              <a:t>Allocation Strategies:</a:t>
            </a:r>
          </a:p>
          <a:p>
            <a:pPr lvl="1"/>
            <a:r>
              <a:rPr lang="en-US" dirty="0"/>
              <a:t>Basic: Best Fit, Worst Fit, First Fit, and Next Fit.</a:t>
            </a:r>
          </a:p>
          <a:p>
            <a:pPr lvl="1"/>
            <a:r>
              <a:rPr lang="en-US" dirty="0"/>
              <a:t>Advanced: Segregated Lists and Buddy Allocation.</a:t>
            </a:r>
          </a:p>
          <a:p>
            <a:pPr marL="0" indent="0">
              <a:buNone/>
            </a:pPr>
            <a:r>
              <a:rPr lang="en-US" b="1" dirty="0"/>
              <a:t>Paging</a:t>
            </a:r>
            <a:r>
              <a:rPr lang="en-US" dirty="0"/>
              <a:t> (Fixed-Sized Allocation)</a:t>
            </a:r>
          </a:p>
          <a:p>
            <a:pPr lvl="1"/>
            <a:r>
              <a:rPr lang="en-US" dirty="0"/>
              <a:t>Address Translation</a:t>
            </a:r>
          </a:p>
          <a:p>
            <a:pPr lvl="1"/>
            <a:r>
              <a:rPr lang="en-US" dirty="0"/>
              <a:t>The Page Table</a:t>
            </a:r>
          </a:p>
          <a:p>
            <a:pPr lvl="1"/>
            <a:r>
              <a:rPr lang="en-US" dirty="0"/>
              <a:t>Page Table Entry</a:t>
            </a:r>
          </a:p>
          <a:p>
            <a:pPr lvl="1"/>
            <a:r>
              <a:rPr lang="en-US" dirty="0"/>
              <a:t>The Overheads of Paging</a:t>
            </a:r>
          </a:p>
        </p:txBody>
      </p:sp>
    </p:spTree>
    <p:extLst>
      <p:ext uri="{BB962C8B-B14F-4D97-AF65-F5344CB8AC3E}">
        <p14:creationId xmlns:p14="http://schemas.microsoft.com/office/powerpoint/2010/main" val="1822484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75C9D-BD56-777A-FE88-F0B0EECB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CRUX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07191B-76B8-52C8-63D1-9B69FDCCD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19AB39-9922-685F-7D51-159638167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95EB55-A580-6A58-B28C-A5E5524C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567E168-FA59-20DD-EA58-8BBB46B06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How can we speed up address translation and avoid the extra memory reference that paging seems to require?</a:t>
            </a:r>
          </a:p>
          <a:p>
            <a:endParaRPr lang="en-US" altLang="zh-CN" dirty="0"/>
          </a:p>
          <a:p>
            <a:r>
              <a:rPr lang="en-US" altLang="zh-CN" b="1" dirty="0"/>
              <a:t>Goal:</a:t>
            </a:r>
            <a:r>
              <a:rPr lang="en-US" altLang="zh-CN" dirty="0"/>
              <a:t> Minimal space and time overhead while maintaining the flexibility of paging.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77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710A-1124-84E6-C9DE-67A44163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1E1B25-EE5C-5ECE-A705-4E43A76C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to TLB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D0F5FC-D449-0190-0182-A082D3F4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75444C-8C87-B0FA-D444-6F8558CC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2FDCAC-4516-5CDF-A2EE-FB163401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364526D-7561-C653-A5FE-8733E9D22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Use Hardware support: the </a:t>
            </a:r>
            <a:r>
              <a:rPr lang="en-US" altLang="zh-CN" b="1" dirty="0"/>
              <a:t>Translation-Lookaside Buffer (TLB)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 TLB is part of the chip’s Memory-Management Unit (MMU).It is a hardware cache of popular virtual-to-physical address translations.</a:t>
            </a:r>
          </a:p>
          <a:p>
            <a:endParaRPr lang="en-US" altLang="zh-CN" dirty="0"/>
          </a:p>
          <a:p>
            <a:r>
              <a:rPr lang="en-US" altLang="zh-CN" b="1" dirty="0"/>
              <a:t>Mechanism:</a:t>
            </a:r>
            <a:r>
              <a:rPr lang="en-US" altLang="zh-CN" dirty="0"/>
              <a:t> Upon each virtual memory reference, hardware first checks the TLB. If found, translation is instant without consulting the page table.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2288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76FFD-A2F4-EED2-0EF5-04C79171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72BF4A-1DAE-8910-DEBE-FD6148098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 Basic Algorithm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4D254-635E-042A-4A4D-5A1584FD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9B4FF1-4290-D16E-4C28-44FA575D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D6B308-87E4-850B-487F-387CF3EA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352A100-CB75-8DED-F64C-8F4E55D55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162678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Steps:</a:t>
            </a:r>
            <a:endParaRPr lang="en-US" altLang="zh-CN" dirty="0"/>
          </a:p>
          <a:p>
            <a:r>
              <a:rPr lang="en-US" altLang="zh-CN" sz="2000" dirty="0"/>
              <a:t>Extract VPN from virtual address.</a:t>
            </a:r>
          </a:p>
          <a:p>
            <a:r>
              <a:rPr lang="en-US" altLang="zh-CN" sz="2000" dirty="0"/>
              <a:t>Check if TLB holds the translation for this VPN.</a:t>
            </a:r>
          </a:p>
          <a:p>
            <a:r>
              <a:rPr lang="en-US" altLang="zh-CN" sz="2000" b="1" dirty="0"/>
              <a:t>TLB Hit:</a:t>
            </a:r>
            <a:r>
              <a:rPr lang="en-US" altLang="zh-CN" sz="2000" dirty="0"/>
              <a:t> Extract PFN from TLB, concatenate with offset, form Physical Address (PA).</a:t>
            </a:r>
          </a:p>
          <a:p>
            <a:r>
              <a:rPr lang="en-US" altLang="zh-CN" sz="2000" b="1" dirty="0"/>
              <a:t>TLB Miss:</a:t>
            </a:r>
            <a:r>
              <a:rPr lang="en-US" altLang="zh-CN" sz="2000" dirty="0"/>
              <a:t> Access page table in memory, update TLB with the translation, and retry.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2650CA9-2CAC-3D62-0600-F4FA62DF1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968" y="1578626"/>
            <a:ext cx="6683951" cy="46367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17390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793B-805F-9E1D-446B-9C93316B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537E4-8EE0-9E03-3F31-4C4143D92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12791D-8690-014C-909E-9BCD9370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2B7DA6-1C63-5DCD-2922-8BC1E144E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BAA721-4BE7-839A-5366-CE3C4C62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201E1C8-6225-25F8-225D-424B8FCCE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359032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dirty="0"/>
              <a:t>Assume we have an array of 10 4-byte integers in memory, starting at virtual address 100. Assume further that we have a small 8-bit virtual address space, with 16-byte pages;</a:t>
            </a:r>
          </a:p>
          <a:p>
            <a:pPr>
              <a:lnSpc>
                <a:spcPct val="100000"/>
              </a:lnSpc>
            </a:pPr>
            <a:r>
              <a:rPr lang="en-US" altLang="zh-CN" sz="2000" b="1" dirty="0"/>
              <a:t>Compute</a:t>
            </a:r>
            <a:r>
              <a:rPr lang="en-US" altLang="zh-CN" sz="20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altLang="zh-CN" sz="1600" dirty="0"/>
              <a:t>VPN, Offset </a:t>
            </a:r>
          </a:p>
        </p:txBody>
      </p:sp>
    </p:spTree>
    <p:extLst>
      <p:ext uri="{BB962C8B-B14F-4D97-AF65-F5344CB8AC3E}">
        <p14:creationId xmlns:p14="http://schemas.microsoft.com/office/powerpoint/2010/main" val="1065276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E947E-8AF0-29F6-6359-EDBE6FA80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CAEE8-B18F-885A-5EA3-BF16CB29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E997C0-4381-1885-AD09-19763F97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D7C190-6C56-8684-0DD8-779013072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4FCE1D-D8BE-E4AF-2942-484427E8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E2E72C-DC70-5371-EC0B-48BE4B2F1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437807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b="1" dirty="0"/>
              <a:t>Assumption:</a:t>
            </a:r>
            <a:r>
              <a:rPr lang="en-US" altLang="zh-CN" sz="2000" dirty="0"/>
              <a:t> We have an array of 10 4-byte integers in memory, starting at virtual address 100. Assume further that we have a small 8-bit virtual address space, with 16-byte pages;</a:t>
            </a:r>
          </a:p>
          <a:p>
            <a:pPr>
              <a:lnSpc>
                <a:spcPct val="100000"/>
              </a:lnSpc>
            </a:pPr>
            <a:r>
              <a:rPr lang="en-US" altLang="zh-CN" sz="2000" b="1" dirty="0"/>
              <a:t>Compute</a:t>
            </a:r>
            <a:r>
              <a:rPr lang="en-US" altLang="zh-CN" sz="20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altLang="zh-CN" sz="1600" dirty="0"/>
              <a:t>VPN, Offset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AF7561-5138-3348-8E3F-A8468159F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473" y="846297"/>
            <a:ext cx="4111466" cy="54203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99876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E3E0-200F-3570-A1E4-F3ECA39C6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45D93-A1A4-023E-8C1B-75A3F8DF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814CD2-9BFC-5481-8E34-340AD5C79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CB3DB1-5A5C-3946-1639-38800B7F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F938EA-7B20-9A43-CEC0-975186B4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0BBA476-624E-4311-CB30-8A41D3FCC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498497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dirty="0"/>
              <a:t>Consider a simple loop:</a:t>
            </a:r>
          </a:p>
          <a:p>
            <a:pPr>
              <a:lnSpc>
                <a:spcPct val="100000"/>
              </a:lnSpc>
            </a:pPr>
            <a:endParaRPr lang="en-US" altLang="zh-CN" sz="2000" dirty="0"/>
          </a:p>
          <a:p>
            <a:pPr>
              <a:lnSpc>
                <a:spcPct val="100000"/>
              </a:lnSpc>
            </a:pPr>
            <a:endParaRPr lang="en-US" altLang="zh-CN" sz="2000" b="1" dirty="0"/>
          </a:p>
          <a:p>
            <a:pPr>
              <a:lnSpc>
                <a:spcPct val="100000"/>
              </a:lnSpc>
            </a:pPr>
            <a:endParaRPr lang="en-US" altLang="zh-CN" sz="2000" b="1" dirty="0"/>
          </a:p>
          <a:p>
            <a:pPr>
              <a:lnSpc>
                <a:spcPct val="100000"/>
              </a:lnSpc>
            </a:pPr>
            <a:r>
              <a:rPr lang="en-US" altLang="zh-CN" sz="2000" dirty="0"/>
              <a:t>For simplicity, pretend that the only memory accesses are to the array (ignoring the variables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and sum, as well as the instructions).</a:t>
            </a:r>
            <a:endParaRPr lang="en-US" altLang="zh-CN" sz="20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3E111D8-C4A7-8977-738D-22E89E8AE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473" y="846297"/>
            <a:ext cx="4111466" cy="54203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9EE8C1DF-428D-BE0A-519E-888D62069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236" y="2329292"/>
            <a:ext cx="3368424" cy="92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444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C2E16-AED2-DE1C-1E33-09CCDBD4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F84DA-63AD-252A-9AFC-221BD3B01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592442-25FA-B8D8-DDAB-A8E0BCF5C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85178D-4187-F166-4B40-65763B6C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9974D7-A345-AACA-F185-DCD8D2CB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AD845A5-D6FB-8D0D-585C-F12A93E89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498497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b="1" dirty="0"/>
              <a:t>Trace Analysis: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en-US" altLang="zh-CN" sz="1800" dirty="0"/>
              <a:t>Access a[0] (VPN 06) -&gt; </a:t>
            </a:r>
            <a:r>
              <a:rPr lang="en-US" altLang="zh-CN" sz="1800" b="1" dirty="0"/>
              <a:t>TLB Miss</a:t>
            </a:r>
            <a:r>
              <a:rPr lang="en-US" altLang="zh-CN" sz="1800" dirty="0"/>
              <a:t> (first time).</a:t>
            </a:r>
          </a:p>
          <a:p>
            <a:pPr lvl="1">
              <a:lnSpc>
                <a:spcPct val="100000"/>
              </a:lnSpc>
            </a:pPr>
            <a:r>
              <a:rPr lang="en-US" altLang="zh-CN" sz="1800" dirty="0"/>
              <a:t>Access a[1], a[2] (same VPN 06) -&gt; </a:t>
            </a:r>
            <a:r>
              <a:rPr lang="en-US" altLang="zh-CN" sz="1800" b="1" dirty="0"/>
              <a:t>TLB Hit</a:t>
            </a:r>
            <a:r>
              <a:rPr lang="en-US" altLang="zh-CN" sz="1800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zh-CN" sz="1800" dirty="0"/>
              <a:t>Access a[3] (VPN 07) -&gt; </a:t>
            </a:r>
            <a:r>
              <a:rPr lang="en-US" altLang="zh-CN" sz="1800" b="1" dirty="0"/>
              <a:t>TLB Miss</a:t>
            </a:r>
            <a:r>
              <a:rPr lang="en-US" altLang="zh-CN" sz="1800" dirty="0"/>
              <a:t>...</a:t>
            </a:r>
          </a:p>
          <a:p>
            <a:pPr>
              <a:lnSpc>
                <a:spcPct val="100000"/>
              </a:lnSpc>
            </a:pPr>
            <a:r>
              <a:rPr lang="en-US" altLang="zh-CN" sz="2000" b="1" dirty="0"/>
              <a:t>Hit Rate:</a:t>
            </a:r>
            <a:r>
              <a:rPr lang="en-US" altLang="zh-CN" sz="2000" dirty="0"/>
              <a:t> 70% in this tiny example (In reality, with 4KB pages, it's much higher).</a:t>
            </a:r>
            <a:endParaRPr lang="zh-CN" altLang="en-US" sz="2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33F11D3-2767-A55E-36BC-671C9906C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473" y="846297"/>
            <a:ext cx="4111466" cy="54203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19887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D4374-8A0B-A00F-2563-2AD90173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3B169-964C-895A-833B-85756DBA9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Does TLB Work?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BFEBE8-C7CA-2EC0-CF56-38EF4A3D3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BA4166-B032-4906-D4E6-1ED0788C7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86FB6F-BDC7-368C-601E-554886D48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7E8D85B3-C485-20B3-C53D-59A450BD25D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b="1" dirty="0"/>
                  <a:t>Locality of Reference:</a:t>
                </a:r>
              </a:p>
              <a:p>
                <a:pPr lvl="1"/>
                <a:r>
                  <a:rPr lang="en-US" altLang="zh-CN" b="1" dirty="0"/>
                  <a:t>Spatial Locality: </a:t>
                </a:r>
                <a:r>
                  <a:rPr lang="en-US" altLang="zh-CN" dirty="0"/>
                  <a:t>If a program accesses memory at address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, it will likely soon access memory near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 (e.g., array elements).</a:t>
                </a:r>
              </a:p>
              <a:p>
                <a:pPr lvl="1"/>
                <a:r>
                  <a:rPr lang="en-US" altLang="zh-CN" b="1" dirty="0"/>
                  <a:t>Temporal Locality: </a:t>
                </a:r>
                <a:r>
                  <a:rPr lang="en-US" altLang="zh-CN" dirty="0"/>
                  <a:t>An instruction or data item recently accessed will likely be re-accessed soon (e.g., loop variables).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Impact of Page Size: </a:t>
                </a:r>
                <a:r>
                  <a:rPr lang="en-US" altLang="zh-CN" dirty="0"/>
                  <a:t>Larger pages mean more data per translation, potentially increasing spatial hit rate.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文本占位符 5">
                <a:extLst>
                  <a:ext uri="{FF2B5EF4-FFF2-40B4-BE49-F238E27FC236}">
                    <a16:creationId xmlns:a16="http://schemas.microsoft.com/office/drawing/2014/main" id="{7E8D85B3-C485-20B3-C53D-59A450BD25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8627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92DA8-4747-BD0E-B950-01F837E1D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ED0F5-4AC8-E3E1-41A6-220303DA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Who Handles The TLB Miss?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3B64B5-A512-7957-21D7-8A1F1F1D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209818-A71A-4466-FCF2-F2C07E552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02F963-98B0-869D-06C8-65B185AB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8372EAC-129E-CDF6-DA98-25B64F2B8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Hardware-Managed TLB </a:t>
            </a:r>
            <a:r>
              <a:rPr lang="en-US" altLang="zh-CN" dirty="0"/>
              <a:t>(CISC, e.g., x86):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Hardware knows exactly where page tables are (via PTBR).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Hardware "walks" the table on its own.</a:t>
            </a:r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Software-Managed TLB</a:t>
            </a:r>
            <a:r>
              <a:rPr lang="en-US" altLang="zh-CN" dirty="0"/>
              <a:t> (RISC, e.g., MIPS, SPARC):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Hardware raises an exception (trap handler).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OS handles the miss, updates TLB with privileged instructions.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Advantage of Software approach: Flexibility (OS can use any data structure) and simplicity in hardware.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014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8F989-CE9B-7F0B-25DC-838F7B124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2762F-1695-A6D4-8852-0916B3A2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 Contents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706C3B-ABDF-3D3F-ACDB-E3811A04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77A92B-BDC5-D123-290F-64F589336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B0253E-B6BC-18D8-5E11-56E667697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16BC3E3-DFDA-7D6A-B9B0-7EB7F71A5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Structure: Typically 32, 64, or 128 entries; fully associative (searched in parallel).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/>
              <a:t>Typical Entry</a:t>
            </a:r>
            <a:r>
              <a:rPr lang="en-US" altLang="zh-CN" sz="2400" dirty="0"/>
              <a:t>: VPN | PFN | Other Bits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Other Bits: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/>
              <a:t>Valid Bit</a:t>
            </a:r>
            <a:r>
              <a:rPr lang="en-US" altLang="zh-CN" sz="2000" dirty="0"/>
              <a:t>: Is this a valid translation? (Note: Different from Page Table Valid Bit).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/>
              <a:t>Protection Bits</a:t>
            </a:r>
            <a:r>
              <a:rPr lang="en-US" altLang="zh-CN" sz="2000" dirty="0"/>
              <a:t>: Read/Write/Execute permissions.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/>
              <a:t>ASID</a:t>
            </a:r>
            <a:r>
              <a:rPr lang="en-US" altLang="zh-CN" sz="2000" dirty="0"/>
              <a:t>: Address Space Identifier (Process ID).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/>
              <a:t>Dirty Bit</a:t>
            </a:r>
            <a:r>
              <a:rPr lang="en-US" altLang="zh-CN" sz="2000" dirty="0"/>
              <a:t>: Has the page been written to?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1297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DE736-7A3D-5DCC-6100-91CAAC72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CC0A5-2883-4BCC-FA2B-FE85BF004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128C36-2868-C542-CBD8-7EECC7A7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A072A4-2653-FED7-76E1-E43687964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2DD177-B712-A38D-E981-3CA5695D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A30A584-EE12-13E0-743E-EF7C64B39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TLB translations are only valid for the current process. For example, if Process A runs, VPN 10 points to PFN 100. If Process B runs, VPN 10 might point to PFN 170. Hardware cannot distinguish them.</a:t>
            </a:r>
          </a:p>
          <a:p>
            <a:endParaRPr lang="en-US" altLang="zh-CN" dirty="0"/>
          </a:p>
          <a:p>
            <a:r>
              <a:rPr lang="en-US" altLang="zh-CN" dirty="0"/>
              <a:t>How to perform process switches?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3757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6495D-0AE5-4C83-9110-FE8779E9F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B1B3A-32FA-DF75-7086-F82164AA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Context Switches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5E1FC0-83F1-09B3-8977-53E25FE3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B3D3DC-420A-3BB0-67C9-89B4B6F4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6701A3-272D-C0F5-DE02-2DFCB673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0B83ECA-50FF-4864-9477-CDE93D1A9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Solutions:</a:t>
            </a:r>
          </a:p>
          <a:p>
            <a:pPr lvl="1"/>
            <a:r>
              <a:rPr lang="en-US" altLang="zh-CN" b="1" dirty="0"/>
              <a:t>Flush TLB</a:t>
            </a:r>
            <a:r>
              <a:rPr lang="en-US" altLang="zh-CN" dirty="0"/>
              <a:t>: Set all valid bits to 0 on context switch (Simple but high overhead).</a:t>
            </a:r>
          </a:p>
          <a:p>
            <a:pPr lvl="1"/>
            <a:r>
              <a:rPr lang="en-US" altLang="zh-CN" b="1" dirty="0"/>
              <a:t>ASID (Address Space Identifier): </a:t>
            </a:r>
            <a:r>
              <a:rPr lang="en-US" altLang="zh-CN" dirty="0"/>
              <a:t>Hardware support to distinguish process translations.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8503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B5D3-5744-EAD4-DFD3-7C432D410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DBCED-802E-97EA-2F8C-1C93CA00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ASID: Sharing the TLB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638CE8-855E-C9D7-26F7-ECA6BB32F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DF85F8-9ECF-2032-848B-82F0A6396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70D3DE-0B8A-2C95-7A7A-C2318F7E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F5FAC97-5150-CC11-A574-A2F508736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Adding an ASID field to the TLB entry to identify which process the translation belongs to.</a:t>
            </a:r>
          </a:p>
          <a:p>
            <a:endParaRPr lang="en-US" altLang="zh-CN" dirty="0"/>
          </a:p>
          <a:p>
            <a:r>
              <a:rPr lang="en-US" altLang="zh-CN" b="1" dirty="0"/>
              <a:t>Benefit</a:t>
            </a:r>
            <a:r>
              <a:rPr lang="en-US" altLang="zh-CN" dirty="0"/>
              <a:t>: Multiple processes can keep their translations in the TLB simultaneously.</a:t>
            </a:r>
          </a:p>
          <a:p>
            <a:endParaRPr lang="en-US" altLang="zh-CN" dirty="0"/>
          </a:p>
          <a:p>
            <a:r>
              <a:rPr lang="en-US" altLang="zh-CN" b="1" dirty="0"/>
              <a:t>Sharing Pages: </a:t>
            </a:r>
            <a:r>
              <a:rPr lang="en-US" altLang="zh-CN" dirty="0"/>
              <a:t>ASID allows two different VPNs from different processes to map to the same physical PFN (Shared Libraries).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5649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C2176-02CD-961A-A669-E371E3299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52F9FA-7128-5CBD-6344-6B2D30EBD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 Replacement Policy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7C399C-D3D4-879E-FB9B-C70844868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358CD0-623F-20B8-B79D-E66C1069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F89E31-83A1-2553-6959-DF3D6E61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C93B4DB-4B75-FE3E-5E22-00543ECBC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When TLB is full and a new entry is needed, which one to evict?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Common Policies:</a:t>
            </a:r>
            <a:endParaRPr lang="en-US" altLang="zh-CN" dirty="0"/>
          </a:p>
          <a:p>
            <a:pPr lvl="1"/>
            <a:r>
              <a:rPr lang="en-US" altLang="zh-CN" b="1" dirty="0"/>
              <a:t>LRU (Least-Recently-Used):</a:t>
            </a:r>
            <a:r>
              <a:rPr lang="en-US" altLang="zh-CN" dirty="0"/>
              <a:t> Evicts the entry that hasn't been used for the longest time. Exploits locality.</a:t>
            </a:r>
          </a:p>
          <a:p>
            <a:pPr lvl="1"/>
            <a:r>
              <a:rPr lang="en-US" altLang="zh-CN" b="1" dirty="0"/>
              <a:t>Random:</a:t>
            </a:r>
            <a:r>
              <a:rPr lang="en-US" altLang="zh-CN" dirty="0"/>
              <a:t> Evicts a random entry. Simple, avoids corner-case behaviors (like LRU failing in large loops).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Read the </a:t>
            </a:r>
            <a:r>
              <a:rPr lang="en-US" altLang="zh-CN" b="1" dirty="0">
                <a:hlinkClick r:id="rId2"/>
              </a:rPr>
              <a:t>Chapter 22: </a:t>
            </a:r>
            <a:r>
              <a:rPr lang="en-US" b="1" dirty="0">
                <a:hlinkClick r:id="rId2"/>
              </a:rPr>
              <a:t>Beyond Physical Memory: Policies</a:t>
            </a:r>
            <a:r>
              <a:rPr lang="en-US" b="1" dirty="0"/>
              <a:t> </a:t>
            </a:r>
            <a:r>
              <a:rPr lang="en-US" dirty="0"/>
              <a:t>and learn about these policies.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183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09743-E2D3-0572-9824-11AA2229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F9AFD-C1F7-887D-3B4C-11FA4E0F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Break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00EBED-CD2C-21B2-BEB2-D22CB888B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53843A-999F-661B-4408-65582EAF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27F05A-4F28-E996-C117-34E532C6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E5CFC54-094D-70E8-2B25-F229F883B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30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80D6D-C550-52D7-061D-01594C93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EA4D4F-3525-5F46-B22A-2E454DA9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4756" cy="1072515"/>
          </a:xfrm>
        </p:spPr>
        <p:txBody>
          <a:bodyPr>
            <a:normAutofit/>
          </a:bodyPr>
          <a:lstStyle/>
          <a:p>
            <a:r>
              <a:rPr lang="en-US" altLang="zh-CN" dirty="0"/>
              <a:t>From Virtual Memory to Concurrency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644189-1C1C-2361-F8CB-8E0CFB78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A7C55D-FF8B-C161-1B65-C395F2313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AEEBC0-F9E1-52D1-B404-C411C694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51CFA6F-7AE7-005A-66EF-811FE8D66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From Virtual Memory to Concurrency</a:t>
            </a:r>
            <a:r>
              <a:rPr lang="en-US" altLang="zh-CN" dirty="0"/>
              <a:t> Thus far: Single point of execution per process.</a:t>
            </a:r>
          </a:p>
          <a:p>
            <a:pPr lvl="1">
              <a:lnSpc>
                <a:spcPct val="100000"/>
              </a:lnSpc>
            </a:pPr>
            <a:r>
              <a:rPr lang="en-US" altLang="zh-CN" b="1" dirty="0"/>
              <a:t>Virtual Memory:</a:t>
            </a:r>
            <a:r>
              <a:rPr lang="en-US" altLang="zh-CN" dirty="0"/>
              <a:t> The OS multiplexes physical memory to create the illusion of a large, private virtual address space for each process.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Each process behaves as if it has its own memory.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Now: Multiple points of execution.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What if a single running process needs to perform multiple tasks simultaneously?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We need a new abstraction: </a:t>
            </a:r>
            <a:r>
              <a:rPr lang="en-US" altLang="zh-CN" b="1" dirty="0"/>
              <a:t>The Thread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2559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8476-8153-8917-AA1A-B60B1420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943CD-5CEC-1FFA-3F58-04A108CC5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CRUX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756545-3CAF-8E73-8D93-F4550815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8F9D2F-346C-0639-9C05-34F43407F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34F4F0-985D-2600-0F6F-263669FA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4BE3FBD-A85D-72BA-2176-534F61B92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How to provide the illusion of multiple simultaneous tasks within the </a:t>
            </a:r>
            <a:r>
              <a:rPr lang="en-US" altLang="zh-CN" i="1" dirty="0"/>
              <a:t>same</a:t>
            </a:r>
            <a:r>
              <a:rPr lang="en-US" altLang="zh-CN" dirty="0"/>
              <a:t> program?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How do we manage shared memory safely when scheduling is unpredictable and interrupts can happen at any time?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Goal: Reliable and deterministic execution of concurrent code.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3583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3282-EFDE-740C-A873-2A5E1082C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D0A73-2BC9-EFB3-CEFB-3FCD8C78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to Threads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9F6E0A-67FE-E1EB-8583-3FD658B2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F8BCA8-61DA-B343-6F89-A5F6945A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B29E9E-BB5B-A34C-8540-AA59787A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20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D68A676-0D5F-9A32-9C21-893E1146E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b="1" dirty="0"/>
              <a:t>What is a Thread?</a:t>
            </a:r>
          </a:p>
          <a:p>
            <a:pPr marL="0" indent="0">
              <a:buNone/>
            </a:pPr>
            <a:r>
              <a:rPr lang="en-US" altLang="zh-CN" dirty="0"/>
              <a:t>A new abstraction for a single running process.</a:t>
            </a:r>
          </a:p>
          <a:p>
            <a:r>
              <a:rPr lang="en-US" altLang="zh-CN" b="1" dirty="0"/>
              <a:t>Multiple PCs: </a:t>
            </a:r>
            <a:r>
              <a:rPr lang="en-US" altLang="zh-CN" dirty="0"/>
              <a:t>Instead of a single point of execution, a multi-threaded program has multiple Program Counters (PCs).</a:t>
            </a:r>
          </a:p>
          <a:p>
            <a:r>
              <a:rPr lang="en-US" altLang="zh-CN" b="1" dirty="0"/>
              <a:t>Shared Address Space: </a:t>
            </a:r>
            <a:r>
              <a:rPr lang="en-US" altLang="zh-CN" dirty="0"/>
              <a:t>Threads are like separate processes, but they share the same address space and can access the same data.  </a:t>
            </a:r>
          </a:p>
          <a:p>
            <a:r>
              <a:rPr lang="en-US" altLang="zh-CN" b="1" dirty="0"/>
              <a:t>Thread Control Block (TCB): </a:t>
            </a:r>
            <a:r>
              <a:rPr lang="en-US" altLang="zh-CN" dirty="0"/>
              <a:t>Similar to a PCB, a TCB is used to store the state of each thread (registers, PC) during a context switch. </a:t>
            </a:r>
          </a:p>
          <a:p>
            <a:r>
              <a:rPr lang="en-US" altLang="zh-CN" b="1" dirty="0"/>
              <a:t>Context Switch Difference: </a:t>
            </a:r>
            <a:r>
              <a:rPr lang="en-US" altLang="zh-CN" dirty="0"/>
              <a:t>The address space remains the same, so there is no need to switch page tables.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474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9725F-5451-9C39-CEA6-42348C63C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5AED8-7599-A538-87E3-AE820155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Address Space Layout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F4F107-33A7-5E49-1284-AD18652C6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3669F3-E573-F643-B806-9F4318A9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1590B4-2825-0F9E-151A-D7D4E8F0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23DDC27-8DFC-DD10-2D68-1FD8E6AEE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Single-Threaded vs. Multi-Threaded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One major difference between threads and processes concerns the stack.  </a:t>
            </a:r>
          </a:p>
          <a:p>
            <a:pPr lvl="1">
              <a:lnSpc>
                <a:spcPct val="100000"/>
              </a:lnSpc>
            </a:pPr>
            <a:r>
              <a:rPr lang="en-US" altLang="zh-CN" b="1" dirty="0"/>
              <a:t>Single-threaded process: </a:t>
            </a:r>
            <a:r>
              <a:rPr lang="en-US" altLang="zh-CN" dirty="0"/>
              <a:t>A single stack residing at the bottom of the address space.  </a:t>
            </a:r>
          </a:p>
          <a:p>
            <a:pPr lvl="1">
              <a:lnSpc>
                <a:spcPct val="100000"/>
              </a:lnSpc>
            </a:pPr>
            <a:r>
              <a:rPr lang="en-US" altLang="zh-CN" b="1" dirty="0"/>
              <a:t>Multi-threaded process: </a:t>
            </a:r>
            <a:r>
              <a:rPr lang="en-US" altLang="zh-CN" dirty="0"/>
              <a:t>One stack per thread, resulting in multiple stacks spread throughout the address space.  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Variables, parameters, and return values are placed in thread-local storage (the stack of the relevant thread).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076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3B93F-4A5D-FE75-E20F-9221921FF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C1370-555F-505D-0555-89D31611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Address Space Layout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DD1061-D405-5A93-22F5-C9112973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0172DA-68EC-78ED-0C36-B9695404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C74B96-FC2E-D921-3743-0BF21D99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E12B1-EBAA-1775-5AF9-FA9816142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63F05F5-5DA7-BB8C-339B-0DAA8D1D9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738" y="1793690"/>
            <a:ext cx="6441257" cy="44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17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AB38-6B9C-9822-6114-8B34D9AA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FE755-0EAF-A1FA-E97E-2AEE2C90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Use Threads?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BBF51E-D917-E900-9DC6-723B7741A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615FD0-7BAD-C514-2D91-CCBFA8D2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14714B-D8E1-166D-3151-B03CA8FA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8E74221-BC56-A973-2140-B81F2F67E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Two major reasons to use threads instead of processes:</a:t>
            </a:r>
          </a:p>
          <a:p>
            <a:pPr lvl="1"/>
            <a:r>
              <a:rPr lang="en-US" altLang="zh-CN" b="1" dirty="0"/>
              <a:t>Parallelism</a:t>
            </a:r>
            <a:r>
              <a:rPr lang="en-US" altLang="zh-CN" dirty="0"/>
              <a:t>: Transform a single-threaded program to run on multiple CPUs. Speed up tasks like operating on large arrays by dividing the work.  </a:t>
            </a:r>
          </a:p>
          <a:p>
            <a:pPr lvl="1"/>
            <a:r>
              <a:rPr lang="en-US" altLang="zh-CN" b="1" dirty="0"/>
              <a:t>Avoid Blocking </a:t>
            </a:r>
            <a:r>
              <a:rPr lang="en-US" altLang="zh-CN" dirty="0"/>
              <a:t>(Overlapping I/O): If one thread is blocked waiting for slow I/O (e.g., disk I/O, network), the scheduler can switch to other threads that are ready to do useful work. </a:t>
            </a:r>
          </a:p>
          <a:p>
            <a:pPr marL="0" indent="0">
              <a:buNone/>
            </a:pPr>
            <a:r>
              <a:rPr lang="en-US" altLang="zh-CN" dirty="0"/>
              <a:t>Why not multiple processes: Threads share an address space naturally, making it much easier to share data structures than using separate processes.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445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D35CF-C69F-0AFB-BF5A-63DF4AA0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54CA5-044D-798F-B29C-F96582EB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345D37-8004-4F12-1EB0-11BF09DB9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7AE352-9417-347F-D648-13F88487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School of AI and Advanced Computing, XJTLU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B8520B-9553-92EB-71C3-34FA598F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8199412-58DC-C957-0008-B080715ED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33081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Thread Creation Basics</a:t>
            </a:r>
            <a:endParaRPr lang="en-US" altLang="zh-CN" dirty="0"/>
          </a:p>
          <a:p>
            <a:r>
              <a:rPr lang="en-US" altLang="zh-CN" sz="2400" dirty="0"/>
              <a:t>A simple program creates two threads (T1 and T2) doing independent work (printing "A" or "B").</a:t>
            </a:r>
          </a:p>
          <a:p>
            <a:r>
              <a:rPr lang="en-US" altLang="zh-CN" sz="2400" dirty="0"/>
              <a:t>Main thread uses </a:t>
            </a:r>
            <a:r>
              <a:rPr lang="en-US" altLang="zh-CN" sz="2400" dirty="0" err="1">
                <a:highlight>
                  <a:srgbClr val="C0C0C0"/>
                </a:highlight>
              </a:rPr>
              <a:t>pthread_create</a:t>
            </a:r>
            <a:r>
              <a:rPr lang="en-US" altLang="zh-CN" sz="2400" dirty="0">
                <a:highlight>
                  <a:srgbClr val="C0C0C0"/>
                </a:highlight>
              </a:rPr>
              <a:t>()</a:t>
            </a:r>
            <a:r>
              <a:rPr lang="en-US" altLang="zh-CN" sz="2400" dirty="0"/>
              <a:t> to launch threads.</a:t>
            </a:r>
          </a:p>
          <a:p>
            <a:r>
              <a:rPr lang="en-US" altLang="zh-CN" sz="2400" dirty="0"/>
              <a:t>Main thread uses </a:t>
            </a:r>
            <a:r>
              <a:rPr lang="en-US" altLang="zh-CN" sz="2400" dirty="0" err="1">
                <a:highlight>
                  <a:srgbClr val="C0C0C0"/>
                </a:highlight>
              </a:rPr>
              <a:t>pthread_join</a:t>
            </a:r>
            <a:r>
              <a:rPr lang="en-US" altLang="zh-CN" sz="2400" dirty="0">
                <a:highlight>
                  <a:srgbClr val="C0C0C0"/>
                </a:highlight>
              </a:rPr>
              <a:t>()</a:t>
            </a:r>
            <a:r>
              <a:rPr lang="en-US" altLang="zh-CN" sz="2400" dirty="0"/>
              <a:t> to wait for T1 and T2 to finish before exiting. 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AEF02C5-D9CF-BA1F-2800-E1F33CBFE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058" y="1058458"/>
            <a:ext cx="5330819" cy="50323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72878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BEAB0-C6B4-6A9F-7B81-DD86FD06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537332-CDD7-E658-300F-3B35DF18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03C7F6-87EA-41B5-FD16-0EE0C9F2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9709BD-8E2A-DF00-0110-87DF6C43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8ABB61-F171-6B95-492E-3DECD076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C6E685A-C1D5-1157-CE24-15582B713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3912031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Once created, a thread may run immediately, or be placed in a "ready" state.  </a:t>
            </a:r>
          </a:p>
          <a:p>
            <a:r>
              <a:rPr lang="en-US" altLang="zh-CN" dirty="0"/>
              <a:t>The OS scheduler determines what runs next; it is hard to predict the execution order. 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E334E07-8A16-BE2A-86F0-9C0F369C3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229" y="725505"/>
            <a:ext cx="3985377" cy="30221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B580CDE-9F0C-357D-2A0F-6CFA5B0C7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635" y="3429000"/>
            <a:ext cx="3605298" cy="29738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39769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911F-A056-D02E-21E8-21E394447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386B3-4247-864E-93CB-D79E73CB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AA9351-53AA-E196-8872-09B0595C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0C3351-FEAB-3553-E291-62441BC16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5D28D5-CF50-9EA3-344C-4DB4D8F9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A85E9F8-3AF4-1DD1-7B50-A1E536F4C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3912031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"B" might print before "A" even if Thread 1 was created first.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8A3C15-AC83-8102-D566-BAA6EC3A0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662" y="1272986"/>
            <a:ext cx="5384932" cy="40069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35493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C05FC-16B2-3D06-62E0-E54C98B0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F2476-5AE6-7877-84C1-823F42F7A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803415-C8F2-8101-686A-B40D5697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091676-8487-CAC1-4147-A291B61DA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4D6B7A-00DA-7BF1-626C-F1590CC0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B08F2DB-AB6C-62C7-C42B-507DB66B5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4841735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Consider two threads updating a global shared variable (static volatile int counter = 0).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Each thread loops 10 million times: counter = counter + 1.  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Desired final result: 20,000,000.  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Actual result: Varies every run! (e.g., 19345221, or 19221041) .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57E53CB-2300-CF32-81B7-75CECFF9A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466" y="440329"/>
            <a:ext cx="4197068" cy="60985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96507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C1BEF-C3A2-8FFA-233B-9EE8BA5B5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A007E-3F46-9643-FAEE-1546AC49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79AB14-275C-5B46-77F3-37A22849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228776-EBEF-67F0-91EE-601B4DD8D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7B40A4-CEF8-8DB2-A41D-748A10E3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17F4D0-CEED-3F6F-B778-9475350CE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Why does the counter fail? We must look at the compiler-generated assembly code.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altLang="zh-CN" dirty="0"/>
              <a:t>Load: mov 0x8049a1c, %</a:t>
            </a:r>
            <a:r>
              <a:rPr lang="en-US" altLang="zh-CN" dirty="0" err="1"/>
              <a:t>eax</a:t>
            </a:r>
            <a:r>
              <a:rPr lang="en-US" altLang="zh-CN" dirty="0"/>
              <a:t> (Get memory value into register).  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altLang="zh-CN" dirty="0"/>
              <a:t>Add: add $0x1, %</a:t>
            </a:r>
            <a:r>
              <a:rPr lang="en-US" altLang="zh-CN" dirty="0" err="1"/>
              <a:t>eax</a:t>
            </a:r>
            <a:r>
              <a:rPr lang="en-US" altLang="zh-CN" dirty="0"/>
              <a:t> (Add 1 to register).  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altLang="zh-CN" dirty="0"/>
              <a:t>Store: mov %</a:t>
            </a:r>
            <a:r>
              <a:rPr lang="en-US" altLang="zh-CN" dirty="0" err="1"/>
              <a:t>eax</a:t>
            </a:r>
            <a:r>
              <a:rPr lang="en-US" altLang="zh-CN" dirty="0"/>
              <a:t>, 0x8049a1c (Store register back to memory).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A timer interrupt can go off between these instructions!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113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378F0-600D-BAFD-655B-138530ACC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24AE2-621C-02EC-2B79-A70B6BA1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DC00FD-B9B6-F436-03B2-D25474F5B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A741FF-3409-4D8A-5059-3F8CF779E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75D20D-3A56-CC8E-7EFE-66BB0EBF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0A40431-203F-642A-D882-5395FDBD5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390815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Execution Trace: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Thread 1 loads counter (50), increments to 51. -&gt; INTERRUPT!   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Thread 2 loads counter (still 50), increments to 51, stores 51. -&gt; INTERRUPT!   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Thread 1 resumes, executes final store instruction (51).  </a:t>
            </a:r>
          </a:p>
          <a:p>
            <a:pPr>
              <a:lnSpc>
                <a:spcPct val="100000"/>
              </a:lnSpc>
            </a:pPr>
            <a:r>
              <a:rPr lang="en-US" altLang="zh-CN" sz="2000" dirty="0"/>
              <a:t>Result: Code ran twice, but counter went from 50 to 51, not 52!</a:t>
            </a:r>
            <a:endParaRPr lang="zh-CN" alt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BA414B-4AB6-41D2-A256-A030A7577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670" y="724560"/>
            <a:ext cx="6631759" cy="3549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EC8132-45F1-4721-9EA1-9A6CF2628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588" y="4769047"/>
            <a:ext cx="5057921" cy="10918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85274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378F0-600D-BAFD-655B-138530ACC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24AE2-621C-02EC-2B79-A70B6BA1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DC00FD-B9B6-F436-03B2-D25474F5B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A741FF-3409-4D8A-5059-3F8CF779E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75D20D-3A56-CC8E-7EFE-66BB0EBF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8714BF-B406-4A37-AB6F-9B67233BB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26" y="1646695"/>
            <a:ext cx="5550694" cy="18931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92CE13-0983-4FF7-ABAF-208952A89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179" y="3890572"/>
            <a:ext cx="5989725" cy="18931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96838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2BD4-B92D-D9C0-6B7B-47E4F9A8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8220A-277A-F137-65C0-5097163FC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7DB171-D824-327B-6075-372809BF4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C4421A-81C9-BBB4-A1A7-74088918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1C9538-200D-AE4B-6F1C-5D0D7AE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A492C5C-5742-4FB0-9663-7BD95D96C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1" dirty="0"/>
              <a:t>What did we just demonstrate?</a:t>
            </a:r>
          </a:p>
          <a:p>
            <a:pPr lvl="1">
              <a:lnSpc>
                <a:spcPct val="100000"/>
              </a:lnSpc>
            </a:pPr>
            <a:r>
              <a:rPr lang="en-US" altLang="zh-CN" b="1" dirty="0"/>
              <a:t>Race Condition (Data Race): </a:t>
            </a:r>
            <a:r>
              <a:rPr lang="en-US" altLang="zh-CN" dirty="0"/>
              <a:t>The results depend on the timing of the code's execution. With untimely context switches, we get the wrong result.  </a:t>
            </a:r>
          </a:p>
          <a:p>
            <a:pPr lvl="1">
              <a:lnSpc>
                <a:spcPct val="100000"/>
              </a:lnSpc>
            </a:pPr>
            <a:r>
              <a:rPr lang="en-US" altLang="zh-CN" b="1" dirty="0"/>
              <a:t>Indeterminate</a:t>
            </a:r>
            <a:r>
              <a:rPr lang="en-US" altLang="zh-CN" dirty="0"/>
              <a:t>: Because of the race condition, the output is not deterministic. It is unknown what the output will be and it is likely to be different across runs.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8967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2BD4-B92D-D9C0-6B7B-47E4F9A8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8220A-277A-F137-65C0-5097163FC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7DB171-D824-327B-6075-372809BF4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C4421A-81C9-BBB4-A1A7-74088918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1C9538-200D-AE4B-6F1C-5D0D7AE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A492C5C-5742-4FB0-9663-7BD95D96C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Where does it happen and how to fix it?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b="1" dirty="0"/>
              <a:t>Critical Section:</a:t>
            </a:r>
            <a:r>
              <a:rPr lang="en-US" dirty="0"/>
              <a:t> Because multiple threads executing this code can result in a race condition, we call this piece of code a critical section. It accesses a shared variable and must not be concurrently executed by more than one thread. 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Mutual Exclusion:</a:t>
            </a:r>
            <a:r>
              <a:rPr lang="en-US" dirty="0"/>
              <a:t> What we really want for this code. This property guarantees that if one thread is executing within the critical section, the others will be prevented from doing so.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297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4FE8A-8CAA-4AAD-9D79-373A413AE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Who coined these terms?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5D7136-C9A0-44B9-9534-427CED0D7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091EDA-D0C6-4E6A-BCD9-90359C66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4D5AE-524E-46B9-B1DE-83A0047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FC33C4-4A8B-459F-9794-936B6E7B5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68450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Edsger</a:t>
            </a:r>
            <a:r>
              <a:rPr lang="en-US" sz="2000" b="1" dirty="0"/>
              <a:t> W. Dijkstra</a:t>
            </a:r>
            <a:r>
              <a:rPr lang="en-US" sz="2000" dirty="0"/>
              <a:t>: A pioneer in the field who coined virtually all of these core concurrency terms (Critical Section, Mutual Exclusion, etc.).  </a:t>
            </a:r>
          </a:p>
          <a:p>
            <a:r>
              <a:rPr lang="en-US" sz="2000" dirty="0"/>
              <a:t>Won the </a:t>
            </a:r>
            <a:r>
              <a:rPr lang="en-US" sz="2000" b="1" dirty="0"/>
              <a:t>Turing Award </a:t>
            </a:r>
            <a:r>
              <a:rPr lang="en-US" sz="2000" dirty="0"/>
              <a:t>for this and other foundational work in computer science.  </a:t>
            </a:r>
          </a:p>
          <a:p>
            <a:r>
              <a:rPr lang="en-US" sz="2000" dirty="0"/>
              <a:t>Authored the famous 1968 paper "Cooperating Sequential Processes", which clearly outlined the mutual exclusion problem and multi-threaded programming concepts.  </a:t>
            </a:r>
          </a:p>
          <a:p>
            <a:r>
              <a:rPr lang="en-US" sz="2000" dirty="0"/>
              <a:t>Discovered many of these concurrency principles while developing the "THE" Operating System at </a:t>
            </a:r>
            <a:r>
              <a:rPr lang="en-US" sz="2000" dirty="0" err="1"/>
              <a:t>Technische</a:t>
            </a:r>
            <a:r>
              <a:rPr lang="en-US" sz="2000" dirty="0"/>
              <a:t> </a:t>
            </a:r>
            <a:r>
              <a:rPr lang="en-US" sz="2000" dirty="0" err="1"/>
              <a:t>Hogeschool</a:t>
            </a:r>
            <a:r>
              <a:rPr lang="en-US" sz="2000" dirty="0"/>
              <a:t> Eindhoven.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80561AA-C7BD-443C-8226-E33FDFD03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402" y="2085222"/>
            <a:ext cx="238125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131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2433-F065-71C0-DCA3-82F6DB27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0A54A-3596-19E1-E01F-BDA92A76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Wish For Atomicity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18B385-7615-C619-F9B4-630D610DD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0F61C1-C10C-843E-F3EF-3C131E4AE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99EE65-CC7C-0259-1019-4B4B7F05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1A3EB43-FFC1-693E-74E5-D698E937D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Hardware Solutions</a:t>
            </a: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en-US" altLang="zh-CN" dirty="0"/>
              <a:t>One way to solve the race condition is to have more powerful instructions that do exactly what we need in a single step.  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Imagine a super instruction: </a:t>
            </a:r>
            <a:r>
              <a:rPr lang="en-US" altLang="zh-CN" dirty="0">
                <a:highlight>
                  <a:srgbClr val="C0C0C0"/>
                </a:highlight>
              </a:rPr>
              <a:t>memory-add 0x8049a1c, $0x1</a:t>
            </a:r>
            <a:r>
              <a:rPr lang="en-US" altLang="zh-CN" dirty="0"/>
              <a:t>.  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The hardware guarantees it executes atomically (as a unit, "all or none").  </a:t>
            </a:r>
          </a:p>
        </p:txBody>
      </p:sp>
    </p:spTree>
    <p:extLst>
      <p:ext uri="{BB962C8B-B14F-4D97-AF65-F5344CB8AC3E}">
        <p14:creationId xmlns:p14="http://schemas.microsoft.com/office/powerpoint/2010/main" val="24946758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2433-F065-71C0-DCA3-82F6DB27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0A54A-3596-19E1-E01F-BDA92A76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Wish For Atomicity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18B385-7615-C619-F9B4-630D610DD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0F61C1-C10C-843E-F3EF-3C131E4AE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99EE65-CC7C-0259-1019-4B4B7F05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1A3EB43-FFC1-693E-74E5-D698E937D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The Limit of Hardware:</a:t>
            </a:r>
          </a:p>
          <a:p>
            <a:pPr>
              <a:lnSpc>
                <a:spcPct val="100000"/>
              </a:lnSpc>
            </a:pPr>
            <a:r>
              <a:rPr lang="en-US" dirty="0"/>
              <a:t>In the general case, we won't have such powerful instructions.  </a:t>
            </a:r>
          </a:p>
          <a:p>
            <a:pPr>
              <a:lnSpc>
                <a:spcPct val="100000"/>
              </a:lnSpc>
            </a:pPr>
            <a:r>
              <a:rPr lang="en-US" dirty="0"/>
              <a:t>Imagine we were building a concurrent B-tree and wished to update it. Updating a B-tree may require: 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Traversing multiple nodes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Splitting nodes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Updating parent pointers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Writing multiple memory locations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Would we really want the hardware to support a sane "atomic update of B-tree" instruction? Probably not.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7794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2433-F065-71C0-DCA3-82F6DB27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0A54A-3596-19E1-E01F-BDA92A76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Wish For Atomicity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18B385-7615-C619-F9B4-630D610DD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0F61C1-C10C-843E-F3EF-3C131E4AE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99EE65-CC7C-0259-1019-4B4B7F05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1A3EB43-FFC1-693E-74E5-D698E937D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The Real Solution: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Instead, we ask the hardware for a few useful, basic instructions. 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With help from the OS, we use these to build general synchronization primitives. 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These primitives allow multi-threaded code to access critical sections reliably.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259601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6D954-4F9E-C121-1505-178A8E20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C3633-37E9-3316-B656-4D9FA20BF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5421C3-2945-163A-DDDB-3FCE8169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A854DA-CEA0-113C-50A3-022EEB358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EEF6D4-D60D-CC30-FAD7-69E3A649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6867359-884C-6BB3-A08B-7D1979760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Accelerating Address Translation (TLB): </a:t>
            </a:r>
            <a:r>
              <a:rPr lang="en-US" altLang="zh-CN" dirty="0"/>
              <a:t>The Translation-Lookaside Buffer (TLB) relies on spatial and temporal locality to make virtual memory fast.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Context switches introduce complexity (managed via ASIDs or flushing) to prevent processes from reading wrong physical frames.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Threads: </a:t>
            </a:r>
            <a:r>
              <a:rPr lang="en-US" altLang="zh-CN" dirty="0"/>
              <a:t>Threads share the same address space but have independent execution paths (PCs, registers, stacks).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They enable parallelism on multi-core systems and prevent process blocking during slow I/O operations.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The Crux of Concurrency: </a:t>
            </a:r>
            <a:r>
              <a:rPr lang="en-US" altLang="zh-CN" dirty="0"/>
              <a:t>Sharing memory across threads introduces </a:t>
            </a:r>
            <a:r>
              <a:rPr lang="en-US" altLang="zh-CN" b="1" dirty="0"/>
              <a:t>race conditions</a:t>
            </a:r>
            <a:r>
              <a:rPr lang="en-US" altLang="zh-CN" dirty="0"/>
              <a:t> due to unpredictable OS scheduling and interrupts.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Correctness requires </a:t>
            </a:r>
            <a:r>
              <a:rPr lang="en-US" altLang="zh-CN" b="1" dirty="0"/>
              <a:t>atomicity</a:t>
            </a:r>
            <a:r>
              <a:rPr lang="en-US" altLang="zh-CN" dirty="0"/>
              <a:t> and </a:t>
            </a:r>
            <a:r>
              <a:rPr lang="en-US" altLang="zh-CN" b="1" dirty="0"/>
              <a:t>mutual exclusion, </a:t>
            </a:r>
            <a:r>
              <a:rPr lang="en-US" altLang="zh-CN" dirty="0"/>
              <a:t>which we must build using new hardware instructions and OS synchronization primitives in the coming lectures.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3511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B03AF-6C50-4AB1-F31A-DE10C899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/>
                <a:ea typeface="等线 Light"/>
                <a:cs typeface="Arial"/>
              </a:rPr>
              <a:t>Next Lecture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F83AC3-4EEF-629B-703D-90BD4F5B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039CF7-57B7-27D5-CFC0-4D358894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FCE09B-2CCC-442C-BD00-3DAFD257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2C07704-5735-2744-0A3D-6CCA11EE1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>
                <a:ea typeface="等线"/>
              </a:rPr>
              <a:t>Locks…</a:t>
            </a:r>
          </a:p>
        </p:txBody>
      </p:sp>
    </p:spTree>
    <p:extLst>
      <p:ext uri="{BB962C8B-B14F-4D97-AF65-F5344CB8AC3E}">
        <p14:creationId xmlns:p14="http://schemas.microsoft.com/office/powerpoint/2010/main" val="4222130008"/>
      </p:ext>
    </p:extLst>
  </p:cSld>
  <p:clrMapOvr>
    <a:masterClrMapping/>
  </p:clrMapOvr>
</p:sld>
</file>

<file path=ppt/theme/theme1.xml><?xml version="1.0" encoding="utf-8"?>
<a:theme xmlns:a="http://schemas.openxmlformats.org/drawingml/2006/main" name="AIAC">
  <a:themeElements>
    <a:clrScheme name="AIAC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3AEF1"/>
      </a:accent1>
      <a:accent2>
        <a:srgbClr val="002060"/>
      </a:accent2>
      <a:accent3>
        <a:srgbClr val="A5A5A5"/>
      </a:accent3>
      <a:accent4>
        <a:srgbClr val="58257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2931</TotalTime>
  <Words>2545</Words>
  <Application>Microsoft Office PowerPoint</Application>
  <PresentationFormat>Widescreen</PresentationFormat>
  <Paragraphs>308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 Math</vt:lpstr>
      <vt:lpstr>AIAC</vt:lpstr>
      <vt:lpstr>Computer Architecture and Operating System</vt:lpstr>
      <vt:lpstr>Review</vt:lpstr>
      <vt:lpstr>THE CRUX</vt:lpstr>
      <vt:lpstr>Introduction to TLB</vt:lpstr>
      <vt:lpstr>TLB Basic Algorithm</vt:lpstr>
      <vt:lpstr>Example</vt:lpstr>
      <vt:lpstr>Example</vt:lpstr>
      <vt:lpstr>Example</vt:lpstr>
      <vt:lpstr>Example</vt:lpstr>
      <vt:lpstr>Why Does TLB Work?</vt:lpstr>
      <vt:lpstr>Who Handles The TLB Miss?</vt:lpstr>
      <vt:lpstr>TLB Contents</vt:lpstr>
      <vt:lpstr>Problem</vt:lpstr>
      <vt:lpstr>Context Switches</vt:lpstr>
      <vt:lpstr>ASID: Sharing the TLB</vt:lpstr>
      <vt:lpstr>TLB Replacement Policy</vt:lpstr>
      <vt:lpstr>Break</vt:lpstr>
      <vt:lpstr>From Virtual Memory to Concurrency</vt:lpstr>
      <vt:lpstr>THE CRUX</vt:lpstr>
      <vt:lpstr>Introduction to Threads</vt:lpstr>
      <vt:lpstr>Address Space Layout</vt:lpstr>
      <vt:lpstr>Address Space Layout</vt:lpstr>
      <vt:lpstr>Why Use Threads?</vt:lpstr>
      <vt:lpstr>Example</vt:lpstr>
      <vt:lpstr>Example</vt:lpstr>
      <vt:lpstr>Example</vt:lpstr>
      <vt:lpstr>Example</vt:lpstr>
      <vt:lpstr>Example</vt:lpstr>
      <vt:lpstr>Example</vt:lpstr>
      <vt:lpstr>Example</vt:lpstr>
      <vt:lpstr>Key Concepts</vt:lpstr>
      <vt:lpstr>Key Concepts</vt:lpstr>
      <vt:lpstr>Who coined these terms?</vt:lpstr>
      <vt:lpstr>The Wish For Atomicity</vt:lpstr>
      <vt:lpstr>The Wish For Atomicity</vt:lpstr>
      <vt:lpstr>The Wish For Atomicity</vt:lpstr>
      <vt:lpstr>Summary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Tianming Bai</dc:creator>
  <cp:lastModifiedBy>Tianming Bai</cp:lastModifiedBy>
  <cp:revision>1125</cp:revision>
  <cp:lastPrinted>2026-04-27T01:45:13Z</cp:lastPrinted>
  <dcterms:created xsi:type="dcterms:W3CDTF">2025-10-22T02:43:00Z</dcterms:created>
  <dcterms:modified xsi:type="dcterms:W3CDTF">2026-05-05T03:16:03Z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3DFBA0E403B8423FB8BFD4C8BC3E42ED_13</vt:lpwstr>
  </property>
  <property fmtid="{D5CDD505-2E9C-101B-9397-08002B2CF9AE}" pid="3" name="KSOProductBuildVer">
    <vt:lpwstr>2052-12.1.0.25225</vt:lpwstr>
  </property>
</Properties>
</file>